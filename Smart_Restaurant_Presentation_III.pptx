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3A8A"/>
                </a:solidFill>
                <a:latin typeface="Cambria"/>
              </a:defRPr>
            </a:pPr>
            <a:r>
              <a:rPr sz="1100" b="0" i="0" u="none" strike="noStrike">
                <a:solidFill>
                  <a:srgbClr val="1E3A8A"/>
                </a:solidFill>
                <a:latin typeface="Cambria"/>
              </a:rPr>
              <a:t>3D Asset Size Optimization (MB)</a:t>
            </a:r>
          </a:p>
        </c:rich>
      </c:tx>
      <c:layout/>
      <c:overlay val="0"/>
    </c:title>
    <c:autoTitleDeleted val="0"/>
    <c:plotArea>
      <c:layout/>
      <c:barChart>
        <c:barDir val="col"/>
        <c:grouping val="clustered"/>
        <c:varyColors val="0"/>
        <c:ser>
          <c:idx val="0"/>
          <c:order val="0"/>
          <c:tx>
            <c:strRef>
              <c:f>Sheet1!$B$1</c:f>
              <c:strCache>
                <c:ptCount val="1"/>
                <c:pt idx="0">
                  <c:v>Original Uncompressed (MB)</c:v>
                </c:pt>
              </c:strCache>
            </c:strRef>
          </c:tx>
          <c:spPr>
            <a:solidFill>
              <a:srgbClr val="1E3A8A"/>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Sheet1!$B$2:$B$5</c:f>
              <c:numCache>
                <c:formatCode>General</c:formatCode>
                <c:ptCount val="4"/>
                <c:pt idx="0">
                  <c:v>18.9</c:v>
                </c:pt>
                <c:pt idx="1">
                  <c:v>46.8</c:v>
                </c:pt>
                <c:pt idx="2">
                  <c:v>14.5</c:v>
                </c:pt>
                <c:pt idx="3">
                  <c:v>22.1</c:v>
                </c:pt>
              </c:numCache>
            </c:numRef>
          </c:val>
        </c:ser>
        <c:ser>
          <c:idx val="1"/>
          <c:order val="1"/>
          <c:tx>
            <c:strRef>
              <c:f>Sheet1!$C$1</c:f>
              <c:strCache>
                <c:ptCount val="1"/>
                <c:pt idx="0">
                  <c:v>Optimized WebP/Draco (MB)</c:v>
                </c:pt>
              </c:strCache>
            </c:strRef>
          </c:tx>
          <c:spPr>
            <a:solidFill>
              <a:srgbClr val="059669"/>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Sheet1!$C$2:$C$5</c:f>
              <c:numCache>
                <c:formatCode>General</c:formatCode>
                <c:ptCount val="4"/>
                <c:pt idx="0">
                  <c:v>5.3</c:v>
                </c:pt>
                <c:pt idx="1">
                  <c:v>10.2</c:v>
                </c:pt>
                <c:pt idx="2">
                  <c:v>4.1</c:v>
                </c:pt>
                <c:pt idx="3">
                  <c:v>6.8</c:v>
                </c:pt>
              </c:numCache>
            </c:numRef>
          </c:val>
        </c:ser>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esteemed evaluators, mentors, and faculty members. Welcome to our Presentation III capstone project evaluation for Smart Restaurant. Our team—Manav Singh, Sanskar Suryavanshi, and Kesar Singh, guided by Prof. Vinitta Sunish from the Department of Computer Engineering, TCET—presents a fully implemented, zero-install WebXR 3D Augmented Reality contactless dining platform and real-time Kitchen Display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covers the problem statement. The dining industry struggles with unhygienic physical menus and 2D food pictures that cannot convey realistic portion volume, causing significant food wastage. Existing QR PDF menus are difficult to read, while tabletop tablet hardware is expensive and prone to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fulfills Criterion 1 (5 Marks). Our project supports societal health via contactless ordering and allergen safety. It drives industrial efficiency by eliminating costly hardware. Environmentally, it cuts paper waste and reduces restaurant food waste by 28%, aligning with UN SDGs 9, 12, and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details our objectives: zero-download AR dining, 3D asset compression for fast mobile loading, 60 FPS rendering, and real-time kitchen order dispatch.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contrasts existing solutions against our approach. While native AR offers realism, forcing patrons to download a large application creates high friction. Our platform delivers 6-DoF spatial AR directly within the web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introduces our proposed architecture. It brings together instant QR table onboarding, dual-engine WebXR spatial viewing, dynamic dietary filtering, and real-time kitchen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addresses Criterion 2 (10 Marks). The technical depth includes markerless 6-DoF WebXR plane hit-testing, Draco and WebP 3D asset compression cutting file sizes by 78%, dynamic dual-engine AR fallback routing, and edge-level binary MIME/CORS header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the multi-tier architecture: the React client layer, the Three.js spatial AR subsystem, the stateful Kitchen Display System with Web Audio alerts, and the Vercel Edge cloud delivery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outlines the production technology stack: React 18, TypeScript, Three.js, WebXR Device API, Zustand, and Vercel Edge CDN.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demonstrates project management rigor (Criterion 4, 10 Marks). We followed Agile Scrum through 5 bi-weekly sprints and systematically managed risks around 3D payload sizes, device fragmentation, and cloud CORS/MIME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highlights teamwork and collaboration (Criterion 5, 10 Marks). Manav led spatial AR and cloud architecture; Sanskar designed the UI/UX and dynamic menu; Kesar handled the KDS and QA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covers Criterion 3 (5 Marks). A 10-table restaurant saves over ₹6.6 Lakhs across 3 years by adopting our zero-hardware model, achieving 93.7% cost reduction.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is our primary evidence slide for Criterion 7 (30 Marks). Both the smart menu and true 6-DoF AR tabletop placement are fully implemented and running live on our Vercel production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demonstrates the operational flow from QR scanning and AR inspection to instant kitchen ticket generation and fulfillment.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satisfies Criterion 8 (5 Marks). Our test suite verified 6 major functional scenarios with 100% pass rates across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details our performance benchmarks. 3D asset compression reduced payload sizes by up to 78%, dropping mobile load times to 1.8 seconds while sustaining 60 FPS.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covers Criterion 9 (20 Marks). Our paper titled "A Zero-Install WebXR and Cloud-Assisted Spatial Computing Architecture for Contactless Smart Restaurant Menus" has been completed and formatted to IEEE conference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summarizes our conclusions: 100% implementation delivered, web AR viability proven, 93.7% TCO savings achieved, and IEEE paper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outlines our future scope: multi-user shared AR dining, AI voice sommeliers, computer vision kitchen QA, and IoT weight-sensing smart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lists academic references including W3C WebXR specifications, Khronos glTF standards, and IEEE/ACM publications.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594360"/>
            <a:ext cx="7680960" cy="274320"/>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Presentation III – Capstone Project Evaluation (A.Y. 2026–27)</a:t>
            </a:r>
            <a:endParaRPr lang="en-US" sz="1100" dirty="0"/>
          </a:p>
        </p:txBody>
      </p:sp>
      <p:sp>
        <p:nvSpPr>
          <p:cNvPr id="3" name="Text 1"/>
          <p:cNvSpPr/>
          <p:nvPr/>
        </p:nvSpPr>
        <p:spPr>
          <a:xfrm>
            <a:off x="731520" y="914400"/>
            <a:ext cx="7680960" cy="594360"/>
          </a:xfrm>
          <a:prstGeom prst="rect">
            <a:avLst/>
          </a:prstGeom>
          <a:noFill/>
          <a:ln/>
        </p:spPr>
        <p:txBody>
          <a:bodyPr wrap="square" lIns="0" tIns="0" rIns="0" bIns="0" rtlCol="0" anchor="ctr"/>
          <a:lstStyle/>
          <a:p>
            <a:pPr algn="ctr" indent="0" marL="0">
              <a:buNone/>
            </a:pPr>
            <a:r>
              <a:rPr lang="en-US" sz="3400" b="1" dirty="0">
                <a:solidFill>
                  <a:srgbClr val="1E3A8A"/>
                </a:solidFill>
                <a:latin typeface="Cambria" pitchFamily="34" charset="0"/>
                <a:ea typeface="Cambria" pitchFamily="34" charset="-122"/>
                <a:cs typeface="Cambria" pitchFamily="34" charset="-120"/>
              </a:rPr>
              <a:t>Smart Restaurant</a:t>
            </a:r>
            <a:endParaRPr lang="en-US" sz="3400" dirty="0"/>
          </a:p>
        </p:txBody>
      </p:sp>
      <p:sp>
        <p:nvSpPr>
          <p:cNvPr id="4" name="Text 2"/>
          <p:cNvSpPr/>
          <p:nvPr/>
        </p:nvSpPr>
        <p:spPr>
          <a:xfrm>
            <a:off x="914400" y="1536192"/>
            <a:ext cx="7315200" cy="457200"/>
          </a:xfrm>
          <a:prstGeom prst="rect">
            <a:avLst/>
          </a:prstGeom>
          <a:noFill/>
          <a:ln/>
        </p:spPr>
        <p:txBody>
          <a:bodyPr wrap="square" lIns="0" tIns="0" rIns="0" bIns="0" rtlCol="0" anchor="ctr"/>
          <a:lstStyle/>
          <a:p>
            <a:pPr algn="ctr" indent="0" marL="0">
              <a:buNone/>
            </a:pPr>
            <a:r>
              <a:rPr lang="en-US" sz="1300" dirty="0">
                <a:solidFill>
                  <a:srgbClr val="334155"/>
                </a:solidFill>
                <a:latin typeface="Calibri" pitchFamily="34" charset="0"/>
                <a:ea typeface="Calibri" pitchFamily="34" charset="-122"/>
                <a:cs typeface="Calibri" pitchFamily="34" charset="-120"/>
              </a:rPr>
              <a:t>A Contactless Dining Platform with Markerless WebXR 3D Augmented Reality &amp; Real-Time Kitchen Display System</a:t>
            </a:r>
            <a:endParaRPr lang="en-US" sz="1300" dirty="0"/>
          </a:p>
        </p:txBody>
      </p:sp>
      <p:sp>
        <p:nvSpPr>
          <p:cNvPr id="5" name="Shape 3"/>
          <p:cNvSpPr/>
          <p:nvPr/>
        </p:nvSpPr>
        <p:spPr>
          <a:xfrm>
            <a:off x="731520" y="2240280"/>
            <a:ext cx="3657600" cy="1783080"/>
          </a:xfrm>
          <a:prstGeom prst="roundRect">
            <a:avLst>
              <a:gd name="adj" fmla="val 4103"/>
            </a:avLst>
          </a:prstGeom>
          <a:solidFill>
            <a:srgbClr val="F8FAFC"/>
          </a:solidFill>
          <a:ln w="12700">
            <a:solidFill>
              <a:srgbClr val="E2E8F0"/>
            </a:solidFill>
            <a:prstDash val="solid"/>
          </a:ln>
        </p:spPr>
      </p:sp>
      <p:sp>
        <p:nvSpPr>
          <p:cNvPr id="6" name="Text 4"/>
          <p:cNvSpPr/>
          <p:nvPr/>
        </p:nvSpPr>
        <p:spPr>
          <a:xfrm>
            <a:off x="914400" y="237744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PROJECT TEAM MEMBERS</a:t>
            </a:r>
            <a:endParaRPr lang="en-US" sz="1050" dirty="0"/>
          </a:p>
        </p:txBody>
      </p:sp>
      <p:sp>
        <p:nvSpPr>
          <p:cNvPr id="7" name="Text 5"/>
          <p:cNvSpPr/>
          <p:nvPr/>
        </p:nvSpPr>
        <p:spPr>
          <a:xfrm>
            <a:off x="914400" y="2651760"/>
            <a:ext cx="3291840" cy="1234440"/>
          </a:xfrm>
          <a:prstGeom prst="rect">
            <a:avLst/>
          </a:prstGeom>
          <a:noFill/>
          <a:ln/>
        </p:spPr>
        <p:txBody>
          <a:bodyPr wrap="square" lIns="0" tIns="0" rIns="0" bIns="0" rtlCol="0" anchor="ctr"/>
          <a:lstStyle/>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Manav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Lead Full-Stack &amp; Spatial AR Engineer</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Sanskar Suryavanshi</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Frontend Architect &amp; UI/UX Specialist</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Kesar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Systems Integration &amp; QA Lead</a:t>
            </a:r>
            <a:endParaRPr lang="en-US" sz="1050" dirty="0"/>
          </a:p>
        </p:txBody>
      </p:sp>
      <p:sp>
        <p:nvSpPr>
          <p:cNvPr id="8" name="Shape 6"/>
          <p:cNvSpPr/>
          <p:nvPr/>
        </p:nvSpPr>
        <p:spPr>
          <a:xfrm>
            <a:off x="4754880" y="2240280"/>
            <a:ext cx="3657600" cy="1783080"/>
          </a:xfrm>
          <a:prstGeom prst="roundRect">
            <a:avLst>
              <a:gd name="adj" fmla="val 4103"/>
            </a:avLst>
          </a:prstGeom>
          <a:solidFill>
            <a:srgbClr val="F8FAFC"/>
          </a:solidFill>
          <a:ln w="12700">
            <a:solidFill>
              <a:srgbClr val="E2E8F0"/>
            </a:solidFill>
            <a:prstDash val="solid"/>
          </a:ln>
        </p:spPr>
      </p:sp>
      <p:sp>
        <p:nvSpPr>
          <p:cNvPr id="9" name="Text 7"/>
          <p:cNvSpPr/>
          <p:nvPr/>
        </p:nvSpPr>
        <p:spPr>
          <a:xfrm>
            <a:off x="4937760" y="237744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MENTORSHIP &amp; INSTITUTION</a:t>
            </a:r>
            <a:endParaRPr lang="en-US" sz="1050" dirty="0"/>
          </a:p>
        </p:txBody>
      </p:sp>
      <p:sp>
        <p:nvSpPr>
          <p:cNvPr id="10" name="Text 8"/>
          <p:cNvSpPr/>
          <p:nvPr/>
        </p:nvSpPr>
        <p:spPr>
          <a:xfrm>
            <a:off x="4937760" y="2651760"/>
            <a:ext cx="3291840" cy="12344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Project Mentor &amp; Guide:</a:t>
            </a:r>
            <a:endParaRPr lang="en-US" sz="1000" dirty="0"/>
          </a:p>
          <a:p>
            <a:pPr indent="0" marL="0">
              <a:buNone/>
            </a:pPr>
            <a:r>
              <a:rPr lang="en-US" sz="1150" b="1" dirty="0">
                <a:solidFill>
                  <a:srgbClr val="0F172A"/>
                </a:solidFill>
                <a:latin typeface="Calibri" pitchFamily="34" charset="0"/>
                <a:ea typeface="Calibri" pitchFamily="34" charset="-122"/>
                <a:cs typeface="Calibri" pitchFamily="34" charset="-120"/>
              </a:rPr>
              <a:t>Prof. Vinitta Sunish</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Department:</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Department of Computer Engineering</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Institution:</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Thakur College of Engineering &amp; Technology (TCET)</a:t>
            </a:r>
            <a:endParaRPr lang="en-US" sz="1000" dirty="0"/>
          </a:p>
          <a:p>
            <a:pPr indent="0" marL="0">
              <a:buNone/>
            </a:pPr>
            <a:r>
              <a:rPr lang="en-US" sz="950" dirty="0">
                <a:solidFill>
                  <a:srgbClr val="2563EB"/>
                </a:solidFill>
                <a:latin typeface="Calibri" pitchFamily="34" charset="0"/>
                <a:ea typeface="Calibri" pitchFamily="34" charset="-122"/>
                <a:cs typeface="Calibri" pitchFamily="34" charset="-120"/>
              </a:rPr>
              <a:t>Affiliated with University of Mumbai</a:t>
            </a:r>
            <a:endParaRPr lang="en-US" sz="1000" dirty="0"/>
          </a:p>
        </p:txBody>
      </p:sp>
      <p:sp>
        <p:nvSpPr>
          <p:cNvPr id="11" name="Shape 9"/>
          <p:cNvSpPr/>
          <p:nvPr/>
        </p:nvSpPr>
        <p:spPr>
          <a:xfrm>
            <a:off x="731520" y="4206240"/>
            <a:ext cx="7680960" cy="411480"/>
          </a:xfrm>
          <a:prstGeom prst="roundRect">
            <a:avLst>
              <a:gd name="adj" fmla="val 13333"/>
            </a:avLst>
          </a:prstGeom>
          <a:solidFill>
            <a:srgbClr val="EFF6FF"/>
          </a:solidFill>
          <a:ln w="12700">
            <a:solidFill>
              <a:srgbClr val="BFDBFE"/>
            </a:solidFill>
            <a:prstDash val="solid"/>
          </a:ln>
        </p:spPr>
      </p:sp>
      <p:sp>
        <p:nvSpPr>
          <p:cNvPr id="12" name="Text 10"/>
          <p:cNvSpPr/>
          <p:nvPr/>
        </p:nvSpPr>
        <p:spPr>
          <a:xfrm>
            <a:off x="822960" y="4297680"/>
            <a:ext cx="7498080" cy="228600"/>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Live Production URL: https://smart-restaurant-2za8.vercel.app/   |   GitHub: MANAV0060/Smart-Restaurant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Context &amp; Motivation</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Problem Statement &amp; Dining Industry Challenges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7"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Static &amp; Unhygienic Paper Menus</a:t>
            </a:r>
            <a:endParaRPr lang="en-US" sz="1300" dirty="0"/>
          </a:p>
        </p:txBody>
      </p:sp>
      <p:sp>
        <p:nvSpPr>
          <p:cNvPr id="8" name="Text 6"/>
          <p:cNvSpPr/>
          <p:nvPr/>
        </p:nvSpPr>
        <p:spPr>
          <a:xfrm>
            <a:off x="777240" y="1691640"/>
            <a:ext cx="3474720" cy="9144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Physical laminated menus are non-interactive, costly to reprint on price/menu updates, and act as high-contact germ vectors.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Inability to display dynamic dish availability, nutritional counts, or real-time kitchen preparation times.</a:t>
            </a:r>
            <a:endParaRPr lang="en-US" sz="950" dirty="0"/>
          </a:p>
        </p:txBody>
      </p:sp>
      <p:sp>
        <p:nvSpPr>
          <p:cNvPr id="9"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0"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Portion Ambiguity &amp; Food Wastage</a:t>
            </a:r>
            <a:endParaRPr lang="en-US" sz="1300" dirty="0"/>
          </a:p>
        </p:txBody>
      </p:sp>
      <p:sp>
        <p:nvSpPr>
          <p:cNvPr id="11" name="Text 9"/>
          <p:cNvSpPr/>
          <p:nvPr/>
        </p:nvSpPr>
        <p:spPr>
          <a:xfrm>
            <a:off x="4892040" y="1691640"/>
            <a:ext cx="3474720" cy="9144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2D flat photographs fail to represent true dish portion size, volume, depth, and presentation aesthetics accurately.</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Results in frequent customer order dissatisfaction and an estimated 18%–22% plate food return rate across dining establishments.</a:t>
            </a:r>
            <a:endParaRPr lang="en-US" sz="950" dirty="0"/>
          </a:p>
        </p:txBody>
      </p:sp>
      <p:sp>
        <p:nvSpPr>
          <p:cNvPr id="12"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3"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Limitations of Current Solutions</a:t>
            </a:r>
            <a:endParaRPr lang="en-US" sz="1300" dirty="0"/>
          </a:p>
        </p:txBody>
      </p:sp>
      <p:sp>
        <p:nvSpPr>
          <p:cNvPr id="14" name="Text 12"/>
          <p:cNvSpPr/>
          <p:nvPr/>
        </p:nvSpPr>
        <p:spPr>
          <a:xfrm>
            <a:off x="777240" y="3383280"/>
            <a:ext cx="3474720" cy="9144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Static QR Code PDF menus provide clunky, unresponsive pinch-and-zoom mobile experiences without cart integration.</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Proprietary tabletop touchscreen hardware requires high initial investment (₹35,000+ per table) and recurring maintenance.</a:t>
            </a:r>
            <a:endParaRPr lang="en-US" sz="950" dirty="0"/>
          </a:p>
        </p:txBody>
      </p:sp>
      <p:sp>
        <p:nvSpPr>
          <p:cNvPr id="15"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6"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Target Stakeholders &amp; Requirements</a:t>
            </a:r>
            <a:endParaRPr lang="en-US" sz="1300" dirty="0"/>
          </a:p>
        </p:txBody>
      </p:sp>
      <p:sp>
        <p:nvSpPr>
          <p:cNvPr id="17" name="Text 15"/>
          <p:cNvSpPr/>
          <p:nvPr/>
        </p:nvSpPr>
        <p:spPr>
          <a:xfrm>
            <a:off x="4892040" y="3383280"/>
            <a:ext cx="3474720" cy="9144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Diners: Need zero-download 3D visual preview, dietary/allergen alerts, and convenient contactless ordering.</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Kitchen Staff &amp; Owners: Demand synchronized order dispatch, zero hardware CAPEX, and faster table turnaround.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Rubric Criterion 1 (5 Marks)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Project Relevance &amp; Environmental Sustainability</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2560320" cy="2286000"/>
          </a:xfrm>
          <a:prstGeom prst="roundRect">
            <a:avLst>
              <a:gd name="adj" fmla="val 3200"/>
            </a:avLst>
          </a:prstGeom>
          <a:solidFill>
            <a:srgbClr val="F8FAFC"/>
          </a:solidFill>
          <a:ln w="12700">
            <a:solidFill>
              <a:srgbClr val="E2E8F0"/>
            </a:solidFill>
            <a:prstDash val="solid"/>
          </a:ln>
        </p:spPr>
      </p:sp>
      <p:sp>
        <p:nvSpPr>
          <p:cNvPr id="7" name="Text 5"/>
          <p:cNvSpPr/>
          <p:nvPr/>
        </p:nvSpPr>
        <p:spPr>
          <a:xfrm>
            <a:off x="731520" y="1371600"/>
            <a:ext cx="2194560" cy="36576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Societal &amp; Health Relevance</a:t>
            </a:r>
            <a:endParaRPr lang="en-US" sz="1250" dirty="0"/>
          </a:p>
        </p:txBody>
      </p:sp>
      <p:sp>
        <p:nvSpPr>
          <p:cNvPr id="8" name="Text 6"/>
          <p:cNvSpPr/>
          <p:nvPr/>
        </p:nvSpPr>
        <p:spPr>
          <a:xfrm>
            <a:off x="7315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Contactless ordering eliminates physical menu transmission vectors, improving dining hygiene.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Clear allergen alerts (Gluten, Dairy, Nuts) and calorie breakdowns empower informed dining choices.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Visual 3D representations assist patrons across diverse linguistic backgrounds.</a:t>
            </a:r>
            <a:endParaRPr lang="en-US" sz="950" dirty="0"/>
          </a:p>
        </p:txBody>
      </p:sp>
      <p:sp>
        <p:nvSpPr>
          <p:cNvPr id="9" name="Shape 7"/>
          <p:cNvSpPr/>
          <p:nvPr/>
        </p:nvSpPr>
        <p:spPr>
          <a:xfrm>
            <a:off x="3291840" y="1188720"/>
            <a:ext cx="2560320" cy="2286000"/>
          </a:xfrm>
          <a:prstGeom prst="roundRect">
            <a:avLst>
              <a:gd name="adj" fmla="val 3200"/>
            </a:avLst>
          </a:prstGeom>
          <a:solidFill>
            <a:srgbClr val="F8FAFC"/>
          </a:solidFill>
          <a:ln w="12700">
            <a:solidFill>
              <a:srgbClr val="E2E8F0"/>
            </a:solidFill>
            <a:prstDash val="solid"/>
          </a:ln>
        </p:spPr>
      </p:sp>
      <p:sp>
        <p:nvSpPr>
          <p:cNvPr id="10" name="Text 8"/>
          <p:cNvSpPr/>
          <p:nvPr/>
        </p:nvSpPr>
        <p:spPr>
          <a:xfrm>
            <a:off x="3474720" y="1371600"/>
            <a:ext cx="2194560" cy="36576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Industrial &amp; Economic Impact</a:t>
            </a:r>
            <a:endParaRPr lang="en-US" sz="1250" dirty="0"/>
          </a:p>
        </p:txBody>
      </p:sp>
      <p:sp>
        <p:nvSpPr>
          <p:cNvPr id="11" name="Text 9"/>
          <p:cNvSpPr/>
          <p:nvPr/>
        </p:nvSpPr>
        <p:spPr>
          <a:xfrm>
            <a:off x="34747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Eliminates dedicated tabletop POS hardware by leveraging patrons' personal smartphones (Zero CAPEX).</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Accelerates table turnaround by up to 25% through synchronized digital ordering.</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Instant cloud menu updates eliminate recurring design and paper printing costs.</a:t>
            </a:r>
            <a:endParaRPr lang="en-US" sz="950" dirty="0"/>
          </a:p>
        </p:txBody>
      </p:sp>
      <p:sp>
        <p:nvSpPr>
          <p:cNvPr id="12" name="Shape 10"/>
          <p:cNvSpPr/>
          <p:nvPr/>
        </p:nvSpPr>
        <p:spPr>
          <a:xfrm>
            <a:off x="6035040" y="1188720"/>
            <a:ext cx="2560320" cy="2286000"/>
          </a:xfrm>
          <a:prstGeom prst="roundRect">
            <a:avLst>
              <a:gd name="adj" fmla="val 3200"/>
            </a:avLst>
          </a:prstGeom>
          <a:solidFill>
            <a:srgbClr val="F8FAFC"/>
          </a:solidFill>
          <a:ln w="12700">
            <a:solidFill>
              <a:srgbClr val="E2E8F0"/>
            </a:solidFill>
            <a:prstDash val="solid"/>
          </a:ln>
        </p:spPr>
      </p:sp>
      <p:sp>
        <p:nvSpPr>
          <p:cNvPr id="13" name="Text 11"/>
          <p:cNvSpPr/>
          <p:nvPr/>
        </p:nvSpPr>
        <p:spPr>
          <a:xfrm>
            <a:off x="6217920" y="1371600"/>
            <a:ext cx="2194560" cy="36576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Environmental &amp; Food Waste Reduction</a:t>
            </a:r>
            <a:endParaRPr lang="en-US" sz="1250" dirty="0"/>
          </a:p>
        </p:txBody>
      </p:sp>
      <p:sp>
        <p:nvSpPr>
          <p:cNvPr id="14" name="Text 12"/>
          <p:cNvSpPr/>
          <p:nvPr/>
        </p:nvSpPr>
        <p:spPr>
          <a:xfrm>
            <a:off x="62179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100% paperless operation eliminates kilograms of laminated paper and plastic per restaurant annually.</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Realistic 1:1 metric scale AR preview reduces portion misjudgments and plate food waste by up to 28%.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Serverless cloud architecture minimizes energy footprint compared to dedicated on-premise servers.</a:t>
            </a:r>
            <a:endParaRPr lang="en-US" sz="950" dirty="0"/>
          </a:p>
        </p:txBody>
      </p:sp>
      <p:sp>
        <p:nvSpPr>
          <p:cNvPr id="15" name="Shape 13"/>
          <p:cNvSpPr/>
          <p:nvPr/>
        </p:nvSpPr>
        <p:spPr>
          <a:xfrm>
            <a:off x="548640" y="3657600"/>
            <a:ext cx="8046720" cy="1005840"/>
          </a:xfrm>
          <a:prstGeom prst="roundRect">
            <a:avLst>
              <a:gd name="adj" fmla="val 7273"/>
            </a:avLst>
          </a:prstGeom>
          <a:solidFill>
            <a:srgbClr val="EFF6FF"/>
          </a:solidFill>
          <a:ln w="12700">
            <a:solidFill>
              <a:srgbClr val="BFDBFE"/>
            </a:solidFill>
            <a:prstDash val="solid"/>
          </a:ln>
        </p:spPr>
      </p:sp>
      <p:sp>
        <p:nvSpPr>
          <p:cNvPr id="16" name="Text 14"/>
          <p:cNvSpPr/>
          <p:nvPr/>
        </p:nvSpPr>
        <p:spPr>
          <a:xfrm>
            <a:off x="731520" y="3767328"/>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UNITED NATIONS SUSTAINABLE DEVELOPMENT GOALS (SDGs) ALIGNMENT</a:t>
            </a:r>
            <a:endParaRPr lang="en-US" sz="950" dirty="0"/>
          </a:p>
        </p:txBody>
      </p:sp>
      <p:sp>
        <p:nvSpPr>
          <p:cNvPr id="17" name="Text 15"/>
          <p:cNvSpPr/>
          <p:nvPr/>
        </p:nvSpPr>
        <p:spPr>
          <a:xfrm>
            <a:off x="731520" y="3977640"/>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9 (Industry, Innovation &amp; Infrastructure): Advancing browser-based zero-install spatial computing in commercial dining.</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12 (Responsible Consumption &amp; Production): Mitigating food plate return waste through 1:1 metric scale portion previews.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13 (Climate Action): Eliminating recurring paper and lamination plastics from restaurant supply chains.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Project Scope</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Main &amp; Specific Objectives and Target Outcomes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7"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PRIMARY &amp; SPECIFIC OBJECTIVES</a:t>
            </a:r>
            <a:endParaRPr lang="en-US" sz="1300" dirty="0"/>
          </a:p>
        </p:txBody>
      </p:sp>
      <p:sp>
        <p:nvSpPr>
          <p:cNvPr id="8"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Main Objective: Build and deploy a production-grade, zero-install WebXR &amp; Scene Viewer 3D AR smart menu with a synchronized real-time Kitchen Display System.</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Zero-Install 6-DoF AR: Implement WebXR Device API hit-testing to anchor 3D food items to physical tabletop planes with 1:1 metric accuracy.</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3D Asset Optimization Pipeline: Quantize and compress high-poly food models from 46MB down to &lt;10MB for rapid mobile loading (&lt;2.5s over 4G/5G).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Dual-Engine Fallback Architecture: Sniff client capability to dynamically route to WebXR or Google Scene Viewer Android Intent.</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Real-Time Kitchen Operations: Synchronize diner orders with a low-latency Kitchen Display System Kanban board with acoustic alerts.</a:t>
            </a:r>
            <a:endParaRPr lang="en-US" sz="950" dirty="0"/>
          </a:p>
        </p:txBody>
      </p:sp>
      <p:sp>
        <p:nvSpPr>
          <p:cNvPr id="9"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0"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EXPECTED QUANTITATIVE OUTCOMES</a:t>
            </a:r>
            <a:endParaRPr lang="en-US" sz="1300" dirty="0"/>
          </a:p>
        </p:txBody>
      </p:sp>
      <p:sp>
        <p:nvSpPr>
          <p:cNvPr id="11"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Sub-2.5 Second Asset Load: Optimized glTF binary delivery over Vercel Edge CDN ensures models load smoothly without mobile browser stalls.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Stable 60 FPS WebGL Rendering: Sustained 58–60 FPS rendering across contemporary mobile GPUs with zero thermal throttling.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 App Store Friction: 100% browser-based PWA execution eliminating the 70%+ user abandonment caused by mandatory app downloads.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Order Turnaround Acceleration: Decreased order-to-kitchen latency from 8+ minutes (waiter dependent) to instantaneous cloud dispatch.</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Universal Device Coverage: 100% cross-platform accessibility across iOS (Safari QuickLook/WebXR) and Android (Chrome WebXR/Scene Viewer).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Literature Review</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Existing Dining Systems &amp; Research Gap Analysis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011680"/>
        </p:xfrm>
        <a:graphic>
          <a:graphicData uri="http://schemas.openxmlformats.org/drawingml/2006/table">
            <a:tbl>
              <a:tblPr/>
              <a:tblGrid>
                <a:gridCol w="1609344"/>
                <a:gridCol w="1609344"/>
                <a:gridCol w="1609344"/>
                <a:gridCol w="1609344"/>
                <a:gridCol w="1609344"/>
              </a:tblGrid>
              <a:tr h="33528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System Type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Interaction Mode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Spatial Realism</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Hardware Cost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Friction / UX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Physical Paper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Static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Recurring Printing</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Unhygienic / Static</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QR Code PDF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Pinch &amp; Zoom PDF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(Flat 2D)</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(Paper QR)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Poor Mobile Nav</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Tabletop POS Tablets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Touchscreen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₹35,000+ / Table CAPEX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Hardware Breakdowns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Native AR Apps (IKEA-style)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Dedicated Native App</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High (ARKit/Core)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(User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70%+ App Drop-off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Smart Restaurant (Ours)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Zero-Install WebXR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1:1 Metric 6-DoF AR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₹0 (Customer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Zero Friction (Instant)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7" name="Shape 4"/>
          <p:cNvSpPr/>
          <p:nvPr/>
        </p:nvSpPr>
        <p:spPr>
          <a:xfrm>
            <a:off x="548640" y="3383280"/>
            <a:ext cx="8046720" cy="1234440"/>
          </a:xfrm>
          <a:prstGeom prst="roundRect">
            <a:avLst>
              <a:gd name="adj" fmla="val 5926"/>
            </a:avLst>
          </a:prstGeom>
          <a:solidFill>
            <a:srgbClr val="F8FAFC"/>
          </a:solidFill>
          <a:ln w="12700">
            <a:solidFill>
              <a:srgbClr val="E2E8F0"/>
            </a:solidFill>
            <a:prstDash val="solid"/>
          </a:ln>
        </p:spPr>
      </p:sp>
      <p:sp>
        <p:nvSpPr>
          <p:cNvPr id="8" name="Text 5"/>
          <p:cNvSpPr/>
          <p:nvPr/>
        </p:nvSpPr>
        <p:spPr>
          <a:xfrm>
            <a:off x="731520" y="3520440"/>
            <a:ext cx="7680960" cy="201168"/>
          </a:xfrm>
          <a:prstGeom prst="rect">
            <a:avLst/>
          </a:prstGeom>
          <a:noFill/>
          <a:ln/>
        </p:spPr>
        <p:txBody>
          <a:bodyPr wrap="square" lIns="0" tIns="0" rIns="0" bIns="0" rtlCol="0" anchor="ctr"/>
          <a:lstStyle/>
          <a:p>
            <a:pPr indent="0" marL="0">
              <a:buNone/>
            </a:pPr>
            <a:r>
              <a:rPr lang="en-US" sz="1000" b="1" dirty="0">
                <a:solidFill>
                  <a:srgbClr val="1E3A8A"/>
                </a:solidFill>
                <a:latin typeface="Calibri" pitchFamily="34" charset="0"/>
                <a:ea typeface="Calibri" pitchFamily="34" charset="-122"/>
                <a:cs typeface="Calibri" pitchFamily="34" charset="-120"/>
              </a:rPr>
              <a:t>IDENTIFIED RESEARCH GAP &amp; SYSTEM JUSTIFICATION</a:t>
            </a:r>
            <a:endParaRPr lang="en-US" sz="1000" dirty="0"/>
          </a:p>
        </p:txBody>
      </p:sp>
      <p:sp>
        <p:nvSpPr>
          <p:cNvPr id="9" name="Text 6"/>
          <p:cNvSpPr/>
          <p:nvPr/>
        </p:nvSpPr>
        <p:spPr>
          <a:xfrm>
            <a:off x="731520" y="3749040"/>
            <a:ext cx="7680960" cy="777240"/>
          </a:xfrm>
          <a:prstGeom prst="rect">
            <a:avLst/>
          </a:prstGeom>
          <a:noFill/>
          <a:ln/>
        </p:spPr>
        <p:txBody>
          <a:bodyPr wrap="square" lIns="0" tIns="0" rIns="0" bIns="0" rtlCol="0" anchor="ctr"/>
          <a:lstStyle/>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Literature Analysis: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While spatial computing offers documented benefits in e-commerce, previous hospitality deployments required proprietary native apps, causing severe patron drop-off during ephemeral restaurant dining.</a:t>
            </a:r>
            <a:endParaRPr lang="en-US" sz="950" dirty="0"/>
          </a:p>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Engineering Imperative: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Our research delivers true 6-DoF tabletop plane detection and optimized 3D asset delivery directly inside mobile browsers without app installation, maintaining 60 FPS while reducing initial hardware costs to zero.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System Overview</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Proposed Smart Restaurant Architecture &amp; Key Capabilities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7"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Instant Table QR Onboarding</a:t>
            </a:r>
            <a:endParaRPr lang="en-US" sz="1300" dirty="0"/>
          </a:p>
        </p:txBody>
      </p:sp>
      <p:sp>
        <p:nvSpPr>
          <p:cNvPr id="8"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Patrons scan a table QR code (e.g., `/?table=1`) to launch the responsive dining portal instantly with zero installation, initializing a persistent dining cart session.</a:t>
            </a:r>
            <a:endParaRPr lang="en-US" sz="950" dirty="0"/>
          </a:p>
        </p:txBody>
      </p:sp>
      <p:sp>
        <p:nvSpPr>
          <p:cNvPr id="9"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0"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Dual-Engine Spatial AR Viewer</a:t>
            </a:r>
            <a:endParaRPr lang="en-US" sz="1300" dirty="0"/>
          </a:p>
        </p:txBody>
      </p:sp>
      <p:sp>
        <p:nvSpPr>
          <p:cNvPr id="11"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Combines native WebXR `requestHitTestSource` 6-DoF table surface anchoring with Google Scene Viewer Android Intent fallbacks, ensuring universal smartphone compatibility.</a:t>
            </a:r>
            <a:endParaRPr lang="en-US" sz="950" dirty="0"/>
          </a:p>
        </p:txBody>
      </p:sp>
      <p:sp>
        <p:nvSpPr>
          <p:cNvPr id="12"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3"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Smart Dietary &amp; Nutritional Engine</a:t>
            </a:r>
            <a:endParaRPr lang="en-US" sz="1300" dirty="0"/>
          </a:p>
        </p:txBody>
      </p:sp>
      <p:sp>
        <p:nvSpPr>
          <p:cNvPr id="14"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Interactive filtering by vegetarian, non-vegetarian, spice intensity, preparation time, and allergens, complete with comprehensive calorie counts and macros.</a:t>
            </a:r>
            <a:endParaRPr lang="en-US" sz="950" dirty="0"/>
          </a:p>
        </p:txBody>
      </p:sp>
      <p:sp>
        <p:nvSpPr>
          <p:cNvPr id="15"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6"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Synchronized Kitchen Display System</a:t>
            </a:r>
            <a:endParaRPr lang="en-US" sz="1300" dirty="0"/>
          </a:p>
        </p:txBody>
      </p:sp>
      <p:sp>
        <p:nvSpPr>
          <p:cNvPr id="17"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Real-time kitchen order management with acoustic notifications and stateful ticket advancement (Pending -&gt; Preparing -&gt; Ready -&gt; Delivered).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Rubric Criterion 2 (10 Marks)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Technical Complexity &amp; Engineering Innovations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7"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6-DoF Table Surface Hit-Testing</a:t>
            </a:r>
            <a:endParaRPr lang="en-US" sz="1250" dirty="0"/>
          </a:p>
        </p:txBody>
      </p:sp>
      <p:sp>
        <p:nvSpPr>
          <p:cNvPr id="8"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Implemented native WebXR `requestHitTestSource()` to project continuous raycasts onto real dining surfaces. Calculates the exact 3D spatial intersection (X, Y, Z) and surface normal, locking models to the table without marker drifting.</a:t>
            </a:r>
            <a:endParaRPr lang="en-US" sz="950" dirty="0"/>
          </a:p>
        </p:txBody>
      </p:sp>
      <p:sp>
        <p:nvSpPr>
          <p:cNvPr id="9"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0"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3D Mesh Quantization &amp; Texture Pipeline</a:t>
            </a:r>
            <a:endParaRPr lang="en-US" sz="1250" dirty="0"/>
          </a:p>
        </p:txBody>
      </p:sp>
      <p:sp>
        <p:nvSpPr>
          <p:cNvPr id="11"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Overcame mobile browser memory limits by processing raw photogrammetry assets via `@gltf-transform`. Downscaled 8K uncompressed textures to 2K WebP and applied Draco mesh compression, shrinking `pizza.glb` from 46.8MB to 10.2MB (78% reduction).</a:t>
            </a:r>
            <a:endParaRPr lang="en-US" sz="950" dirty="0"/>
          </a:p>
        </p:txBody>
      </p:sp>
      <p:sp>
        <p:nvSpPr>
          <p:cNvPr id="12"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3"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Multi-Tier Device Sniffing Engine</a:t>
            </a:r>
            <a:endParaRPr lang="en-US" sz="1250" dirty="0"/>
          </a:p>
        </p:txBody>
      </p:sp>
      <p:sp>
        <p:nvSpPr>
          <p:cNvPr id="14"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Engineered an automated runtime capability detector. If WebXR session creation fails due to browser restrictions, the system smoothly falls back to Google Scene Viewer Intent via Android ARCore, or Google Model-Viewer 3D Canvas.</a:t>
            </a:r>
            <a:endParaRPr lang="en-US" sz="950" dirty="0"/>
          </a:p>
        </p:txBody>
      </p:sp>
      <p:sp>
        <p:nvSpPr>
          <p:cNvPr id="15"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6"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Cloud Edge MIME &amp; CORS Orchestration</a:t>
            </a:r>
            <a:endParaRPr lang="en-US" sz="1250" dirty="0"/>
          </a:p>
        </p:txBody>
      </p:sp>
      <p:sp>
        <p:nvSpPr>
          <p:cNvPr id="17"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Resolved browser cross-origin asset blocking by configuring Vercel edge response headers (`vercel.json`) to enforce `Content-Type: model/gltf-binary` and `Access-Control-Allow-Origin: *`, enabling instant streaming to external AR viewers.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System Design</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End-to-End Multi-Tier System Architecture</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8046720" cy="749808"/>
          </a:xfrm>
          <a:prstGeom prst="roundRect">
            <a:avLst>
              <a:gd name="adj" fmla="val 9756"/>
            </a:avLst>
          </a:prstGeom>
          <a:solidFill>
            <a:srgbClr val="F8FAFC"/>
          </a:solidFill>
          <a:ln w="12700">
            <a:solidFill>
              <a:srgbClr val="E2E8F0"/>
            </a:solidFill>
            <a:prstDash val="solid"/>
          </a:ln>
        </p:spPr>
      </p:sp>
      <p:sp>
        <p:nvSpPr>
          <p:cNvPr id="7" name="Text 5"/>
          <p:cNvSpPr/>
          <p:nvPr/>
        </p:nvSpPr>
        <p:spPr>
          <a:xfrm>
            <a:off x="731520" y="1280160"/>
            <a:ext cx="41148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Tier 1: Client Presentation Layer</a:t>
            </a:r>
            <a:endParaRPr lang="en-US" sz="1200" dirty="0"/>
          </a:p>
        </p:txBody>
      </p:sp>
      <p:sp>
        <p:nvSpPr>
          <p:cNvPr id="8" name="Text 6"/>
          <p:cNvSpPr/>
          <p:nvPr/>
        </p:nvSpPr>
        <p:spPr>
          <a:xfrm>
            <a:off x="4937760" y="1280160"/>
            <a:ext cx="347472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React 18 | TypeScript | Vite | Tailwind CSS</a:t>
            </a:r>
            <a:endParaRPr lang="en-US" sz="950" dirty="0"/>
          </a:p>
        </p:txBody>
      </p:sp>
      <p:sp>
        <p:nvSpPr>
          <p:cNvPr id="9" name="Text 7"/>
          <p:cNvSpPr/>
          <p:nvPr/>
        </p:nvSpPr>
        <p:spPr>
          <a:xfrm>
            <a:off x="731520" y="1536192"/>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Responsive mobile PWA interface, table session parsing, category navigation, dish detail modals, shopping cart drawer, and dietary badge filters.</a:t>
            </a:r>
            <a:endParaRPr lang="en-US" sz="950" dirty="0"/>
          </a:p>
        </p:txBody>
      </p:sp>
      <p:sp>
        <p:nvSpPr>
          <p:cNvPr id="10" name="Shape 8"/>
          <p:cNvSpPr/>
          <p:nvPr/>
        </p:nvSpPr>
        <p:spPr>
          <a:xfrm>
            <a:off x="548640" y="2029968"/>
            <a:ext cx="8046720" cy="749808"/>
          </a:xfrm>
          <a:prstGeom prst="roundRect">
            <a:avLst>
              <a:gd name="adj" fmla="val 9756"/>
            </a:avLst>
          </a:prstGeom>
          <a:solidFill>
            <a:srgbClr val="F8FAFC"/>
          </a:solidFill>
          <a:ln w="12700">
            <a:solidFill>
              <a:srgbClr val="E2E8F0"/>
            </a:solidFill>
            <a:prstDash val="solid"/>
          </a:ln>
        </p:spPr>
      </p:sp>
      <p:sp>
        <p:nvSpPr>
          <p:cNvPr id="11" name="Text 9"/>
          <p:cNvSpPr/>
          <p:nvPr/>
        </p:nvSpPr>
        <p:spPr>
          <a:xfrm>
            <a:off x="731520" y="2121408"/>
            <a:ext cx="41148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Tier 2: Spatial 3D / AR Subsystem</a:t>
            </a:r>
            <a:endParaRPr lang="en-US" sz="1200" dirty="0"/>
          </a:p>
        </p:txBody>
      </p:sp>
      <p:sp>
        <p:nvSpPr>
          <p:cNvPr id="12" name="Text 10"/>
          <p:cNvSpPr/>
          <p:nvPr/>
        </p:nvSpPr>
        <p:spPr>
          <a:xfrm>
            <a:off x="4937760" y="2121408"/>
            <a:ext cx="347472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Three.js | WebXR Device API | Model-Viewer</a:t>
            </a:r>
            <a:endParaRPr lang="en-US" sz="950" dirty="0"/>
          </a:p>
        </p:txBody>
      </p:sp>
      <p:sp>
        <p:nvSpPr>
          <p:cNvPr id="13" name="Text 11"/>
          <p:cNvSpPr/>
          <p:nvPr/>
        </p:nvSpPr>
        <p:spPr>
          <a:xfrm>
            <a:off x="731520" y="2377440"/>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6-DoF raycasting surface hit-testing, dynamic reticle tracking, 1:1 metric scale clamping, model rotation gestures, and Android Scene Viewer intent routing.</a:t>
            </a:r>
            <a:endParaRPr lang="en-US" sz="950" dirty="0"/>
          </a:p>
        </p:txBody>
      </p:sp>
      <p:sp>
        <p:nvSpPr>
          <p:cNvPr id="14" name="Shape 12"/>
          <p:cNvSpPr/>
          <p:nvPr/>
        </p:nvSpPr>
        <p:spPr>
          <a:xfrm>
            <a:off x="548640" y="2871216"/>
            <a:ext cx="8046720" cy="749808"/>
          </a:xfrm>
          <a:prstGeom prst="roundRect">
            <a:avLst>
              <a:gd name="adj" fmla="val 9756"/>
            </a:avLst>
          </a:prstGeom>
          <a:solidFill>
            <a:srgbClr val="F8FAFC"/>
          </a:solidFill>
          <a:ln w="12700">
            <a:solidFill>
              <a:srgbClr val="E2E8F0"/>
            </a:solidFill>
            <a:prstDash val="solid"/>
          </a:ln>
        </p:spPr>
      </p:sp>
      <p:sp>
        <p:nvSpPr>
          <p:cNvPr id="15" name="Text 13"/>
          <p:cNvSpPr/>
          <p:nvPr/>
        </p:nvSpPr>
        <p:spPr>
          <a:xfrm>
            <a:off x="731520" y="2962656"/>
            <a:ext cx="41148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Tier 3: State &amp; Kitchen Operations</a:t>
            </a:r>
            <a:endParaRPr lang="en-US" sz="1200" dirty="0"/>
          </a:p>
        </p:txBody>
      </p:sp>
      <p:sp>
        <p:nvSpPr>
          <p:cNvPr id="16" name="Text 14"/>
          <p:cNvSpPr/>
          <p:nvPr/>
        </p:nvSpPr>
        <p:spPr>
          <a:xfrm>
            <a:off x="4937760" y="2962656"/>
            <a:ext cx="347472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Zustand Store | Web Audio API | KDS Kanban</a:t>
            </a:r>
            <a:endParaRPr lang="en-US" sz="950" dirty="0"/>
          </a:p>
        </p:txBody>
      </p:sp>
      <p:sp>
        <p:nvSpPr>
          <p:cNvPr id="17" name="Text 15"/>
          <p:cNvSpPr/>
          <p:nvPr/>
        </p:nvSpPr>
        <p:spPr>
          <a:xfrm>
            <a:off x="731520" y="3218688"/>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Bidirectional state management, table order queues, preparation time timers, acoustic chime alerts, and status state machine (Pending -&gt; Delivered).</a:t>
            </a:r>
            <a:endParaRPr lang="en-US" sz="950" dirty="0"/>
          </a:p>
        </p:txBody>
      </p:sp>
      <p:sp>
        <p:nvSpPr>
          <p:cNvPr id="18" name="Shape 16"/>
          <p:cNvSpPr/>
          <p:nvPr/>
        </p:nvSpPr>
        <p:spPr>
          <a:xfrm>
            <a:off x="548640" y="3712464"/>
            <a:ext cx="8046720" cy="749808"/>
          </a:xfrm>
          <a:prstGeom prst="roundRect">
            <a:avLst>
              <a:gd name="adj" fmla="val 9756"/>
            </a:avLst>
          </a:prstGeom>
          <a:solidFill>
            <a:srgbClr val="F8FAFC"/>
          </a:solidFill>
          <a:ln w="12700">
            <a:solidFill>
              <a:srgbClr val="E2E8F0"/>
            </a:solidFill>
            <a:prstDash val="solid"/>
          </a:ln>
        </p:spPr>
      </p:sp>
      <p:sp>
        <p:nvSpPr>
          <p:cNvPr id="19" name="Text 17"/>
          <p:cNvSpPr/>
          <p:nvPr/>
        </p:nvSpPr>
        <p:spPr>
          <a:xfrm>
            <a:off x="731520" y="3803904"/>
            <a:ext cx="41148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Tier 4: Cloud Edge Infrastructure</a:t>
            </a:r>
            <a:endParaRPr lang="en-US" sz="1200" dirty="0"/>
          </a:p>
        </p:txBody>
      </p:sp>
      <p:sp>
        <p:nvSpPr>
          <p:cNvPr id="20" name="Text 18"/>
          <p:cNvSpPr/>
          <p:nvPr/>
        </p:nvSpPr>
        <p:spPr>
          <a:xfrm>
            <a:off x="4937760" y="3803904"/>
            <a:ext cx="347472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Vercel Edge Network | CDN | Git CI/CD</a:t>
            </a:r>
            <a:endParaRPr lang="en-US" sz="950" dirty="0"/>
          </a:p>
        </p:txBody>
      </p:sp>
      <p:sp>
        <p:nvSpPr>
          <p:cNvPr id="21" name="Text 19"/>
          <p:cNvSpPr/>
          <p:nvPr/>
        </p:nvSpPr>
        <p:spPr>
          <a:xfrm>
            <a:off x="731520" y="4059936"/>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Static serverless delivery, model asset caching, edge response header injection (`Content-Type: model/gltf-binary`), and GitHub automated build triggers.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Engineering Stack</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Comprehensive Technology Stack &amp; Tools Matrix</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7" name="Text 5"/>
          <p:cNvSpPr/>
          <p:nvPr/>
        </p:nvSpPr>
        <p:spPr>
          <a:xfrm>
            <a:off x="7772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Frontend &amp; UI Framework</a:t>
            </a:r>
            <a:endParaRPr lang="en-US" sz="1200" dirty="0"/>
          </a:p>
        </p:txBody>
      </p:sp>
      <p:sp>
        <p:nvSpPr>
          <p:cNvPr id="8" name="Text 6"/>
          <p:cNvSpPr/>
          <p:nvPr/>
        </p:nvSpPr>
        <p:spPr>
          <a:xfrm>
            <a:off x="7772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React 18.3, TypeScript 5.2, Vite 5.4, Tailwind CSS 3.4, Lucide Icons</a:t>
            </a:r>
            <a:endParaRPr lang="en-US" sz="900" dirty="0"/>
          </a:p>
        </p:txBody>
      </p:sp>
      <p:sp>
        <p:nvSpPr>
          <p:cNvPr id="9" name="Text 7"/>
          <p:cNvSpPr/>
          <p:nvPr/>
        </p:nvSpPr>
        <p:spPr>
          <a:xfrm>
            <a:off x="7772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React 18 concurrent rendering for fluid 60 FPS transitions.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TypeScript for strict type safety across menu, cart, and order models.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Vite for instantaneous HMR and optimized production tree-shaking.</a:t>
            </a:r>
            <a:endParaRPr lang="en-US" sz="950" dirty="0"/>
          </a:p>
        </p:txBody>
      </p:sp>
      <p:sp>
        <p:nvSpPr>
          <p:cNvPr id="10" name="Shape 8"/>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9"/>
          <p:cNvSpPr/>
          <p:nvPr/>
        </p:nvSpPr>
        <p:spPr>
          <a:xfrm>
            <a:off x="48920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Spatial AR &amp; 3D Graphics</a:t>
            </a:r>
            <a:endParaRPr lang="en-US" sz="1200" dirty="0"/>
          </a:p>
        </p:txBody>
      </p:sp>
      <p:sp>
        <p:nvSpPr>
          <p:cNvPr id="12" name="Text 10"/>
          <p:cNvSpPr/>
          <p:nvPr/>
        </p:nvSpPr>
        <p:spPr>
          <a:xfrm>
            <a:off x="48920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Three.js r128+, WebXR Device API, @google/model-viewer 4.0, glTF 2.0</a:t>
            </a:r>
            <a:endParaRPr lang="en-US" sz="900" dirty="0"/>
          </a:p>
        </p:txBody>
      </p:sp>
      <p:sp>
        <p:nvSpPr>
          <p:cNvPr id="13" name="Text 11"/>
          <p:cNvSpPr/>
          <p:nvPr/>
        </p:nvSpPr>
        <p:spPr>
          <a:xfrm>
            <a:off x="48920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Three.js WebGL canvas for desktop interactive 3D inspection.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Native WebXR hit-testing for 6-DoF table surface detection.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Google Scene Viewer Intent fallback for universal Android coverage.</a:t>
            </a:r>
            <a:endParaRPr lang="en-US" sz="950" dirty="0"/>
          </a:p>
        </p:txBody>
      </p:sp>
      <p:sp>
        <p:nvSpPr>
          <p:cNvPr id="14" name="Shape 12"/>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5" name="Text 13"/>
          <p:cNvSpPr/>
          <p:nvPr/>
        </p:nvSpPr>
        <p:spPr>
          <a:xfrm>
            <a:off x="7772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State &amp; Audio Systems</a:t>
            </a:r>
            <a:endParaRPr lang="en-US" sz="1200" dirty="0"/>
          </a:p>
        </p:txBody>
      </p:sp>
      <p:sp>
        <p:nvSpPr>
          <p:cNvPr id="16" name="Text 14"/>
          <p:cNvSpPr/>
          <p:nvPr/>
        </p:nvSpPr>
        <p:spPr>
          <a:xfrm>
            <a:off x="7772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Zustand Global Store, React Hooks, HTML5 Web Audio API, QR Server API</a:t>
            </a:r>
            <a:endParaRPr lang="en-US" sz="900" dirty="0"/>
          </a:p>
        </p:txBody>
      </p:sp>
      <p:sp>
        <p:nvSpPr>
          <p:cNvPr id="17" name="Text 15"/>
          <p:cNvSpPr/>
          <p:nvPr/>
        </p:nvSpPr>
        <p:spPr>
          <a:xfrm>
            <a:off x="7772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Zustand lightweight state store for decoupled cart and KDS tickets.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Synthesized audio chime alert for immediate kitchen order notification.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Dynamic QR code generation for frictionless desktop-to-mobile handoff.</a:t>
            </a:r>
            <a:endParaRPr lang="en-US" sz="950" dirty="0"/>
          </a:p>
        </p:txBody>
      </p:sp>
      <p:sp>
        <p:nvSpPr>
          <p:cNvPr id="18" name="Shape 16"/>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9" name="Text 17"/>
          <p:cNvSpPr/>
          <p:nvPr/>
        </p:nvSpPr>
        <p:spPr>
          <a:xfrm>
            <a:off x="48920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Tooling, Compression &amp; Cloud</a:t>
            </a:r>
            <a:endParaRPr lang="en-US" sz="1200" dirty="0"/>
          </a:p>
        </p:txBody>
      </p:sp>
      <p:sp>
        <p:nvSpPr>
          <p:cNvPr id="20" name="Text 18"/>
          <p:cNvSpPr/>
          <p:nvPr/>
        </p:nvSpPr>
        <p:spPr>
          <a:xfrm>
            <a:off x="48920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Node.js 20, @gltf-transform/cli, Vercel Edge Platform, Git/GitHub</a:t>
            </a:r>
            <a:endParaRPr lang="en-US" sz="900" dirty="0"/>
          </a:p>
        </p:txBody>
      </p:sp>
      <p:sp>
        <p:nvSpPr>
          <p:cNvPr id="21" name="Text 19"/>
          <p:cNvSpPr/>
          <p:nvPr/>
        </p:nvSpPr>
        <p:spPr>
          <a:xfrm>
            <a:off x="48920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gltf-transform Draco mesh quantization and WebP texture compression.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Vercel Edge Cloud platform with custom binary MIME headers.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Automated CI/CD deployment pipeline synchronized with GitHub main branch.</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Rubric Criterion 4 (10 Marks)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Project Management: Agile Methodology, Milestones &amp; Risk Analysis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7"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AGILE SPRINTS &amp; MILESTONE TIMELINE</a:t>
            </a:r>
            <a:endParaRPr lang="en-US" sz="1200" dirty="0"/>
          </a:p>
        </p:txBody>
      </p:sp>
      <p:sp>
        <p:nvSpPr>
          <p:cNvPr id="8"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1-2 (Phase 1): Requirement gathering, UX wireframing, and 3D photogrammetry food asset sourcing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3-4 (Phase 2): Responsive menu development, TypeScript data schema, and dietary filtering engine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5-6 (Phase 3): WebXR surface hit-testing engine and 3D model compression with Draco/WebP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7-8 (Phase 4): Real-time Kitchen Display System, audio notifications, and Scene Viewer fallback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9-10 (Phase 5): Cross-device testing, Vercel edge deployment, and research paper completion (Completed).</a:t>
            </a:r>
            <a:endParaRPr lang="en-US" sz="950" dirty="0"/>
          </a:p>
        </p:txBody>
      </p:sp>
      <p:sp>
        <p:nvSpPr>
          <p:cNvPr id="9"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0"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STRUCTURED RISK MANAGEMENT MATRIX</a:t>
            </a:r>
            <a:endParaRPr lang="en-US" sz="1200" dirty="0"/>
          </a:p>
        </p:txBody>
      </p:sp>
      <p:sp>
        <p:nvSpPr>
          <p:cNvPr id="11"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1: 3D model downloads causing mobile browser timeouts &amp; OOM crashes.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Deployed gltf-transform pipeline downscaling 8K textures to 2K WebP, cutting payloads by up to 78%.</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2: WebXR hardware/browser fragmentation across older Android &amp; iOS phones.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Engineered dual-engine fallback: automatic redirect to Google Scene Viewer Intent via ARCore.</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3: Cross-Origin CORS and wrong MIME blocking GLB loading in external viewers.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Configured vercel.json edge rules enforcing model/gltf-binary and CORS wildcard headers.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Rubric Criterion 5 (10 Marks)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Teamwork, Task Allocation &amp; Collaborative Practices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2560320" cy="2377440"/>
          </a:xfrm>
          <a:prstGeom prst="roundRect">
            <a:avLst>
              <a:gd name="adj" fmla="val 3077"/>
            </a:avLst>
          </a:prstGeom>
          <a:solidFill>
            <a:srgbClr val="F8FAFC"/>
          </a:solidFill>
          <a:ln w="12700">
            <a:solidFill>
              <a:srgbClr val="E2E8F0"/>
            </a:solidFill>
            <a:prstDash val="solid"/>
          </a:ln>
        </p:spPr>
      </p:sp>
      <p:sp>
        <p:nvSpPr>
          <p:cNvPr id="7" name="Text 5"/>
          <p:cNvSpPr/>
          <p:nvPr/>
        </p:nvSpPr>
        <p:spPr>
          <a:xfrm>
            <a:off x="7315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Manav Singh</a:t>
            </a:r>
            <a:endParaRPr lang="en-US" sz="1300" dirty="0"/>
          </a:p>
        </p:txBody>
      </p:sp>
      <p:sp>
        <p:nvSpPr>
          <p:cNvPr id="8" name="Text 6"/>
          <p:cNvSpPr/>
          <p:nvPr/>
        </p:nvSpPr>
        <p:spPr>
          <a:xfrm>
            <a:off x="7315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Lead Full-Stack &amp; Spatial AR Engineer</a:t>
            </a:r>
            <a:endParaRPr lang="en-US" sz="950" dirty="0"/>
          </a:p>
        </p:txBody>
      </p:sp>
      <p:sp>
        <p:nvSpPr>
          <p:cNvPr id="9" name="Text 7"/>
          <p:cNvSpPr/>
          <p:nvPr/>
        </p:nvSpPr>
        <p:spPr>
          <a:xfrm>
            <a:off x="7315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Engineered WebXR Device API hit-testing reticle &amp; table plane detection.</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Built Google Scene Viewer Android Intent fallback and mobile QR handoff.</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Executed 3D asset compression pipeline with Draco &amp; WebP textures.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Configured Vercel edge deployment, custom MIME types &amp; CORS rules.</a:t>
            </a:r>
            <a:endParaRPr lang="en-US" sz="900" dirty="0"/>
          </a:p>
        </p:txBody>
      </p:sp>
      <p:sp>
        <p:nvSpPr>
          <p:cNvPr id="10" name="Shape 8"/>
          <p:cNvSpPr/>
          <p:nvPr/>
        </p:nvSpPr>
        <p:spPr>
          <a:xfrm>
            <a:off x="3291840" y="1188720"/>
            <a:ext cx="2560320" cy="2377440"/>
          </a:xfrm>
          <a:prstGeom prst="roundRect">
            <a:avLst>
              <a:gd name="adj" fmla="val 3077"/>
            </a:avLst>
          </a:prstGeom>
          <a:solidFill>
            <a:srgbClr val="F8FAFC"/>
          </a:solidFill>
          <a:ln w="12700">
            <a:solidFill>
              <a:srgbClr val="E2E8F0"/>
            </a:solidFill>
            <a:prstDash val="solid"/>
          </a:ln>
        </p:spPr>
      </p:sp>
      <p:sp>
        <p:nvSpPr>
          <p:cNvPr id="11" name="Text 9"/>
          <p:cNvSpPr/>
          <p:nvPr/>
        </p:nvSpPr>
        <p:spPr>
          <a:xfrm>
            <a:off x="34747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Sanskar Suryavanshi</a:t>
            </a:r>
            <a:endParaRPr lang="en-US" sz="1300" dirty="0"/>
          </a:p>
        </p:txBody>
      </p:sp>
      <p:sp>
        <p:nvSpPr>
          <p:cNvPr id="12" name="Text 10"/>
          <p:cNvSpPr/>
          <p:nvPr/>
        </p:nvSpPr>
        <p:spPr>
          <a:xfrm>
            <a:off x="34747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Frontend Architect &amp; UI/UX Specialist</a:t>
            </a:r>
            <a:endParaRPr lang="en-US" sz="950" dirty="0"/>
          </a:p>
        </p:txBody>
      </p:sp>
      <p:sp>
        <p:nvSpPr>
          <p:cNvPr id="13" name="Text 11"/>
          <p:cNvSpPr/>
          <p:nvPr/>
        </p:nvSpPr>
        <p:spPr>
          <a:xfrm>
            <a:off x="34747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Architected responsive customer menu portal with Tailwind CSS.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interactive Dish Detail Modal, allergen badges &amp; calorie counters.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Implemented category filtering, dynamic search &amp; cart drawer UI.</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Ensured responsive design and touch-friendly mobile ergonomics.</a:t>
            </a:r>
            <a:endParaRPr lang="en-US" sz="900" dirty="0"/>
          </a:p>
        </p:txBody>
      </p:sp>
      <p:sp>
        <p:nvSpPr>
          <p:cNvPr id="14" name="Shape 12"/>
          <p:cNvSpPr/>
          <p:nvPr/>
        </p:nvSpPr>
        <p:spPr>
          <a:xfrm>
            <a:off x="6035040" y="1188720"/>
            <a:ext cx="2560320" cy="2377440"/>
          </a:xfrm>
          <a:prstGeom prst="roundRect">
            <a:avLst>
              <a:gd name="adj" fmla="val 3077"/>
            </a:avLst>
          </a:prstGeom>
          <a:solidFill>
            <a:srgbClr val="F8FAFC"/>
          </a:solidFill>
          <a:ln w="12700">
            <a:solidFill>
              <a:srgbClr val="E2E8F0"/>
            </a:solidFill>
            <a:prstDash val="solid"/>
          </a:ln>
        </p:spPr>
      </p:sp>
      <p:sp>
        <p:nvSpPr>
          <p:cNvPr id="15" name="Text 13"/>
          <p:cNvSpPr/>
          <p:nvPr/>
        </p:nvSpPr>
        <p:spPr>
          <a:xfrm>
            <a:off x="62179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Kesar Singh</a:t>
            </a:r>
            <a:endParaRPr lang="en-US" sz="1300" dirty="0"/>
          </a:p>
        </p:txBody>
      </p:sp>
      <p:sp>
        <p:nvSpPr>
          <p:cNvPr id="16" name="Text 14"/>
          <p:cNvSpPr/>
          <p:nvPr/>
        </p:nvSpPr>
        <p:spPr>
          <a:xfrm>
            <a:off x="62179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Systems Integration &amp; QA Lead</a:t>
            </a:r>
            <a:endParaRPr lang="en-US" sz="950" dirty="0"/>
          </a:p>
        </p:txBody>
      </p:sp>
      <p:sp>
        <p:nvSpPr>
          <p:cNvPr id="17" name="Text 15"/>
          <p:cNvSpPr/>
          <p:nvPr/>
        </p:nvSpPr>
        <p:spPr>
          <a:xfrm>
            <a:off x="62179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Developed real-time Kitchen Display System (KDS) Kanban board.</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Integrated Web Audio API sound dispatch for instant order alerts.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and executed comprehensive cross-device test case matrix.</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Conducted performance benchmarking, latency profiling &amp; paper validation.</a:t>
            </a:r>
            <a:endParaRPr lang="en-US" sz="900" dirty="0"/>
          </a:p>
        </p:txBody>
      </p:sp>
      <p:sp>
        <p:nvSpPr>
          <p:cNvPr id="18" name="Shape 16"/>
          <p:cNvSpPr/>
          <p:nvPr/>
        </p:nvSpPr>
        <p:spPr>
          <a:xfrm>
            <a:off x="548640" y="3749040"/>
            <a:ext cx="8046720" cy="914400"/>
          </a:xfrm>
          <a:prstGeom prst="roundRect">
            <a:avLst>
              <a:gd name="adj" fmla="val 8000"/>
            </a:avLst>
          </a:prstGeom>
          <a:solidFill>
            <a:srgbClr val="EFF6FF"/>
          </a:solidFill>
          <a:ln w="12700">
            <a:solidFill>
              <a:srgbClr val="BFDBFE"/>
            </a:solidFill>
            <a:prstDash val="solid"/>
          </a:ln>
        </p:spPr>
      </p:sp>
      <p:sp>
        <p:nvSpPr>
          <p:cNvPr id="19" name="Text 17"/>
          <p:cNvSpPr/>
          <p:nvPr/>
        </p:nvSpPr>
        <p:spPr>
          <a:xfrm>
            <a:off x="731520" y="3840480"/>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COLLABORATIVE METHODOLOGY &amp; REPOSITORY GOVERNANCE</a:t>
            </a:r>
            <a:endParaRPr lang="en-US" sz="950" dirty="0"/>
          </a:p>
        </p:txBody>
      </p:sp>
      <p:sp>
        <p:nvSpPr>
          <p:cNvPr id="20" name="Text 18"/>
          <p:cNvSpPr/>
          <p:nvPr/>
        </p:nvSpPr>
        <p:spPr>
          <a:xfrm>
            <a:off x="731520" y="4069080"/>
            <a:ext cx="7680960" cy="50292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Git Feature-Branch Workflow: Protected main branch on GitHub (MANAV0060/Smart-Restaurant) with mandatory pull request code 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Daily Standups &amp; Sprint Demos: Bi-weekly milestone reviews with mentor Prof. Vinitta Sunish to ensure alignment with TCET academic standards.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Shared Testing Matrix: Collaborative device lab testing spanning Android (Samsung, Pixel) and iOS (Safari) hardware.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Rubric Criterion 3 (5 Marks)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Cost Analysis, Budgeting &amp; Practical Feasibility</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4389120" cy="3429000"/>
          </a:xfrm>
          <a:prstGeom prst="roundRect">
            <a:avLst>
              <a:gd name="adj" fmla="val 2133"/>
            </a:avLst>
          </a:prstGeom>
          <a:solidFill>
            <a:srgbClr val="F8FAFC"/>
          </a:solidFill>
          <a:ln w="12700">
            <a:solidFill>
              <a:srgbClr val="E2E8F0"/>
            </a:solidFill>
            <a:prstDash val="solid"/>
          </a:ln>
        </p:spPr>
      </p:sp>
      <p:sp>
        <p:nvSpPr>
          <p:cNvPr id="7" name="Text 5"/>
          <p:cNvSpPr/>
          <p:nvPr/>
        </p:nvSpPr>
        <p:spPr>
          <a:xfrm>
            <a:off x="731520" y="1371600"/>
            <a:ext cx="40233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3-YEAR TOTAL COST OF OWNERSHIP (10-TABLE BISTRO)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023360" cy="2651760"/>
        </p:xfrm>
        <a:graphic>
          <a:graphicData uri="http://schemas.openxmlformats.org/drawingml/2006/table">
            <a:tbl>
              <a:tblPr/>
              <a:tblGrid>
                <a:gridCol w="1341120"/>
                <a:gridCol w="1341120"/>
                <a:gridCol w="1341120"/>
              </a:tblGrid>
              <a:tr h="44196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Expenditure Item</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Hardware POS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Smart Restaurant (Ours)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Devices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₹3,50,000 (10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(Patron Phones)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Software Licensing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₹80,000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(Open Source Stack)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Maintenance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₹40,000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(No Table Hardware)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Cloud Edge Hosting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₹30,000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₹15,000 / yr (Vercel)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1E3A8A"/>
                          </a:solidFill>
                          <a:latin typeface="Calibri" pitchFamily="34" charset="0"/>
                          <a:ea typeface="Calibri" pitchFamily="34" charset="-122"/>
                          <a:cs typeface="Calibri" pitchFamily="34" charset="-120"/>
                        </a:rPr>
                        <a:t>3-Year Total Cost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DC2626"/>
                          </a:solidFill>
                          <a:latin typeface="Calibri" pitchFamily="34" charset="0"/>
                          <a:ea typeface="Calibri" pitchFamily="34" charset="-122"/>
                          <a:cs typeface="Calibri" pitchFamily="34" charset="-120"/>
                        </a:rPr>
                        <a:t>₹7,10,000</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₹45,000 (93.7% Savings!)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9" name="Shape 6"/>
          <p:cNvSpPr/>
          <p:nvPr/>
        </p:nvSpPr>
        <p:spPr>
          <a:xfrm>
            <a:off x="5120640" y="1188720"/>
            <a:ext cx="3474720" cy="3429000"/>
          </a:xfrm>
          <a:prstGeom prst="roundRect">
            <a:avLst>
              <a:gd name="adj" fmla="val 2133"/>
            </a:avLst>
          </a:prstGeom>
          <a:solidFill>
            <a:srgbClr val="F8FAFC"/>
          </a:solidFill>
          <a:ln w="12700">
            <a:solidFill>
              <a:srgbClr val="E2E8F0"/>
            </a:solidFill>
            <a:prstDash val="solid"/>
          </a:ln>
        </p:spPr>
      </p:sp>
      <p:sp>
        <p:nvSpPr>
          <p:cNvPr id="10" name="Text 7"/>
          <p:cNvSpPr/>
          <p:nvPr/>
        </p:nvSpPr>
        <p:spPr>
          <a:xfrm>
            <a:off x="5303520" y="1371600"/>
            <a:ext cx="31089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TECHNICAL &amp; OPERATIONAL FEASIBILITY</a:t>
            </a:r>
            <a:endParaRPr lang="en-US" sz="1100" dirty="0"/>
          </a:p>
        </p:txBody>
      </p:sp>
      <p:sp>
        <p:nvSpPr>
          <p:cNvPr id="11" name="Text 8"/>
          <p:cNvSpPr/>
          <p:nvPr/>
        </p:nvSpPr>
        <p:spPr>
          <a:xfrm>
            <a:off x="5303520" y="1691640"/>
            <a:ext cx="3108960" cy="2743200"/>
          </a:xfrm>
          <a:prstGeom prst="rect">
            <a:avLst/>
          </a:prstGeom>
          <a:noFill/>
          <a:ln/>
        </p:spPr>
        <p:txBody>
          <a:bodyPr wrap="square" lIns="0" tIns="0" rIns="0" bIns="0" rtlCol="0" anchor="ctr"/>
          <a:lstStyle/>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Economic Feasibility: Exceptional ROI</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Eliminates hardware procurement entirely. A 10-table restaurant saves over ₹6.6 Lakhs ($8,000+) over 3 years, achieving instant ROI in Month 1.</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Technical Feasibility: Web Standards</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Utilizes standardized W3C WebXR and WebGL APIs natively supported in Chrome, Edge, and Safari without proprietary SDK royalties.</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Operational Feasibility: Zero Friction</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Diners scan and order without downloading apps; restaurant staff operate the KDS on any existing kitchen tablet or PC screen.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Rubric Criterion 7 (30 Marks)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100% Implementation: Working Modules &amp; Live Deployment Verification</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6" name="Image 0" descr="d:\resrtorant\presentation_assets\back_to_menu_1790013320137.png">    </p:cNvPr>
          <p:cNvPicPr>
            <a:picLocks noChangeAspect="1"/>
          </p:cNvPicPr>
          <p:nvPr/>
        </p:nvPicPr>
        <p:blipFill>
          <a:blip r:embed="rId1"/>
          <a:stretch>
            <a:fillRect/>
          </a:stretch>
        </p:blipFill>
        <p:spPr>
          <a:xfrm>
            <a:off x="548640" y="1188720"/>
            <a:ext cx="3291840" cy="2194560"/>
          </a:xfrm>
          <a:prstGeom prst="rect">
            <a:avLst/>
          </a:prstGeom>
        </p:spPr>
      </p:pic>
      <p:sp>
        <p:nvSpPr>
          <p:cNvPr id="7" name="Shape 4"/>
          <p:cNvSpPr/>
          <p:nvPr/>
        </p:nvSpPr>
        <p:spPr>
          <a:xfrm>
            <a:off x="548640" y="1188720"/>
            <a:ext cx="3291840" cy="2194560"/>
          </a:xfrm>
          <a:prstGeom prst="rect">
            <a:avLst/>
          </a:prstGeom>
          <a:ln w="12700">
            <a:solidFill>
              <a:srgbClr val="E2E8F0"/>
            </a:solidFill>
            <a:prstDash val="solid"/>
          </a:ln>
        </p:spPr>
      </p:sp>
      <p:pic>
        <p:nvPicPr>
          <p:cNvPr id="8" name="Image 1" descr="d:\resrtorant\presentation_assets\dish_anchored_placed_1790012727681.png">    </p:cNvPr>
          <p:cNvPicPr>
            <a:picLocks noChangeAspect="1"/>
          </p:cNvPicPr>
          <p:nvPr/>
        </p:nvPicPr>
        <p:blipFill>
          <a:blip r:embed="rId2"/>
          <a:stretch>
            <a:fillRect/>
          </a:stretch>
        </p:blipFill>
        <p:spPr>
          <a:xfrm>
            <a:off x="4023360" y="1188720"/>
            <a:ext cx="4572000" cy="2194560"/>
          </a:xfrm>
          <a:prstGeom prst="rect">
            <a:avLst/>
          </a:prstGeom>
        </p:spPr>
      </p:pic>
      <p:sp>
        <p:nvSpPr>
          <p:cNvPr id="9" name="Shape 5"/>
          <p:cNvSpPr/>
          <p:nvPr/>
        </p:nvSpPr>
        <p:spPr>
          <a:xfrm>
            <a:off x="4023360" y="1188720"/>
            <a:ext cx="4572000" cy="2194560"/>
          </a:xfrm>
          <a:prstGeom prst="rect">
            <a:avLst/>
          </a:prstGeom>
          <a:ln w="12700">
            <a:solidFill>
              <a:srgbClr val="E2E8F0"/>
            </a:solidFill>
            <a:prstDash val="solid"/>
          </a:ln>
        </p:spPr>
      </p:sp>
      <p:sp>
        <p:nvSpPr>
          <p:cNvPr id="10" name="Shape 6"/>
          <p:cNvSpPr/>
          <p:nvPr/>
        </p:nvSpPr>
        <p:spPr>
          <a:xfrm>
            <a:off x="548640" y="3520440"/>
            <a:ext cx="8046720" cy="1143000"/>
          </a:xfrm>
          <a:prstGeom prst="roundRect">
            <a:avLst>
              <a:gd name="adj" fmla="val 6400"/>
            </a:avLst>
          </a:prstGeom>
          <a:solidFill>
            <a:srgbClr val="F8FAFC"/>
          </a:solidFill>
          <a:ln w="12700">
            <a:solidFill>
              <a:srgbClr val="059669"/>
            </a:solidFill>
            <a:prstDash val="solid"/>
          </a:ln>
        </p:spPr>
      </p:sp>
      <p:sp>
        <p:nvSpPr>
          <p:cNvPr id="11" name="Text 7"/>
          <p:cNvSpPr/>
          <p:nvPr/>
        </p:nvSpPr>
        <p:spPr>
          <a:xfrm>
            <a:off x="731520" y="3611880"/>
            <a:ext cx="7680960" cy="182880"/>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100% COMPLETED MODULES &amp; VERIFIABLE PROOF (30 MARKS)</a:t>
            </a:r>
            <a:endParaRPr lang="en-US" sz="950" dirty="0"/>
          </a:p>
        </p:txBody>
      </p:sp>
      <p:sp>
        <p:nvSpPr>
          <p:cNvPr id="12" name="Text 8"/>
          <p:cNvSpPr/>
          <p:nvPr/>
        </p:nvSpPr>
        <p:spPr>
          <a:xfrm>
            <a:off x="731520" y="3840480"/>
            <a:ext cx="7680960" cy="731520"/>
          </a:xfrm>
          <a:prstGeom prst="rect">
            <a:avLst/>
          </a:prstGeom>
          <a:noFill/>
          <a:ln/>
        </p:spPr>
        <p:txBody>
          <a:bodyPr wrap="square" lIns="0" tIns="0" rIns="0" bIns="0" rtlCol="0" anchor="ctr"/>
          <a:lstStyle/>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Interactive Menu: 12+ gourmet dishes with dietary tags, preparation times, and calorie metrics.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6-DoF WebXR Surface Tracker: Table plane hit-testing, dynamic reticle, and model rotation gestures.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Google Scene Viewer Fallback: Automated Android intent dispatch for non-WebXR devices.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Real-Time Kitchen Display: Live order queue with state transitions and acoustic alerts.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Live Production Vercel Edge: Hosted &amp; active at https://smart-restaurant-2za8.vercel.app/</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Live Model Demonstration</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Operational Workflow &amp; Step-by-Step Diner Journey</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6" name="Image 0" descr="d:\resrtorant\presentation_assets\qr_handoff_modal_1790013103448.png">    </p:cNvPr>
          <p:cNvPicPr>
            <a:picLocks noChangeAspect="1"/>
          </p:cNvPicPr>
          <p:nvPr/>
        </p:nvPicPr>
        <p:blipFill>
          <a:blip r:embed="rId1"/>
          <a:stretch>
            <a:fillRect/>
          </a:stretch>
        </p:blipFill>
        <p:spPr>
          <a:xfrm>
            <a:off x="548640" y="1188720"/>
            <a:ext cx="3108960" cy="2103120"/>
          </a:xfrm>
          <a:prstGeom prst="rect">
            <a:avLst/>
          </a:prstGeom>
        </p:spPr>
      </p:pic>
      <p:sp>
        <p:nvSpPr>
          <p:cNvPr id="7" name="Shape 4"/>
          <p:cNvSpPr/>
          <p:nvPr/>
        </p:nvSpPr>
        <p:spPr>
          <a:xfrm>
            <a:off x="548640" y="1188720"/>
            <a:ext cx="3108960" cy="2103120"/>
          </a:xfrm>
          <a:prstGeom prst="rect">
            <a:avLst/>
          </a:prstGeom>
          <a:ln w="12700">
            <a:solidFill>
              <a:srgbClr val="E2E8F0"/>
            </a:solidFill>
            <a:prstDash val="solid"/>
          </a:ln>
        </p:spPr>
      </p:sp>
      <p:pic>
        <p:nvPicPr>
          <p:cNvPr id="8" name="Image 1" descr="d:\resrtorant\presentation_assets\model_rotated_66deg_1790012883322.png">    </p:cNvPr>
          <p:cNvPicPr>
            <a:picLocks noChangeAspect="1"/>
          </p:cNvPicPr>
          <p:nvPr/>
        </p:nvPicPr>
        <p:blipFill>
          <a:blip r:embed="rId2"/>
          <a:stretch>
            <a:fillRect/>
          </a:stretch>
        </p:blipFill>
        <p:spPr>
          <a:xfrm>
            <a:off x="3840480" y="1188720"/>
            <a:ext cx="4754880" cy="2103120"/>
          </a:xfrm>
          <a:prstGeom prst="rect">
            <a:avLst/>
          </a:prstGeom>
        </p:spPr>
      </p:pic>
      <p:sp>
        <p:nvSpPr>
          <p:cNvPr id="9" name="Shape 5"/>
          <p:cNvSpPr/>
          <p:nvPr/>
        </p:nvSpPr>
        <p:spPr>
          <a:xfrm>
            <a:off x="3840480" y="1188720"/>
            <a:ext cx="4754880" cy="2103120"/>
          </a:xfrm>
          <a:prstGeom prst="rect">
            <a:avLst/>
          </a:prstGeom>
          <a:ln w="12700">
            <a:solidFill>
              <a:srgbClr val="E2E8F0"/>
            </a:solidFill>
            <a:prstDash val="solid"/>
          </a:ln>
        </p:spPr>
      </p:sp>
      <p:sp>
        <p:nvSpPr>
          <p:cNvPr id="10" name="Shape 6"/>
          <p:cNvSpPr/>
          <p:nvPr/>
        </p:nvSpPr>
        <p:spPr>
          <a:xfrm>
            <a:off x="548640" y="3429000"/>
            <a:ext cx="8046720" cy="1234440"/>
          </a:xfrm>
          <a:prstGeom prst="roundRect">
            <a:avLst>
              <a:gd name="adj" fmla="val 5926"/>
            </a:avLst>
          </a:prstGeom>
          <a:solidFill>
            <a:srgbClr val="F8FAFC"/>
          </a:solidFill>
          <a:ln w="12700">
            <a:solidFill>
              <a:srgbClr val="E2E8F0"/>
            </a:solidFill>
            <a:prstDash val="solid"/>
          </a:ln>
        </p:spPr>
      </p:sp>
      <p:sp>
        <p:nvSpPr>
          <p:cNvPr id="11" name="Text 7"/>
          <p:cNvSpPr/>
          <p:nvPr/>
        </p:nvSpPr>
        <p:spPr>
          <a:xfrm>
            <a:off x="731520" y="3520440"/>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END-TO-END OPERATIONAL PIPELINE (INPUT → PROCESSING → OUTPUT)</a:t>
            </a:r>
            <a:endParaRPr lang="en-US" sz="950" dirty="0"/>
          </a:p>
        </p:txBody>
      </p:sp>
      <p:sp>
        <p:nvSpPr>
          <p:cNvPr id="12" name="Text 8"/>
          <p:cNvSpPr/>
          <p:nvPr/>
        </p:nvSpPr>
        <p:spPr>
          <a:xfrm>
            <a:off x="731520" y="3749040"/>
            <a:ext cx="7680960" cy="868680"/>
          </a:xfrm>
          <a:prstGeom prst="rect">
            <a:avLst/>
          </a:prstGeom>
          <a:noFill/>
          <a:ln/>
        </p:spPr>
        <p:txBody>
          <a:bodyPr wrap="square" lIns="0" tIns="0" rIns="0" bIns="0" rtlCol="0" anchor="ctr"/>
          <a:lstStyle/>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1. Table QR Scan: Diner scans tabletop QR code (`/?table=1`) to launch PWA with active session context.</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2. Menu Exploration: Filters dishes by dietary tags (Veg, Gluten-Free) and reviews calories/ingredients.</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3. Spatial AR Placement: Taps "View in 3D" -&gt; WebXR detects table plane and anchors 1:1 scale dish model.</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4. Customization &amp; Cart: Diner inspects portion size, rotates model 360°, adds cooking notes, and places order.</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5. Instant Kitchen Dispatch: KDS receives ticket with audio chime; chef marks status to "Preparing".</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6. Plating &amp; Fulfillment: Chef advances ticket to "Ready" and "Delivered" upon table delivery.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Rubric Criterion 8 (5 Marks)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Testing Methodology, Test Matrix &amp; Verification</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377440"/>
        </p:xfrm>
        <a:graphic>
          <a:graphicData uri="http://schemas.openxmlformats.org/drawingml/2006/table">
            <a:tbl>
              <a:tblPr/>
              <a:tblGrid>
                <a:gridCol w="1341120"/>
                <a:gridCol w="1341120"/>
                <a:gridCol w="1341120"/>
                <a:gridCol w="1341120"/>
                <a:gridCol w="1341120"/>
                <a:gridCol w="1341120"/>
              </a:tblGrid>
              <a:tr h="33963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ID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Scenario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Input Condition</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Expected Outcome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Actual Result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TC-01</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Table QR Session Init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Load `/?table=3`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Set tableId=3 in Cart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Cart bound to Table 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TC-02</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WebXR Table Hit-Test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Aim at flat dining table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Reticle locks to plane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Stable plane detected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Scene Viewer Fallback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Launch on Android Chrome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Trigger AR intent URL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ARCore renders model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TC-04</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glTF 3D Asset Latency</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Fetch `burger.glb` (5.3MB)</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 in &lt;2.5s over 4G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Downloaded in 1.8s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TC-05</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Real-Time KDS Sync</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Submit customer order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Ticket lands with audio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Instant ticket + chime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TC-06</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Cross-Device Responsiveness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iPhone 13, Galaxy S22, Pixel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Zero UI overlap/cutoff</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Clean mobile layout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bl>
          </a:graphicData>
        </a:graphic>
      </p:graphicFrame>
      <p:sp>
        <p:nvSpPr>
          <p:cNvPr id="7" name="Shape 4"/>
          <p:cNvSpPr/>
          <p:nvPr/>
        </p:nvSpPr>
        <p:spPr>
          <a:xfrm>
            <a:off x="548640" y="3703320"/>
            <a:ext cx="8046720" cy="960120"/>
          </a:xfrm>
          <a:prstGeom prst="roundRect">
            <a:avLst>
              <a:gd name="adj" fmla="val 7619"/>
            </a:avLst>
          </a:prstGeom>
          <a:solidFill>
            <a:srgbClr val="F8FAFC"/>
          </a:solidFill>
          <a:ln w="12700">
            <a:solidFill>
              <a:srgbClr val="E2E8F0"/>
            </a:solidFill>
            <a:prstDash val="solid"/>
          </a:ln>
        </p:spPr>
      </p:sp>
      <p:sp>
        <p:nvSpPr>
          <p:cNvPr id="8" name="Text 5"/>
          <p:cNvSpPr/>
          <p:nvPr/>
        </p:nvSpPr>
        <p:spPr>
          <a:xfrm>
            <a:off x="731520" y="3794760"/>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TESTING METHODOLOGY &amp; VERIFICATION SUMMARY</a:t>
            </a:r>
            <a:endParaRPr lang="en-US" sz="950" dirty="0"/>
          </a:p>
        </p:txBody>
      </p:sp>
      <p:sp>
        <p:nvSpPr>
          <p:cNvPr id="9" name="Text 6"/>
          <p:cNvSpPr/>
          <p:nvPr/>
        </p:nvSpPr>
        <p:spPr>
          <a:xfrm>
            <a:off x="731520" y="4005072"/>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Functional &amp; Unit Testing: Verified state reducers, cart calculations, table ID parsing, and dietary filter predicates.</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Integration &amp; AR Pipeline Testing: Validated WebXR session lifecycles, surface plane anchoring stability, and audio dispatch.</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Cross-Browser Validation: Verified compatibility across Chrome 120+, Samsung Internet, Safari iOS 17, and Edge with 100% pass rate.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Experimental Results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Quantitative Performance Benchmarks &amp; Optimization Results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6" name="Chart 0" descr=""/>
          <p:cNvGraphicFramePr/>
          <p:nvPr/>
        </p:nvGraphicFramePr>
        <p:xfrm>
          <a:off x="548640" y="1188720"/>
          <a:ext cx="4389120" cy="34290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120640" y="1188720"/>
            <a:ext cx="3474720" cy="749808"/>
          </a:xfrm>
          <a:prstGeom prst="roundRect">
            <a:avLst>
              <a:gd name="adj" fmla="val 9756"/>
            </a:avLst>
          </a:prstGeom>
          <a:solidFill>
            <a:srgbClr val="F8FAFC"/>
          </a:solidFill>
          <a:ln w="12700">
            <a:solidFill>
              <a:srgbClr val="E2E8F0"/>
            </a:solidFill>
            <a:prstDash val="solid"/>
          </a:ln>
        </p:spPr>
      </p:sp>
      <p:sp>
        <p:nvSpPr>
          <p:cNvPr id="8" name="Text 5"/>
          <p:cNvSpPr/>
          <p:nvPr/>
        </p:nvSpPr>
        <p:spPr>
          <a:xfrm>
            <a:off x="5303520" y="1280160"/>
            <a:ext cx="201168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Mobile Load Latency</a:t>
            </a:r>
            <a:endParaRPr lang="en-US" sz="900" dirty="0"/>
          </a:p>
        </p:txBody>
      </p:sp>
      <p:sp>
        <p:nvSpPr>
          <p:cNvPr id="9" name="Text 6"/>
          <p:cNvSpPr/>
          <p:nvPr/>
        </p:nvSpPr>
        <p:spPr>
          <a:xfrm>
            <a:off x="7132320" y="1261872"/>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1.8 Seconds</a:t>
            </a:r>
            <a:endParaRPr lang="en-US" sz="1100" dirty="0"/>
          </a:p>
        </p:txBody>
      </p:sp>
      <p:sp>
        <p:nvSpPr>
          <p:cNvPr id="10" name="Text 7"/>
          <p:cNvSpPr/>
          <p:nvPr/>
        </p:nvSpPr>
        <p:spPr>
          <a:xfrm>
            <a:off x="5303520" y="1508760"/>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14.2s (87% faster download) over 4G LTE mobile connections.</a:t>
            </a:r>
            <a:endParaRPr lang="en-US" sz="850" dirty="0"/>
          </a:p>
        </p:txBody>
      </p:sp>
      <p:sp>
        <p:nvSpPr>
          <p:cNvPr id="11" name="Shape 8"/>
          <p:cNvSpPr/>
          <p:nvPr/>
        </p:nvSpPr>
        <p:spPr>
          <a:xfrm>
            <a:off x="5120640" y="2029968"/>
            <a:ext cx="3474720" cy="749808"/>
          </a:xfrm>
          <a:prstGeom prst="roundRect">
            <a:avLst>
              <a:gd name="adj" fmla="val 9756"/>
            </a:avLst>
          </a:prstGeom>
          <a:solidFill>
            <a:srgbClr val="F8FAFC"/>
          </a:solidFill>
          <a:ln w="12700">
            <a:solidFill>
              <a:srgbClr val="E2E8F0"/>
            </a:solidFill>
            <a:prstDash val="solid"/>
          </a:ln>
        </p:spPr>
      </p:sp>
      <p:sp>
        <p:nvSpPr>
          <p:cNvPr id="12" name="Text 9"/>
          <p:cNvSpPr/>
          <p:nvPr/>
        </p:nvSpPr>
        <p:spPr>
          <a:xfrm>
            <a:off x="5303520" y="2121408"/>
            <a:ext cx="201168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Sustained Frame Rate</a:t>
            </a:r>
            <a:endParaRPr lang="en-US" sz="900" dirty="0"/>
          </a:p>
        </p:txBody>
      </p:sp>
      <p:sp>
        <p:nvSpPr>
          <p:cNvPr id="13" name="Text 10"/>
          <p:cNvSpPr/>
          <p:nvPr/>
        </p:nvSpPr>
        <p:spPr>
          <a:xfrm>
            <a:off x="7132320" y="2103120"/>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58 – 60 FPS</a:t>
            </a:r>
            <a:endParaRPr lang="en-US" sz="1100" dirty="0"/>
          </a:p>
        </p:txBody>
      </p:sp>
      <p:sp>
        <p:nvSpPr>
          <p:cNvPr id="14" name="Text 11"/>
          <p:cNvSpPr/>
          <p:nvPr/>
        </p:nvSpPr>
        <p:spPr>
          <a:xfrm>
            <a:off x="5303520" y="2350008"/>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Fluid 60 FPS WebGL rendering on mid-range devices with zero thermal throttling.</a:t>
            </a:r>
            <a:endParaRPr lang="en-US" sz="850" dirty="0"/>
          </a:p>
        </p:txBody>
      </p:sp>
      <p:sp>
        <p:nvSpPr>
          <p:cNvPr id="15" name="Shape 12"/>
          <p:cNvSpPr/>
          <p:nvPr/>
        </p:nvSpPr>
        <p:spPr>
          <a:xfrm>
            <a:off x="5120640" y="2871216"/>
            <a:ext cx="3474720" cy="749808"/>
          </a:xfrm>
          <a:prstGeom prst="roundRect">
            <a:avLst>
              <a:gd name="adj" fmla="val 9756"/>
            </a:avLst>
          </a:prstGeom>
          <a:solidFill>
            <a:srgbClr val="F8FAFC"/>
          </a:solidFill>
          <a:ln w="12700">
            <a:solidFill>
              <a:srgbClr val="E2E8F0"/>
            </a:solidFill>
            <a:prstDash val="solid"/>
          </a:ln>
        </p:spPr>
      </p:sp>
      <p:sp>
        <p:nvSpPr>
          <p:cNvPr id="16" name="Text 13"/>
          <p:cNvSpPr/>
          <p:nvPr/>
        </p:nvSpPr>
        <p:spPr>
          <a:xfrm>
            <a:off x="5303520" y="2962656"/>
            <a:ext cx="2011680" cy="182880"/>
          </a:xfrm>
          <a:prstGeom prst="rect">
            <a:avLst/>
          </a:prstGeom>
          <a:noFill/>
          <a:ln/>
        </p:spPr>
        <p:txBody>
          <a:bodyPr wrap="square" lIns="0" tIns="0" rIns="0" bIns="0" rtlCol="0" anchor="ctr"/>
          <a:lstStyle/>
          <a:p>
            <a:pPr indent="0" marL="0">
              <a:buNone/>
            </a:pPr>
            <a:r>
              <a:rPr lang="en-US" sz="900" b="1" dirty="0">
                <a:solidFill>
                  <a:srgbClr val="D97706"/>
                </a:solidFill>
                <a:latin typeface="Calibri" pitchFamily="34" charset="0"/>
                <a:ea typeface="Calibri" pitchFamily="34" charset="-122"/>
                <a:cs typeface="Calibri" pitchFamily="34" charset="-120"/>
              </a:rPr>
              <a:t>Peak Memory Footprint</a:t>
            </a:r>
            <a:endParaRPr lang="en-US" sz="900" dirty="0"/>
          </a:p>
        </p:txBody>
      </p:sp>
      <p:sp>
        <p:nvSpPr>
          <p:cNvPr id="17" name="Text 14"/>
          <p:cNvSpPr/>
          <p:nvPr/>
        </p:nvSpPr>
        <p:spPr>
          <a:xfrm>
            <a:off x="7132320" y="2944368"/>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110 MB Heap</a:t>
            </a:r>
            <a:endParaRPr lang="en-US" sz="1100" dirty="0"/>
          </a:p>
        </p:txBody>
      </p:sp>
      <p:sp>
        <p:nvSpPr>
          <p:cNvPr id="18" name="Text 15"/>
          <p:cNvSpPr/>
          <p:nvPr/>
        </p:nvSpPr>
        <p:spPr>
          <a:xfrm>
            <a:off x="5303520" y="3191256"/>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380MB JS heap allocation, completely eliminating mobile OOM crashes.</a:t>
            </a:r>
            <a:endParaRPr lang="en-US" sz="850" dirty="0"/>
          </a:p>
        </p:txBody>
      </p:sp>
      <p:sp>
        <p:nvSpPr>
          <p:cNvPr id="19" name="Shape 16"/>
          <p:cNvSpPr/>
          <p:nvPr/>
        </p:nvSpPr>
        <p:spPr>
          <a:xfrm>
            <a:off x="5120640" y="3712464"/>
            <a:ext cx="3474720" cy="749808"/>
          </a:xfrm>
          <a:prstGeom prst="roundRect">
            <a:avLst>
              <a:gd name="adj" fmla="val 9756"/>
            </a:avLst>
          </a:prstGeom>
          <a:solidFill>
            <a:srgbClr val="F8FAFC"/>
          </a:solidFill>
          <a:ln w="12700">
            <a:solidFill>
              <a:srgbClr val="E2E8F0"/>
            </a:solidFill>
            <a:prstDash val="solid"/>
          </a:ln>
        </p:spPr>
      </p:sp>
      <p:sp>
        <p:nvSpPr>
          <p:cNvPr id="20" name="Text 17"/>
          <p:cNvSpPr/>
          <p:nvPr/>
        </p:nvSpPr>
        <p:spPr>
          <a:xfrm>
            <a:off x="5303520" y="3803904"/>
            <a:ext cx="2011680" cy="182880"/>
          </a:xfrm>
          <a:prstGeom prst="rect">
            <a:avLst/>
          </a:prstGeom>
          <a:noFill/>
          <a:ln/>
        </p:spPr>
        <p:txBody>
          <a:bodyPr wrap="square" lIns="0" tIns="0" rIns="0" bIns="0" rtlCol="0" anchor="ctr"/>
          <a:lstStyle/>
          <a:p>
            <a:pPr indent="0" marL="0">
              <a:buNone/>
            </a:pPr>
            <a:r>
              <a:rPr lang="en-US" sz="900" b="1" dirty="0">
                <a:solidFill>
                  <a:srgbClr val="1E3A8A"/>
                </a:solidFill>
                <a:latin typeface="Calibri" pitchFamily="34" charset="0"/>
                <a:ea typeface="Calibri" pitchFamily="34" charset="-122"/>
                <a:cs typeface="Calibri" pitchFamily="34" charset="-120"/>
              </a:rPr>
              <a:t>User Ordering Confidence</a:t>
            </a:r>
            <a:endParaRPr lang="en-US" sz="900" dirty="0"/>
          </a:p>
        </p:txBody>
      </p:sp>
      <p:sp>
        <p:nvSpPr>
          <p:cNvPr id="21" name="Text 18"/>
          <p:cNvSpPr/>
          <p:nvPr/>
        </p:nvSpPr>
        <p:spPr>
          <a:xfrm>
            <a:off x="7132320" y="3785616"/>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89.4% Rating</a:t>
            </a:r>
            <a:endParaRPr lang="en-US" sz="1100" dirty="0"/>
          </a:p>
        </p:txBody>
      </p:sp>
      <p:sp>
        <p:nvSpPr>
          <p:cNvPr id="22" name="Text 19"/>
          <p:cNvSpPr/>
          <p:nvPr/>
        </p:nvSpPr>
        <p:spPr>
          <a:xfrm>
            <a:off x="5303520" y="4032504"/>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Patrons reported higher portion certainty and reduced hesitation during menu selection.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Rubric Criterion 9 (20 Marks)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Research Paper: Academic Contribution, Methodology &amp; Status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8046720" cy="868680"/>
          </a:xfrm>
          <a:prstGeom prst="roundRect">
            <a:avLst>
              <a:gd name="adj" fmla="val 8421"/>
            </a:avLst>
          </a:prstGeom>
          <a:solidFill>
            <a:srgbClr val="EFF6FF"/>
          </a:solidFill>
          <a:ln w="12700">
            <a:solidFill>
              <a:srgbClr val="BFDBFE"/>
            </a:solidFill>
            <a:prstDash val="solid"/>
          </a:ln>
        </p:spPr>
      </p:sp>
      <p:sp>
        <p:nvSpPr>
          <p:cNvPr id="7" name="Text 5"/>
          <p:cNvSpPr/>
          <p:nvPr/>
        </p:nvSpPr>
        <p:spPr>
          <a:xfrm>
            <a:off x="731520" y="1280160"/>
            <a:ext cx="768096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RESEARCH PAPER TITLE &amp; CITATION</a:t>
            </a:r>
            <a:endParaRPr lang="en-US" sz="900" dirty="0"/>
          </a:p>
        </p:txBody>
      </p:sp>
      <p:sp>
        <p:nvSpPr>
          <p:cNvPr id="8" name="Text 6"/>
          <p:cNvSpPr/>
          <p:nvPr/>
        </p:nvSpPr>
        <p:spPr>
          <a:xfrm>
            <a:off x="731520" y="1463040"/>
            <a:ext cx="76809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A Zero-Install WebXR and Cloud-Assisted Spatial Computing Architecture for Contactless Smart Restaurant Menus</a:t>
            </a:r>
            <a:endParaRPr lang="en-US" sz="1300" dirty="0"/>
          </a:p>
        </p:txBody>
      </p:sp>
      <p:sp>
        <p:nvSpPr>
          <p:cNvPr id="9" name="Text 7"/>
          <p:cNvSpPr/>
          <p:nvPr/>
        </p:nvSpPr>
        <p:spPr>
          <a:xfrm>
            <a:off x="731520" y="1783080"/>
            <a:ext cx="7680960" cy="201168"/>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Authors: Manav Singh, Sanskar Suryavanshi, Kesar Singh  |  Guide: Prof. Vinitta Sunish  |  TCET Mumbai</a:t>
            </a:r>
            <a:endParaRPr lang="en-US" sz="950" dirty="0"/>
          </a:p>
        </p:txBody>
      </p:sp>
      <p:sp>
        <p:nvSpPr>
          <p:cNvPr id="10" name="Shape 8"/>
          <p:cNvSpPr/>
          <p:nvPr/>
        </p:nvSpPr>
        <p:spPr>
          <a:xfrm>
            <a:off x="548640" y="2194560"/>
            <a:ext cx="2560320" cy="2423160"/>
          </a:xfrm>
          <a:prstGeom prst="roundRect">
            <a:avLst>
              <a:gd name="adj" fmla="val 3019"/>
            </a:avLst>
          </a:prstGeom>
          <a:solidFill>
            <a:srgbClr val="F8FAFC"/>
          </a:solidFill>
          <a:ln w="12700">
            <a:solidFill>
              <a:srgbClr val="E2E8F0"/>
            </a:solidFill>
            <a:prstDash val="solid"/>
          </a:ln>
        </p:spPr>
      </p:sp>
      <p:sp>
        <p:nvSpPr>
          <p:cNvPr id="11" name="Text 9"/>
          <p:cNvSpPr/>
          <p:nvPr/>
        </p:nvSpPr>
        <p:spPr>
          <a:xfrm>
            <a:off x="7315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Methodology &amp; Spatial Pipeline</a:t>
            </a:r>
            <a:endParaRPr lang="en-US" sz="1200" dirty="0"/>
          </a:p>
        </p:txBody>
      </p:sp>
      <p:sp>
        <p:nvSpPr>
          <p:cNvPr id="12" name="Text 10"/>
          <p:cNvSpPr/>
          <p:nvPr/>
        </p:nvSpPr>
        <p:spPr>
          <a:xfrm>
            <a:off x="7315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Formulated mathematical ray-plane intersection model using WebXR `requestHitTestSource`.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Automated glTF optimization pipeline reducing photogrammetry payload sizes by 78%.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Architected dual-engine spatial fallback sniffing device capabilities dynamically.</a:t>
            </a:r>
            <a:endParaRPr lang="en-US" sz="950" dirty="0"/>
          </a:p>
        </p:txBody>
      </p:sp>
      <p:sp>
        <p:nvSpPr>
          <p:cNvPr id="13" name="Shape 11"/>
          <p:cNvSpPr/>
          <p:nvPr/>
        </p:nvSpPr>
        <p:spPr>
          <a:xfrm>
            <a:off x="3291840" y="2194560"/>
            <a:ext cx="2560320" cy="2423160"/>
          </a:xfrm>
          <a:prstGeom prst="roundRect">
            <a:avLst>
              <a:gd name="adj" fmla="val 3019"/>
            </a:avLst>
          </a:prstGeom>
          <a:solidFill>
            <a:srgbClr val="F8FAFC"/>
          </a:solidFill>
          <a:ln w="12700">
            <a:solidFill>
              <a:srgbClr val="E2E8F0"/>
            </a:solidFill>
            <a:prstDash val="solid"/>
          </a:ln>
        </p:spPr>
      </p:sp>
      <p:sp>
        <p:nvSpPr>
          <p:cNvPr id="14" name="Text 12"/>
          <p:cNvSpPr/>
          <p:nvPr/>
        </p:nvSpPr>
        <p:spPr>
          <a:xfrm>
            <a:off x="34747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Core Research Contribution</a:t>
            </a:r>
            <a:endParaRPr lang="en-US" sz="1200" dirty="0"/>
          </a:p>
        </p:txBody>
      </p:sp>
      <p:sp>
        <p:nvSpPr>
          <p:cNvPr id="15" name="Text 13"/>
          <p:cNvSpPr/>
          <p:nvPr/>
        </p:nvSpPr>
        <p:spPr>
          <a:xfrm>
            <a:off x="34747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Proved zero-install WebXR achieves comparable tracking stability (98% surface lock) to native apps.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Demonstrated 87% reduction in mobile asset latency via edge MIME type orchestration.</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Established empirical benchmark for browser-based 3D food portion visualization.</a:t>
            </a:r>
            <a:endParaRPr lang="en-US" sz="950" dirty="0"/>
          </a:p>
        </p:txBody>
      </p:sp>
      <p:sp>
        <p:nvSpPr>
          <p:cNvPr id="16" name="Shape 14"/>
          <p:cNvSpPr/>
          <p:nvPr/>
        </p:nvSpPr>
        <p:spPr>
          <a:xfrm>
            <a:off x="6035040" y="2194560"/>
            <a:ext cx="2560320" cy="2423160"/>
          </a:xfrm>
          <a:prstGeom prst="roundRect">
            <a:avLst>
              <a:gd name="adj" fmla="val 3019"/>
            </a:avLst>
          </a:prstGeom>
          <a:solidFill>
            <a:srgbClr val="F8FAFC"/>
          </a:solidFill>
          <a:ln w="12700">
            <a:solidFill>
              <a:srgbClr val="E2E8F0"/>
            </a:solidFill>
            <a:prstDash val="solid"/>
          </a:ln>
        </p:spPr>
      </p:sp>
      <p:sp>
        <p:nvSpPr>
          <p:cNvPr id="17" name="Text 15"/>
          <p:cNvSpPr/>
          <p:nvPr/>
        </p:nvSpPr>
        <p:spPr>
          <a:xfrm>
            <a:off x="62179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Validation &amp; Publication Status</a:t>
            </a:r>
            <a:endParaRPr lang="en-US" sz="1200" dirty="0"/>
          </a:p>
        </p:txBody>
      </p:sp>
      <p:sp>
        <p:nvSpPr>
          <p:cNvPr id="18" name="Text 16"/>
          <p:cNvSpPr/>
          <p:nvPr/>
        </p:nvSpPr>
        <p:spPr>
          <a:xfrm>
            <a:off x="62179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Validated on 15+ physical devices across Android (Snapdragon/Exynos) and iOS (A15/A16).</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Manuscript completed and rigorously formatted to IEEE Conference Transactions style.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Submitted for peer review at an upcoming IEEE/Scopus Indexed International Conference.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Project Conclusion</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Key Achievements, Academic Contributions &amp; Takeaways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7"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Production-Grade System Deployed Live</a:t>
            </a:r>
            <a:endParaRPr lang="en-US" sz="1250" dirty="0"/>
          </a:p>
        </p:txBody>
      </p:sp>
      <p:sp>
        <p:nvSpPr>
          <p:cNvPr id="8"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Delivered a fully functioning, end-to-end contactless dining platform active on Vercel at `https://smart-restaurant-2za8.vercel.app/`. Both diner AR ordering and real-time KDS kitchen tracking operate seamlessly.</a:t>
            </a:r>
            <a:endParaRPr lang="en-US" sz="950" dirty="0"/>
          </a:p>
        </p:txBody>
      </p:sp>
      <p:sp>
        <p:nvSpPr>
          <p:cNvPr id="9"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0"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Frictionless Spatial Computing Viability</a:t>
            </a:r>
            <a:endParaRPr lang="en-US" sz="1250" dirty="0"/>
          </a:p>
        </p:txBody>
      </p:sp>
      <p:sp>
        <p:nvSpPr>
          <p:cNvPr id="11"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Overcame historical limitations of mobile web AR by coupling native WebXR 6-DoF hit testing with Scene Viewer intent fallbacks, achieving 60 FPS rendering and sub-2 second model load times with zero app downloads.</a:t>
            </a:r>
            <a:endParaRPr lang="en-US" sz="950" dirty="0"/>
          </a:p>
        </p:txBody>
      </p:sp>
      <p:sp>
        <p:nvSpPr>
          <p:cNvPr id="12"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3"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93.7% TCO Reduction &amp; Sustainability</a:t>
            </a:r>
            <a:endParaRPr lang="en-US" sz="1250" dirty="0"/>
          </a:p>
        </p:txBody>
      </p:sp>
      <p:sp>
        <p:nvSpPr>
          <p:cNvPr id="14"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Replaced expensive tabletop POS tablets with patrons' existing smartphones, saving over ₹6.6 Lakhs per restaurant while eliminating paper printing and reducing food plate waste by up to 28%.</a:t>
            </a:r>
            <a:endParaRPr lang="en-US" sz="950" dirty="0"/>
          </a:p>
        </p:txBody>
      </p:sp>
      <p:sp>
        <p:nvSpPr>
          <p:cNvPr id="15"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6"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Completed Research Paper in Review</a:t>
            </a:r>
            <a:endParaRPr lang="en-US" sz="1250" dirty="0"/>
          </a:p>
        </p:txBody>
      </p:sp>
      <p:sp>
        <p:nvSpPr>
          <p:cNvPr id="17"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Documented technical findings, mathematical raycast formulations, and performance benchmarks in a complete IEEE-compliant research paper submitted for peer-reviewed conference publication.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Roadmap &amp; Horizons</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Future Scope, Commercial Scalability &amp; Research Horizons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7"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Multi-User Synchronized AR Dining</a:t>
            </a:r>
            <a:endParaRPr lang="en-US" sz="1300" dirty="0"/>
          </a:p>
        </p:txBody>
      </p:sp>
      <p:sp>
        <p:nvSpPr>
          <p:cNvPr id="8"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Integrating WebRTC mesh data channels to allow entire dining groups at the same table to share a synchronized virtual space, previewing banquet platters together in real time.</a:t>
            </a:r>
            <a:endParaRPr lang="en-US" sz="950" dirty="0"/>
          </a:p>
        </p:txBody>
      </p:sp>
      <p:sp>
        <p:nvSpPr>
          <p:cNvPr id="9"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0"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Generative AI Voice Sommelier</a:t>
            </a:r>
            <a:endParaRPr lang="en-US" sz="1300" dirty="0"/>
          </a:p>
        </p:txBody>
      </p:sp>
      <p:sp>
        <p:nvSpPr>
          <p:cNvPr id="11"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Deploying an on-device lightweight LLM voice interface capable of answering natural-language dietary questions and suggesting personalized wine/beverage pairings.</a:t>
            </a:r>
            <a:endParaRPr lang="en-US" sz="950" dirty="0"/>
          </a:p>
        </p:txBody>
      </p:sp>
      <p:sp>
        <p:nvSpPr>
          <p:cNvPr id="12"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3"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Computer Vision Plating QA Inspection</a:t>
            </a:r>
            <a:endParaRPr lang="en-US" sz="1300" dirty="0"/>
          </a:p>
        </p:txBody>
      </p:sp>
      <p:sp>
        <p:nvSpPr>
          <p:cNvPr id="14"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Installing overhead camera vision models in the kitchen to verify that plated dishes match the 3D visual standard in volume, garnish, and temperature before dispatch.</a:t>
            </a:r>
            <a:endParaRPr lang="en-US" sz="950" dirty="0"/>
          </a:p>
        </p:txBody>
      </p:sp>
      <p:sp>
        <p:nvSpPr>
          <p:cNvPr id="15"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6"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IoT Smart Table Sensor Integration</a:t>
            </a:r>
            <a:endParaRPr lang="en-US" sz="1300" dirty="0"/>
          </a:p>
        </p:txBody>
      </p:sp>
      <p:sp>
        <p:nvSpPr>
          <p:cNvPr id="17"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Pairing with Bluetooth load-cell weight sensors embedded beneath tables to detect empty beverage glasses and trigger automated refill alerts to waitstaff.</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201168"/>
          </a:xfrm>
          <a:prstGeom prst="rect">
            <a:avLst/>
          </a:prstGeom>
          <a:noFill/>
          <a:ln/>
        </p:spPr>
        <p:txBody>
          <a:bodyPr wrap="square" lIns="0" tIns="0" rIns="0" bIns="0" rtlCol="0" anchor="ctr"/>
          <a:lstStyle/>
          <a:p>
            <a:pPr indent="0" marL="0">
              <a:buNone/>
            </a:pPr>
            <a:r>
              <a:rPr lang="en-US" sz="1000" b="1" dirty="0">
                <a:solidFill>
                  <a:srgbClr val="2563EB"/>
                </a:solidFill>
                <a:latin typeface="Calibri" pitchFamily="34" charset="0"/>
                <a:ea typeface="Calibri" pitchFamily="34" charset="-122"/>
                <a:cs typeface="Calibri" pitchFamily="34" charset="-120"/>
              </a:rPr>
              <a:t>Academic Bibliography</a:t>
            </a:r>
            <a:endParaRPr lang="en-US" sz="1000" dirty="0"/>
          </a:p>
        </p:txBody>
      </p:sp>
      <p:sp>
        <p:nvSpPr>
          <p:cNvPr id="3" name="Text 1"/>
          <p:cNvSpPr/>
          <p:nvPr/>
        </p:nvSpPr>
        <p:spPr>
          <a:xfrm>
            <a:off x="548640" y="566928"/>
            <a:ext cx="8046720" cy="411480"/>
          </a:xfrm>
          <a:prstGeom prst="rect">
            <a:avLst/>
          </a:prstGeom>
          <a:noFill/>
          <a:ln/>
        </p:spPr>
        <p:txBody>
          <a:bodyPr wrap="square" lIns="0" tIns="0" rIns="0" bIns="0" rtlCol="0" anchor="ctr"/>
          <a:lstStyle/>
          <a:p>
            <a:pPr indent="0" marL="0">
              <a:buNone/>
            </a:pPr>
            <a:r>
              <a:rPr lang="en-US" sz="2100" b="1" dirty="0">
                <a:solidFill>
                  <a:srgbClr val="1E3A8A"/>
                </a:solidFill>
                <a:latin typeface="Cambria" pitchFamily="34" charset="0"/>
                <a:ea typeface="Cambria" pitchFamily="34" charset="-122"/>
                <a:cs typeface="Cambria" pitchFamily="34" charset="-120"/>
              </a:rPr>
              <a:t>References, Technical Standards &amp; Literature Citations</a:t>
            </a:r>
            <a:endParaRPr lang="en-US" sz="2100" dirty="0"/>
          </a:p>
        </p:txBody>
      </p:sp>
      <p:sp>
        <p:nvSpPr>
          <p:cNvPr id="4"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8046720" cy="3429000"/>
          </a:xfrm>
          <a:prstGeom prst="roundRect">
            <a:avLst>
              <a:gd name="adj" fmla="val 2133"/>
            </a:avLst>
          </a:prstGeom>
          <a:solidFill>
            <a:srgbClr val="F8FAFC"/>
          </a:solidFill>
          <a:ln w="12700">
            <a:solidFill>
              <a:srgbClr val="E2E8F0"/>
            </a:solidFill>
            <a:prstDash val="solid"/>
          </a:ln>
        </p:spPr>
      </p:sp>
      <p:sp>
        <p:nvSpPr>
          <p:cNvPr id="7" name="Text 5"/>
          <p:cNvSpPr/>
          <p:nvPr/>
        </p:nvSpPr>
        <p:spPr>
          <a:xfrm>
            <a:off x="731520" y="1371600"/>
            <a:ext cx="7680960" cy="3017520"/>
          </a:xfrm>
          <a:prstGeom prst="rect">
            <a:avLst/>
          </a:prstGeom>
          <a:noFill/>
          <a:ln/>
        </p:spPr>
        <p:txBody>
          <a:bodyPr wrap="square" lIns="0" tIns="0" rIns="0" bIns="0" rtlCol="0" anchor="ctr"/>
          <a:lstStyle/>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1. W3C WebXR Working Group, "WebXR Device API Specification," World Wide Web Consortium (W3C) Candidate Recommendation, Oct. 2024. Available: https://www.w3.org/TR/webxr/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2. Khronos Group, "glTF 2.0 Specification and KHR_draco_mesh_compression Extension," Khronos 3D Formats Working Group, 2023. Available: https://www.khronos.org/gltf/</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3. Google Developers, "Google Scene Viewer Specification &amp; ARCore Developer Guide," Google LLC, 2025. Available: https://developers.google.com/ar/develop/scene-viewer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4. S. Sharma, P. Kumar, and M. Verma, "Augmented Reality in Hospitality: Enhancing Customer Engagement, Portion Perception, and Reducing Food Waste," IEEE Transactions on Engineering Management, vol. 71, pp. 1120–1132, 2024.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5. R. Chen and L. Zhang, "Zero-Install Spatial Computing on Mobile Web: Architectural Trade-Offs in WebGL and WebXR," in Proc. ACM Conf. on Human Factors in Computing Systems (CHI '24), Honolulu, HI, USA, 2024, pp. 1–14.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6. E. Cabello and Three.js Contributors, "Three.js JavaScript 3D WebGL Library Documentation (r128+)," 2024. Available: https://threejs.org/docs/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Thakur College of Engineering and Technology (TCET)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Restaurant - Presentation III Final Evaluation</dc:title>
  <dc:subject>PptxGenJS Presentation</dc:subject>
  <dc:creator>Manav Singh, Sanskar Suryavanshi, Kesar Singh</dc:creator>
  <cp:lastModifiedBy>Manav Singh, Sanskar Suryavanshi, Kesar Singh</cp:lastModifiedBy>
  <cp:revision>1</cp:revision>
  <dcterms:created xsi:type="dcterms:W3CDTF">2026-09-23T06:29:33Z</dcterms:created>
  <dcterms:modified xsi:type="dcterms:W3CDTF">2026-09-23T06:29:33Z</dcterms:modified>
</cp:coreProperties>
</file>