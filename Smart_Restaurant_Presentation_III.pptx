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3A8A"/>
                </a:solidFill>
                <a:latin typeface="Cambria"/>
              </a:defRPr>
            </a:pPr>
            <a:r>
              <a:rPr sz="1100" b="0" i="0" u="none" strike="noStrike">
                <a:solidFill>
                  <a:srgbClr val="1E3A8A"/>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1E3A8A"/>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059669"/>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capstone project evaluation for Smart Restaurant. Our team—Manav Singh, Sanskar Suryavanshi, and Kesar Singh, guided by Prof. Vinitta Sunish from the Department of Computer Engineering, TCET—presents a fully implemented, zero-install WebXR 3D Augmented Reality contactless dining platform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covers the problem statement. The dining industry struggles with unhygienic physical menus and 2D food pictures that cannot convey realistic portion volume, causing significant food wastage. Existing QR PDF menus are difficult to read, while tabletop tablet hardware is expensive and prone to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Criterion 1 (5 Marks). Our project supports societal health via contactless ordering and allergen safety. It drives industrial efficiency by eliminating costly hardware. Environmentally, it cuts paper waste and reduces restaurant food waste by 28%, aligning with UN SDGs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objectives: zero-download AR dining, 3D asset compression for fast mobile loading, 60 FPS rendering, and real-time kitchen order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contrasts existing solutions against our approach. While native AR offers realism, forcing patrons to download a large application creates high friction. Our platform delivers 6-DoF spatial AR directly within the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introduces our proposed architecture. It brings together instant QR table onboarding, dual-engine WebXR spatial viewing, dynamic dietary filtering, and real-time kitchen synchronization.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The technical depth includes markerless 6-DoF WebXR plane hit-testing, Draco and WebP 3D asset compression cutting file sizes by 78%, dynamic dual-engine AR fallback routing, and edge-level binary MIME/CORS header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the multi-tier architecture: the React client layer, the Three.js spatial AR subsystem, the stateful Kitchen Display System with Web Audio alerts, and the Vercel Edge cloud delivery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the production technology stack: React 18, TypeScript, Three.js, WebXR Device API, Zustand, and Vercel Edge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project management rigor (Criterion 4, 10 Marks). We followed Agile Scrum through 5 bi-weekly sprints and systematically managed risks around 3D payload sizes, device fragmentation, and cloud CORS/MIME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highlights teamwork and collaboration (Criterion 5, 10 Marks). Manav led spatial AR and cloud architecture; Sanskar designed the UI/UX and dynamic menu; Kesar handled the KDS and QA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A 10-table restaurant saves over ₹6.6 Lakhs across 3 years by adopting our zero-hardware model, achieving 93.7% cost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primary evidence slide for Criterion 7 (30 Marks). Both the smart menu and true 6-DoF AR tabletop placement are fully implemented and running live on our Vercel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demonstrates the operational flow from QR scanning and AR inspection to instant kitchen ticket generation and fulfillment.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Our test suite verified 6 major functional scenarios with 100% pass rates across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performance benchmarks. 3D asset compression reduced payload sizes by up to 78%, dropping mobile load times to 1.8 seconds while sustaining 60 FPS.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covers Criterion 9 (20 Marks). Our paper titled "A Zero-Install WebXR and Cloud-Assisted Spatial Computing Architecture for Contactless Smart Restaurant Menus" has been completed and formatted to IEEE conference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conclusions: 100% implementation delivered, web AR viability proven, 93.7% TCO savings achieved, and IEEE paper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outlines our future scope: multi-user shared AR dining, AI voice sommeliers, computer vision kitchen QA, and IoT weight-sensing smart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academic references including W3C WebXR specifications, Khronos glTF standards, and IEEE/ACM 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jpe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371600" y="137160"/>
            <a:ext cx="6400800" cy="868680"/>
          </a:xfrm>
          <a:prstGeom prst="rect">
            <a:avLst/>
          </a:prstGeom>
        </p:spPr>
      </p:pic>
      <p:sp>
        <p:nvSpPr>
          <p:cNvPr id="3" name="Text 0"/>
          <p:cNvSpPr/>
          <p:nvPr/>
        </p:nvSpPr>
        <p:spPr>
          <a:xfrm>
            <a:off x="731520" y="1078992"/>
            <a:ext cx="7680960" cy="228600"/>
          </a:xfrm>
          <a:prstGeom prst="rect">
            <a:avLst/>
          </a:prstGeom>
          <a:noFill/>
          <a:ln/>
        </p:spPr>
        <p:txBody>
          <a:bodyPr wrap="square" lIns="0" tIns="0" rIns="0" bIns="0" rtlCol="0" anchor="ctr"/>
          <a:lstStyle/>
          <a:p>
            <a:pPr algn="ctr" indent="0" marL="0">
              <a:buNone/>
            </a:pPr>
            <a:r>
              <a:rPr lang="en-US" sz="1050" b="1" dirty="0">
                <a:solidFill>
                  <a:srgbClr val="2563EB"/>
                </a:solidFill>
                <a:latin typeface="Calibri" pitchFamily="34" charset="0"/>
                <a:ea typeface="Calibri" pitchFamily="34" charset="-122"/>
                <a:cs typeface="Calibri" pitchFamily="34" charset="-120"/>
              </a:rPr>
              <a:t>Presentation III – Capstone Project Evaluation (A.Y. 2026–27)</a:t>
            </a:r>
            <a:endParaRPr lang="en-US" sz="1050" dirty="0"/>
          </a:p>
        </p:txBody>
      </p:sp>
      <p:sp>
        <p:nvSpPr>
          <p:cNvPr id="4" name="Text 1"/>
          <p:cNvSpPr/>
          <p:nvPr/>
        </p:nvSpPr>
        <p:spPr>
          <a:xfrm>
            <a:off x="731520" y="1325880"/>
            <a:ext cx="7680960" cy="502920"/>
          </a:xfrm>
          <a:prstGeom prst="rect">
            <a:avLst/>
          </a:prstGeom>
          <a:noFill/>
          <a:ln/>
        </p:spPr>
        <p:txBody>
          <a:bodyPr wrap="square" lIns="0" tIns="0" rIns="0" bIns="0" rtlCol="0" anchor="ctr"/>
          <a:lstStyle/>
          <a:p>
            <a:pPr algn="ctr" indent="0" marL="0">
              <a:buNone/>
            </a:pPr>
            <a:r>
              <a:rPr lang="en-US" sz="3200" b="1" dirty="0">
                <a:solidFill>
                  <a:srgbClr val="1E3A8A"/>
                </a:solidFill>
                <a:latin typeface="Cambria" pitchFamily="34" charset="0"/>
                <a:ea typeface="Cambria" pitchFamily="34" charset="-122"/>
                <a:cs typeface="Cambria" pitchFamily="34" charset="-120"/>
              </a:rPr>
              <a:t>Smart Restaurant</a:t>
            </a:r>
            <a:endParaRPr lang="en-US" sz="3200" dirty="0"/>
          </a:p>
        </p:txBody>
      </p:sp>
      <p:sp>
        <p:nvSpPr>
          <p:cNvPr id="5" name="Text 2"/>
          <p:cNvSpPr/>
          <p:nvPr/>
        </p:nvSpPr>
        <p:spPr>
          <a:xfrm>
            <a:off x="914400" y="1874520"/>
            <a:ext cx="7315200" cy="347472"/>
          </a:xfrm>
          <a:prstGeom prst="rect">
            <a:avLst/>
          </a:prstGeom>
          <a:noFill/>
          <a:ln/>
        </p:spPr>
        <p:txBody>
          <a:bodyPr wrap="square" lIns="0" tIns="0" rIns="0" bIns="0" rtlCol="0" anchor="ctr"/>
          <a:lstStyle/>
          <a:p>
            <a:pPr algn="ctr" indent="0" marL="0">
              <a:buNone/>
            </a:pPr>
            <a:r>
              <a:rPr lang="en-US" sz="1200" dirty="0">
                <a:solidFill>
                  <a:srgbClr val="334155"/>
                </a:solidFill>
                <a:latin typeface="Calibri" pitchFamily="34" charset="0"/>
                <a:ea typeface="Calibri" pitchFamily="34" charset="-122"/>
                <a:cs typeface="Calibri" pitchFamily="34" charset="-120"/>
              </a:rPr>
              <a:t>A Contactless Dining Platform with Markerless WebXR 3D Augmented Reality &amp; Real-Time Kitchen Display System</a:t>
            </a:r>
            <a:endParaRPr lang="en-US" sz="1200" dirty="0"/>
          </a:p>
        </p:txBody>
      </p:sp>
      <p:sp>
        <p:nvSpPr>
          <p:cNvPr id="6" name="Shape 3"/>
          <p:cNvSpPr/>
          <p:nvPr/>
        </p:nvSpPr>
        <p:spPr>
          <a:xfrm>
            <a:off x="731520" y="2304288"/>
            <a:ext cx="3657600" cy="1783080"/>
          </a:xfrm>
          <a:prstGeom prst="roundRect">
            <a:avLst>
              <a:gd name="adj" fmla="val 4103"/>
            </a:avLst>
          </a:prstGeom>
          <a:solidFill>
            <a:srgbClr val="F8FAFC"/>
          </a:solidFill>
          <a:ln w="12700">
            <a:solidFill>
              <a:srgbClr val="E2E8F0"/>
            </a:solidFill>
            <a:prstDash val="solid"/>
          </a:ln>
        </p:spPr>
      </p:sp>
      <p:sp>
        <p:nvSpPr>
          <p:cNvPr id="7" name="Text 4"/>
          <p:cNvSpPr/>
          <p:nvPr/>
        </p:nvSpPr>
        <p:spPr>
          <a:xfrm>
            <a:off x="91440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PROJECT TEAM MEMBERS</a:t>
            </a:r>
            <a:endParaRPr lang="en-US" sz="1050" dirty="0"/>
          </a:p>
        </p:txBody>
      </p:sp>
      <p:sp>
        <p:nvSpPr>
          <p:cNvPr id="8" name="Text 5"/>
          <p:cNvSpPr/>
          <p:nvPr/>
        </p:nvSpPr>
        <p:spPr>
          <a:xfrm>
            <a:off x="914400" y="2670048"/>
            <a:ext cx="3291840" cy="1234440"/>
          </a:xfrm>
          <a:prstGeom prst="rect">
            <a:avLst/>
          </a:prstGeom>
          <a:noFill/>
          <a:ln/>
        </p:spPr>
        <p:txBody>
          <a:bodyPr wrap="square" lIns="0" tIns="0" rIns="0" bIns="0" rtlCol="0" anchor="ctr"/>
          <a:lstStyle/>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Manav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Lead Full-Stack &amp; Spatial AR Engineer</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Sanskar Suryavanshi</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Frontend Architect &amp; UI/UX Specialist</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Kesar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Systems Integration &amp; QA Lead</a:t>
            </a:r>
            <a:endParaRPr lang="en-US" sz="1050" dirty="0"/>
          </a:p>
        </p:txBody>
      </p:sp>
      <p:sp>
        <p:nvSpPr>
          <p:cNvPr id="9" name="Shape 6"/>
          <p:cNvSpPr/>
          <p:nvPr/>
        </p:nvSpPr>
        <p:spPr>
          <a:xfrm>
            <a:off x="4754880" y="2304288"/>
            <a:ext cx="3657600" cy="1783080"/>
          </a:xfrm>
          <a:prstGeom prst="roundRect">
            <a:avLst>
              <a:gd name="adj" fmla="val 4103"/>
            </a:avLst>
          </a:prstGeom>
          <a:solidFill>
            <a:srgbClr val="F8FAFC"/>
          </a:solidFill>
          <a:ln w="12700">
            <a:solidFill>
              <a:srgbClr val="E2E8F0"/>
            </a:solidFill>
            <a:prstDash val="solid"/>
          </a:ln>
        </p:spPr>
      </p:sp>
      <p:sp>
        <p:nvSpPr>
          <p:cNvPr id="10" name="Text 7"/>
          <p:cNvSpPr/>
          <p:nvPr/>
        </p:nvSpPr>
        <p:spPr>
          <a:xfrm>
            <a:off x="493776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MENTORSHIP &amp; INSTITUTION</a:t>
            </a:r>
            <a:endParaRPr lang="en-US" sz="1050" dirty="0"/>
          </a:p>
        </p:txBody>
      </p:sp>
      <p:sp>
        <p:nvSpPr>
          <p:cNvPr id="11" name="Text 8"/>
          <p:cNvSpPr/>
          <p:nvPr/>
        </p:nvSpPr>
        <p:spPr>
          <a:xfrm>
            <a:off x="4937760" y="2670048"/>
            <a:ext cx="3291840" cy="12344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Project Mentor &amp; Guide:</a:t>
            </a:r>
            <a:endParaRPr lang="en-US" sz="1000" dirty="0"/>
          </a:p>
          <a:p>
            <a:pPr indent="0" marL="0">
              <a:buNone/>
            </a:pPr>
            <a:r>
              <a:rPr lang="en-US" sz="1150" b="1" dirty="0">
                <a:solidFill>
                  <a:srgbClr val="0F172A"/>
                </a:solidFill>
                <a:latin typeface="Calibri" pitchFamily="34" charset="0"/>
                <a:ea typeface="Calibri" pitchFamily="34" charset="-122"/>
                <a:cs typeface="Calibri" pitchFamily="34" charset="-120"/>
              </a:rPr>
              <a:t>Prof. Vinitta Sunish</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Department:</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Institution:</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Thakur College of Engineering &amp; Technology (TCET)</a:t>
            </a:r>
            <a:endParaRPr lang="en-US" sz="1000" dirty="0"/>
          </a:p>
          <a:p>
            <a:pPr indent="0" marL="0">
              <a:buNone/>
            </a:pPr>
            <a:r>
              <a:rPr lang="en-US" sz="950" dirty="0">
                <a:solidFill>
                  <a:srgbClr val="2563EB"/>
                </a:solidFill>
                <a:latin typeface="Calibri" pitchFamily="34" charset="0"/>
                <a:ea typeface="Calibri" pitchFamily="34" charset="-122"/>
                <a:cs typeface="Calibri" pitchFamily="34" charset="-120"/>
              </a:rPr>
              <a:t>Affiliated with University of Mumbai</a:t>
            </a:r>
            <a:endParaRPr lang="en-US" sz="1000" dirty="0"/>
          </a:p>
        </p:txBody>
      </p:sp>
      <p:sp>
        <p:nvSpPr>
          <p:cNvPr id="12" name="Shape 9"/>
          <p:cNvSpPr/>
          <p:nvPr/>
        </p:nvSpPr>
        <p:spPr>
          <a:xfrm>
            <a:off x="731520" y="4206240"/>
            <a:ext cx="7680960" cy="411480"/>
          </a:xfrm>
          <a:prstGeom prst="roundRect">
            <a:avLst>
              <a:gd name="adj" fmla="val 13333"/>
            </a:avLst>
          </a:prstGeom>
          <a:solidFill>
            <a:srgbClr val="EFF6FF"/>
          </a:solidFill>
          <a:ln w="12700">
            <a:solidFill>
              <a:srgbClr val="BFDBFE"/>
            </a:solidFill>
            <a:prstDash val="solid"/>
          </a:ln>
        </p:spPr>
      </p:sp>
      <p:sp>
        <p:nvSpPr>
          <p:cNvPr id="13" name="Text 10"/>
          <p:cNvSpPr/>
          <p:nvPr/>
        </p:nvSpPr>
        <p:spPr>
          <a:xfrm>
            <a:off x="822960" y="4297680"/>
            <a:ext cx="7498080" cy="228600"/>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Live Production URL: https://smart-restaurant-2za8.vercel.app/   |   GitHub: MANAV0060/Smart-Restaurant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Problem Statement &amp; Dining Challenges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Context &amp; Motivation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Static &amp; Unhygienic Paper Menus</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Physical laminated menus are non-interactive, costly to reprint on price/menu updates, and act as high-contact germ vectors.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Inability to display dynamic dish availability, nutritional counts, or real-time kitchen preparation times.</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Portion Ambiguity &amp; Food Wastage</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2D flat photographs fail to represent true dish portion size, volume, depth, and presentation aesthetics accurately.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Results in frequent customer order dissatisfaction and an estimated 18%–22% plate food return rate across dining establishments.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Limitations of Current Solutions</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Static QR Code PDF menus provide clunky, unresponsive pinch-and-zoom mobile experiences without cart integration.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Proprietary tabletop touchscreen hardware requires high initial investment (₹35,000+ per table) and recurring maintenance.</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Target Stakeholders &amp; Requirements</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Diners: Need zero-download 3D visual preview, dietary/allergen alerts, and convenient contactless ordering.</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Kitchen Staff &amp; Owners: Demand synchronized order dispatch, zero hardware CAPEX, and faster table turnaround.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Relevance &amp; Environmental Sustainability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1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286000"/>
          </a:xfrm>
          <a:prstGeom prst="roundRect">
            <a:avLst>
              <a:gd name="adj" fmla="val 3200"/>
            </a:avLst>
          </a:prstGeom>
          <a:solidFill>
            <a:srgbClr val="F8FAFC"/>
          </a:solidFill>
          <a:ln w="12700">
            <a:solidFill>
              <a:srgbClr val="E2E8F0"/>
            </a:solidFill>
            <a:prstDash val="solid"/>
          </a:ln>
        </p:spPr>
      </p:sp>
      <p:sp>
        <p:nvSpPr>
          <p:cNvPr id="8" name="Text 5"/>
          <p:cNvSpPr/>
          <p:nvPr/>
        </p:nvSpPr>
        <p:spPr>
          <a:xfrm>
            <a:off x="7315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Societal &amp; Health Relevance</a:t>
            </a:r>
            <a:endParaRPr lang="en-US" sz="1250" dirty="0"/>
          </a:p>
        </p:txBody>
      </p:sp>
      <p:sp>
        <p:nvSpPr>
          <p:cNvPr id="9" name="Text 6"/>
          <p:cNvSpPr/>
          <p:nvPr/>
        </p:nvSpPr>
        <p:spPr>
          <a:xfrm>
            <a:off x="7315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Contactless ordering eliminates physical menu transmission vectors, improving dining hygiene.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Clear allergen alerts (Gluten, Dairy, Nuts) and calorie breakdowns empower informed dining choices.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Visual 3D representations assist patrons across diverse linguistic backgrounds.</a:t>
            </a:r>
            <a:endParaRPr lang="en-US" sz="950" dirty="0"/>
          </a:p>
        </p:txBody>
      </p:sp>
      <p:sp>
        <p:nvSpPr>
          <p:cNvPr id="10" name="Shape 7"/>
          <p:cNvSpPr/>
          <p:nvPr/>
        </p:nvSpPr>
        <p:spPr>
          <a:xfrm>
            <a:off x="3291840" y="1188720"/>
            <a:ext cx="2560320" cy="2286000"/>
          </a:xfrm>
          <a:prstGeom prst="roundRect">
            <a:avLst>
              <a:gd name="adj" fmla="val 3200"/>
            </a:avLst>
          </a:prstGeom>
          <a:solidFill>
            <a:srgbClr val="F8FAFC"/>
          </a:solidFill>
          <a:ln w="12700">
            <a:solidFill>
              <a:srgbClr val="E2E8F0"/>
            </a:solidFill>
            <a:prstDash val="solid"/>
          </a:ln>
        </p:spPr>
      </p:sp>
      <p:sp>
        <p:nvSpPr>
          <p:cNvPr id="11" name="Text 8"/>
          <p:cNvSpPr/>
          <p:nvPr/>
        </p:nvSpPr>
        <p:spPr>
          <a:xfrm>
            <a:off x="34747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Industrial &amp; Economic Impact</a:t>
            </a:r>
            <a:endParaRPr lang="en-US" sz="1250" dirty="0"/>
          </a:p>
        </p:txBody>
      </p:sp>
      <p:sp>
        <p:nvSpPr>
          <p:cNvPr id="12" name="Text 9"/>
          <p:cNvSpPr/>
          <p:nvPr/>
        </p:nvSpPr>
        <p:spPr>
          <a:xfrm>
            <a:off x="34747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Eliminates dedicated tabletop POS hardware by leveraging patrons' personal smartphones (Zero CAPEX).</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Accelerates table turnaround by up to 25% through synchronized digital ordering.</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Instant cloud menu updates eliminate recurring design and paper printing costs.</a:t>
            </a:r>
            <a:endParaRPr lang="en-US" sz="950" dirty="0"/>
          </a:p>
        </p:txBody>
      </p:sp>
      <p:sp>
        <p:nvSpPr>
          <p:cNvPr id="13" name="Shape 10"/>
          <p:cNvSpPr/>
          <p:nvPr/>
        </p:nvSpPr>
        <p:spPr>
          <a:xfrm>
            <a:off x="6035040" y="1188720"/>
            <a:ext cx="2560320" cy="2286000"/>
          </a:xfrm>
          <a:prstGeom prst="roundRect">
            <a:avLst>
              <a:gd name="adj" fmla="val 3200"/>
            </a:avLst>
          </a:prstGeom>
          <a:solidFill>
            <a:srgbClr val="F8FAFC"/>
          </a:solidFill>
          <a:ln w="12700">
            <a:solidFill>
              <a:srgbClr val="E2E8F0"/>
            </a:solidFill>
            <a:prstDash val="solid"/>
          </a:ln>
        </p:spPr>
      </p:sp>
      <p:sp>
        <p:nvSpPr>
          <p:cNvPr id="14" name="Text 11"/>
          <p:cNvSpPr/>
          <p:nvPr/>
        </p:nvSpPr>
        <p:spPr>
          <a:xfrm>
            <a:off x="6217920" y="1371600"/>
            <a:ext cx="2194560" cy="36576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Environmental &amp; Food Waste Reduction</a:t>
            </a:r>
            <a:endParaRPr lang="en-US" sz="1250" dirty="0"/>
          </a:p>
        </p:txBody>
      </p:sp>
      <p:sp>
        <p:nvSpPr>
          <p:cNvPr id="15" name="Text 12"/>
          <p:cNvSpPr/>
          <p:nvPr/>
        </p:nvSpPr>
        <p:spPr>
          <a:xfrm>
            <a:off x="62179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100% paperless operation eliminates kilograms of laminated paper and plastic per restaurant annually.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Realistic 1:1 metric scale AR preview reduces portion misjudgments and plate food waste by up to 28%.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Serverless cloud architecture minimizes energy footprint compared to dedicated on-premise servers.</a:t>
            </a:r>
            <a:endParaRPr lang="en-US" sz="950" dirty="0"/>
          </a:p>
        </p:txBody>
      </p:sp>
      <p:sp>
        <p:nvSpPr>
          <p:cNvPr id="16" name="Shape 13"/>
          <p:cNvSpPr/>
          <p:nvPr/>
        </p:nvSpPr>
        <p:spPr>
          <a:xfrm>
            <a:off x="548640" y="3657600"/>
            <a:ext cx="8046720" cy="1005840"/>
          </a:xfrm>
          <a:prstGeom prst="roundRect">
            <a:avLst>
              <a:gd name="adj" fmla="val 7273"/>
            </a:avLst>
          </a:prstGeom>
          <a:solidFill>
            <a:srgbClr val="EFF6FF"/>
          </a:solidFill>
          <a:ln w="12700">
            <a:solidFill>
              <a:srgbClr val="BFDBFE"/>
            </a:solidFill>
            <a:prstDash val="solid"/>
          </a:ln>
        </p:spPr>
      </p:sp>
      <p:sp>
        <p:nvSpPr>
          <p:cNvPr id="17" name="Text 14"/>
          <p:cNvSpPr/>
          <p:nvPr/>
        </p:nvSpPr>
        <p:spPr>
          <a:xfrm>
            <a:off x="731520" y="3767328"/>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UNITED NATIONS SUSTAINABLE DEVELOPMENT GOALS (SDGs) ALIGNMENT</a:t>
            </a:r>
            <a:endParaRPr lang="en-US" sz="950" dirty="0"/>
          </a:p>
        </p:txBody>
      </p:sp>
      <p:sp>
        <p:nvSpPr>
          <p:cNvPr id="18"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9 (Industry, Innovation &amp; Infrastructure): Advancing browser-based zero-install spatial computing in commercial dining.</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12 (Responsible Consumption &amp; Production): Mitigating food plate return waste through 1:1 metric scale portion previews.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13 (Climate Action): Eliminating recurring paper and lamination plastics from restaurant supply chains.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Main &amp; Specific Objectives and Target Outcomes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Scope</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PRIMARY &amp; SPECIFIC OBJECTIVES</a:t>
            </a:r>
            <a:endParaRPr lang="en-US" sz="13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Main Objective: Build and deploy a production-grade, zero-install WebXR &amp; Scene Viewer 3D AR smart menu with a synchronized real-time Kitchen Display System.</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Zero-Install 6-DoF AR: Implement WebXR Device API hit-testing to anchor 3D food items to physical tabletop planes with 1:1 metric accuracy.</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3D Asset Optimization Pipeline: Quantize and compress high-poly food models from 46MB down to &lt;10MB for rapid mobile loading (&lt;2.5s over 4G/5G).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Dual-Engine Fallback Architecture: Sniff client capability to dynamically route to WebXR or Google Scene Viewer Android Intent.</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Real-Time Kitchen Operations: Synchronize diner orders with a low-latency Kitchen Display System Kanban board with acoustic alerts.</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EXPECTED QUANTITATIVE OUTCOMES</a:t>
            </a:r>
            <a:endParaRPr lang="en-US" sz="13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Stable 60 FPS WebGL Rendering: Sustained 58–60 FPS rendering across contemporary mobile GPUs with zero thermal throttling.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 App Store Friction: 100% browser-based PWA execution eliminating the 70%+ user abandonment caused by mandatory app downloads.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Order Turnaround Acceleration: Decreased order-to-kitchen latency from 8+ minutes (waiter dependent) to instantaneous cloud dispatch.</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Existing Systems &amp; Research Gap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Literature Review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Native AR Apps (IKEA-style)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8" name="Shape 4"/>
          <p:cNvSpPr/>
          <p:nvPr/>
        </p:nvSpPr>
        <p:spPr>
          <a:xfrm>
            <a:off x="548640" y="3383280"/>
            <a:ext cx="8046720" cy="1234440"/>
          </a:xfrm>
          <a:prstGeom prst="roundRect">
            <a:avLst>
              <a:gd name="adj" fmla="val 5926"/>
            </a:avLst>
          </a:prstGeom>
          <a:solidFill>
            <a:srgbClr val="F8FAFC"/>
          </a:solidFill>
          <a:ln w="12700">
            <a:solidFill>
              <a:srgbClr val="E2E8F0"/>
            </a:solidFill>
            <a:prstDash val="solid"/>
          </a:ln>
        </p:spPr>
      </p:sp>
      <p:sp>
        <p:nvSpPr>
          <p:cNvPr id="9" name="Text 5"/>
          <p:cNvSpPr/>
          <p:nvPr/>
        </p:nvSpPr>
        <p:spPr>
          <a:xfrm>
            <a:off x="731520" y="3520440"/>
            <a:ext cx="7680960" cy="201168"/>
          </a:xfrm>
          <a:prstGeom prst="rect">
            <a:avLst/>
          </a:prstGeom>
          <a:noFill/>
          <a:ln/>
        </p:spPr>
        <p:txBody>
          <a:bodyPr wrap="square" lIns="0" tIns="0" rIns="0" bIns="0" rtlCol="0" anchor="ctr"/>
          <a:lstStyle/>
          <a:p>
            <a:pPr indent="0" marL="0">
              <a:buNone/>
            </a:pPr>
            <a:r>
              <a:rPr lang="en-US" sz="1000" b="1" dirty="0">
                <a:solidFill>
                  <a:srgbClr val="1E3A8A"/>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10"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While spatial computing offers documented benefits in e-commerce, previous hospitality deployments required proprietary native apps, causing severe patron drop-off during ephemeral restaurant dining.</a:t>
            </a:r>
            <a:endParaRPr lang="en-US" sz="950" dirty="0"/>
          </a:p>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Engineering Imperative: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Our research delivers true 6-DoF tabletop plane detection and optimized 3D asset delivery directly inside mobile browsers without app installation, maintaining 60 FPS while reducing initial hardware costs to zero.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Proposed Smart Restaurant Architecture &amp; Key Capabilities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Overview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Instant Table QR Onboarding</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Patrons scan a table QR code (e.g., `/?table=1`) to launch the responsive dining portal instantly with zero installation, initializing a persistent dining cart session.</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Dual-Engine Spatial AR Viewer</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Combines native WebXR `requestHitTestSource` 6-DoF table surface anchoring with Google Scene Viewer Android Intent fallbacks, ensuring universal smartphone compatibility.</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Smart Dietary &amp; Nutritional Engine</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Interactive filtering by vegetarian, non-vegetarian, spice intensity, preparation time, and allergens, complete with comprehensive calorie counts and macros.</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Synchronized Kitchen Display System</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Real-time kitchen order management with acoustic notifications and stateful ticket advancement (Pending -&gt; Preparing -&gt; Ready -&gt; Delivered).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Technical Complexity &amp; Engineering Innovations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2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6-DoF Table Surface Hit-Testing</a:t>
            </a:r>
            <a:endParaRPr lang="en-US" sz="125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Implemented native WebXR `requestHitTestSource()` to project continuous raycasts onto real dining surfaces. Calculates the exact 3D spatial intersection (X, Y, Z) and surface normal, locking models to the table without marker drifting.</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3D Mesh Quantization &amp; Texture Pipeline</a:t>
            </a:r>
            <a:endParaRPr lang="en-US" sz="125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mobile browser memory limits by processing raw photogrammetry assets via `@gltf-transform`. Downscaled 8K uncompressed textures to 2K WebP and applied Draco mesh compression, shrinking `pizza.glb` from 46.8MB to 10.2MB (78% reduction).</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Multi-Tier Device Sniffing Engine</a:t>
            </a:r>
            <a:endParaRPr lang="en-US" sz="125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Engineered an automated runtime capability detector. If WebXR session creation fails due to browser restrictions, the system smoothly falls back to Google Scene Viewer Intent via Android ARCore, or Google Model-Viewer 3D Canvas.</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Cloud Edge MIME &amp; CORS Orchestration</a:t>
            </a:r>
            <a:endParaRPr lang="en-US" sz="125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Resolved browser cross-origin asset blocking by configuring Vercel edge response headers (`vercel.json`) to enforce `Content-Type: model/gltf-binary` and `Access-Control-Allow-Origin: *`, enabling instant streaming to external AR viewers.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End-to-End Multi-Tier System Architecture</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Design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749808"/>
          </a:xfrm>
          <a:prstGeom prst="roundRect">
            <a:avLst>
              <a:gd name="adj" fmla="val 9756"/>
            </a:avLst>
          </a:prstGeom>
          <a:solidFill>
            <a:srgbClr val="F8FAFC"/>
          </a:solidFill>
          <a:ln w="12700">
            <a:solidFill>
              <a:srgbClr val="E2E8F0"/>
            </a:solidFill>
            <a:prstDash val="solid"/>
          </a:ln>
        </p:spPr>
      </p:sp>
      <p:sp>
        <p:nvSpPr>
          <p:cNvPr id="8" name="Text 5"/>
          <p:cNvSpPr/>
          <p:nvPr/>
        </p:nvSpPr>
        <p:spPr>
          <a:xfrm>
            <a:off x="731520" y="1280160"/>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1: Client Presentation Layer</a:t>
            </a:r>
            <a:endParaRPr lang="en-US" sz="1200" dirty="0"/>
          </a:p>
        </p:txBody>
      </p:sp>
      <p:sp>
        <p:nvSpPr>
          <p:cNvPr id="9" name="Text 6"/>
          <p:cNvSpPr/>
          <p:nvPr/>
        </p:nvSpPr>
        <p:spPr>
          <a:xfrm>
            <a:off x="4937760" y="1280160"/>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React 18 | TypeScript | Vite | Tailwind CSS</a:t>
            </a:r>
            <a:endParaRPr lang="en-US" sz="950" dirty="0"/>
          </a:p>
        </p:txBody>
      </p:sp>
      <p:sp>
        <p:nvSpPr>
          <p:cNvPr id="10" name="Text 7"/>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Responsive mobile PWA interface, table session parsing, category navigation, dish detail modals, shopping cart drawer, and dietary badge filters.</a:t>
            </a:r>
            <a:endParaRPr lang="en-US" sz="950" dirty="0"/>
          </a:p>
        </p:txBody>
      </p:sp>
      <p:sp>
        <p:nvSpPr>
          <p:cNvPr id="11" name="Shape 8"/>
          <p:cNvSpPr/>
          <p:nvPr/>
        </p:nvSpPr>
        <p:spPr>
          <a:xfrm>
            <a:off x="548640" y="2029968"/>
            <a:ext cx="8046720" cy="749808"/>
          </a:xfrm>
          <a:prstGeom prst="roundRect">
            <a:avLst>
              <a:gd name="adj" fmla="val 9756"/>
            </a:avLst>
          </a:prstGeom>
          <a:solidFill>
            <a:srgbClr val="F8FAFC"/>
          </a:solidFill>
          <a:ln w="12700">
            <a:solidFill>
              <a:srgbClr val="E2E8F0"/>
            </a:solidFill>
            <a:prstDash val="solid"/>
          </a:ln>
        </p:spPr>
      </p:sp>
      <p:sp>
        <p:nvSpPr>
          <p:cNvPr id="12" name="Text 9"/>
          <p:cNvSpPr/>
          <p:nvPr/>
        </p:nvSpPr>
        <p:spPr>
          <a:xfrm>
            <a:off x="731520" y="2121408"/>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2: Spatial 3D / AR Subsystem</a:t>
            </a:r>
            <a:endParaRPr lang="en-US" sz="1200" dirty="0"/>
          </a:p>
        </p:txBody>
      </p:sp>
      <p:sp>
        <p:nvSpPr>
          <p:cNvPr id="13" name="Text 10"/>
          <p:cNvSpPr/>
          <p:nvPr/>
        </p:nvSpPr>
        <p:spPr>
          <a:xfrm>
            <a:off x="4937760" y="2121408"/>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Three.js | WebXR Device API | Model-Viewer</a:t>
            </a:r>
            <a:endParaRPr lang="en-US" sz="950" dirty="0"/>
          </a:p>
        </p:txBody>
      </p:sp>
      <p:sp>
        <p:nvSpPr>
          <p:cNvPr id="14" name="Text 11"/>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6-DoF raycasting surface hit-testing, dynamic reticle tracking, 1:1 metric scale clamping, model rotation gestures, and Android Scene Viewer intent routing.</a:t>
            </a:r>
            <a:endParaRPr lang="en-US" sz="950" dirty="0"/>
          </a:p>
        </p:txBody>
      </p:sp>
      <p:sp>
        <p:nvSpPr>
          <p:cNvPr id="15" name="Shape 12"/>
          <p:cNvSpPr/>
          <p:nvPr/>
        </p:nvSpPr>
        <p:spPr>
          <a:xfrm>
            <a:off x="548640" y="2871216"/>
            <a:ext cx="8046720" cy="749808"/>
          </a:xfrm>
          <a:prstGeom prst="roundRect">
            <a:avLst>
              <a:gd name="adj" fmla="val 9756"/>
            </a:avLst>
          </a:prstGeom>
          <a:solidFill>
            <a:srgbClr val="F8FAFC"/>
          </a:solidFill>
          <a:ln w="12700">
            <a:solidFill>
              <a:srgbClr val="E2E8F0"/>
            </a:solidFill>
            <a:prstDash val="solid"/>
          </a:ln>
        </p:spPr>
      </p:sp>
      <p:sp>
        <p:nvSpPr>
          <p:cNvPr id="16" name="Text 13"/>
          <p:cNvSpPr/>
          <p:nvPr/>
        </p:nvSpPr>
        <p:spPr>
          <a:xfrm>
            <a:off x="731520" y="2962656"/>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3: State &amp; Kitchen Operations</a:t>
            </a:r>
            <a:endParaRPr lang="en-US" sz="1200" dirty="0"/>
          </a:p>
        </p:txBody>
      </p:sp>
      <p:sp>
        <p:nvSpPr>
          <p:cNvPr id="17" name="Text 14"/>
          <p:cNvSpPr/>
          <p:nvPr/>
        </p:nvSpPr>
        <p:spPr>
          <a:xfrm>
            <a:off x="4937760" y="2962656"/>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Zustand Store | Web Audio API | KDS Kanban</a:t>
            </a:r>
            <a:endParaRPr lang="en-US" sz="950" dirty="0"/>
          </a:p>
        </p:txBody>
      </p:sp>
      <p:sp>
        <p:nvSpPr>
          <p:cNvPr id="18" name="Text 15"/>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Bidirectional state management, table order queues, preparation time timers, acoustic chime alerts, and status state machine (Pending -&gt; Delivered).</a:t>
            </a:r>
            <a:endParaRPr lang="en-US" sz="950" dirty="0"/>
          </a:p>
        </p:txBody>
      </p:sp>
      <p:sp>
        <p:nvSpPr>
          <p:cNvPr id="19" name="Shape 16"/>
          <p:cNvSpPr/>
          <p:nvPr/>
        </p:nvSpPr>
        <p:spPr>
          <a:xfrm>
            <a:off x="548640" y="3712464"/>
            <a:ext cx="8046720" cy="749808"/>
          </a:xfrm>
          <a:prstGeom prst="roundRect">
            <a:avLst>
              <a:gd name="adj" fmla="val 9756"/>
            </a:avLst>
          </a:prstGeom>
          <a:solidFill>
            <a:srgbClr val="F8FAFC"/>
          </a:solidFill>
          <a:ln w="12700">
            <a:solidFill>
              <a:srgbClr val="E2E8F0"/>
            </a:solidFill>
            <a:prstDash val="solid"/>
          </a:ln>
        </p:spPr>
      </p:sp>
      <p:sp>
        <p:nvSpPr>
          <p:cNvPr id="20" name="Text 17"/>
          <p:cNvSpPr/>
          <p:nvPr/>
        </p:nvSpPr>
        <p:spPr>
          <a:xfrm>
            <a:off x="731520" y="3803904"/>
            <a:ext cx="41148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Tier 4: Cloud Edge Infrastructure</a:t>
            </a:r>
            <a:endParaRPr lang="en-US" sz="1200" dirty="0"/>
          </a:p>
        </p:txBody>
      </p:sp>
      <p:sp>
        <p:nvSpPr>
          <p:cNvPr id="21" name="Text 18"/>
          <p:cNvSpPr/>
          <p:nvPr/>
        </p:nvSpPr>
        <p:spPr>
          <a:xfrm>
            <a:off x="4937760" y="3803904"/>
            <a:ext cx="347472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Vercel Edge Network | CDN | Git CI/CD</a:t>
            </a:r>
            <a:endParaRPr lang="en-US" sz="950" dirty="0"/>
          </a:p>
        </p:txBody>
      </p:sp>
      <p:sp>
        <p:nvSpPr>
          <p:cNvPr id="22" name="Text 19"/>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Static serverless delivery, model asset caching, edge response header injection (`Content-Type: model/gltf-binary`), and GitHub automated build triggers.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Comprehensive Technology Stack &amp; Tools Matrix</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Engineering Stack</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Frontend &amp; UI Framework</a:t>
            </a:r>
            <a:endParaRPr lang="en-US" sz="1200" dirty="0"/>
          </a:p>
        </p:txBody>
      </p:sp>
      <p:sp>
        <p:nvSpPr>
          <p:cNvPr id="9" name="Text 6"/>
          <p:cNvSpPr/>
          <p:nvPr/>
        </p:nvSpPr>
        <p:spPr>
          <a:xfrm>
            <a:off x="7772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React 18.3, TypeScript 5.2, Vite 5.4, Tailwind CSS 3.4, Lucide Icons</a:t>
            </a:r>
            <a:endParaRPr lang="en-US" sz="900" dirty="0"/>
          </a:p>
        </p:txBody>
      </p:sp>
      <p:sp>
        <p:nvSpPr>
          <p:cNvPr id="10" name="Text 7"/>
          <p:cNvSpPr/>
          <p:nvPr/>
        </p:nvSpPr>
        <p:spPr>
          <a:xfrm>
            <a:off x="7772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Spatial AR &amp; 3D Graphics</a:t>
            </a:r>
            <a:endParaRPr lang="en-US" sz="1200" dirty="0"/>
          </a:p>
        </p:txBody>
      </p:sp>
      <p:sp>
        <p:nvSpPr>
          <p:cNvPr id="13" name="Text 10"/>
          <p:cNvSpPr/>
          <p:nvPr/>
        </p:nvSpPr>
        <p:spPr>
          <a:xfrm>
            <a:off x="48920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Three.js r128+, WebXR Device API, @google/model-viewer 4.0, glTF 2.0</a:t>
            </a:r>
            <a:endParaRPr lang="en-US" sz="900" dirty="0"/>
          </a:p>
        </p:txBody>
      </p:sp>
      <p:sp>
        <p:nvSpPr>
          <p:cNvPr id="14" name="Text 11"/>
          <p:cNvSpPr/>
          <p:nvPr/>
        </p:nvSpPr>
        <p:spPr>
          <a:xfrm>
            <a:off x="48920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State &amp; Audio Systems</a:t>
            </a:r>
            <a:endParaRPr lang="en-US" sz="1200" dirty="0"/>
          </a:p>
        </p:txBody>
      </p:sp>
      <p:sp>
        <p:nvSpPr>
          <p:cNvPr id="17" name="Text 14"/>
          <p:cNvSpPr/>
          <p:nvPr/>
        </p:nvSpPr>
        <p:spPr>
          <a:xfrm>
            <a:off x="7772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8" name="Text 15"/>
          <p:cNvSpPr/>
          <p:nvPr/>
        </p:nvSpPr>
        <p:spPr>
          <a:xfrm>
            <a:off x="7772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Tooling, Compression &amp; Cloud</a:t>
            </a:r>
            <a:endParaRPr lang="en-US" sz="1200" dirty="0"/>
          </a:p>
        </p:txBody>
      </p:sp>
      <p:sp>
        <p:nvSpPr>
          <p:cNvPr id="21" name="Text 18"/>
          <p:cNvSpPr/>
          <p:nvPr/>
        </p:nvSpPr>
        <p:spPr>
          <a:xfrm>
            <a:off x="48920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2" name="Text 19"/>
          <p:cNvSpPr/>
          <p:nvPr/>
        </p:nvSpPr>
        <p:spPr>
          <a:xfrm>
            <a:off x="48920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Management: Agile Sprints &amp; Risk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4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AGILE SPRINTS &amp; MILESTONE TIMELINE</a:t>
            </a:r>
            <a:endParaRPr lang="en-US" sz="12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STRUCTURED RISK MANAGEMENT MATRIX</a:t>
            </a:r>
            <a:endParaRPr lang="en-US" sz="12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Teamwork, Task Allocation &amp; Collaboration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5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377440"/>
          </a:xfrm>
          <a:prstGeom prst="roundRect">
            <a:avLst>
              <a:gd name="adj" fmla="val 3077"/>
            </a:avLst>
          </a:prstGeom>
          <a:solidFill>
            <a:srgbClr val="F8FAFC"/>
          </a:solidFill>
          <a:ln w="12700">
            <a:solidFill>
              <a:srgbClr val="E2E8F0"/>
            </a:solidFill>
            <a:prstDash val="solid"/>
          </a:ln>
        </p:spPr>
      </p:sp>
      <p:sp>
        <p:nvSpPr>
          <p:cNvPr id="8" name="Text 5"/>
          <p:cNvSpPr/>
          <p:nvPr/>
        </p:nvSpPr>
        <p:spPr>
          <a:xfrm>
            <a:off x="7315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Manav Singh</a:t>
            </a:r>
            <a:endParaRPr lang="en-US" sz="1300" dirty="0"/>
          </a:p>
        </p:txBody>
      </p:sp>
      <p:sp>
        <p:nvSpPr>
          <p:cNvPr id="9" name="Text 6"/>
          <p:cNvSpPr/>
          <p:nvPr/>
        </p:nvSpPr>
        <p:spPr>
          <a:xfrm>
            <a:off x="7315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Lead Full-Stack &amp; Spatial AR Engineer</a:t>
            </a:r>
            <a:endParaRPr lang="en-US" sz="950" dirty="0"/>
          </a:p>
        </p:txBody>
      </p:sp>
      <p:sp>
        <p:nvSpPr>
          <p:cNvPr id="10" name="Text 7"/>
          <p:cNvSpPr/>
          <p:nvPr/>
        </p:nvSpPr>
        <p:spPr>
          <a:xfrm>
            <a:off x="7315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1" name="Shape 8"/>
          <p:cNvSpPr/>
          <p:nvPr/>
        </p:nvSpPr>
        <p:spPr>
          <a:xfrm>
            <a:off x="3291840" y="1188720"/>
            <a:ext cx="2560320" cy="2377440"/>
          </a:xfrm>
          <a:prstGeom prst="roundRect">
            <a:avLst>
              <a:gd name="adj" fmla="val 3077"/>
            </a:avLst>
          </a:prstGeom>
          <a:solidFill>
            <a:srgbClr val="F8FAFC"/>
          </a:solidFill>
          <a:ln w="12700">
            <a:solidFill>
              <a:srgbClr val="E2E8F0"/>
            </a:solidFill>
            <a:prstDash val="solid"/>
          </a:ln>
        </p:spPr>
      </p:sp>
      <p:sp>
        <p:nvSpPr>
          <p:cNvPr id="12" name="Text 9"/>
          <p:cNvSpPr/>
          <p:nvPr/>
        </p:nvSpPr>
        <p:spPr>
          <a:xfrm>
            <a:off x="34747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Sanskar Suryavanshi</a:t>
            </a:r>
            <a:endParaRPr lang="en-US" sz="1300" dirty="0"/>
          </a:p>
        </p:txBody>
      </p:sp>
      <p:sp>
        <p:nvSpPr>
          <p:cNvPr id="13" name="Text 10"/>
          <p:cNvSpPr/>
          <p:nvPr/>
        </p:nvSpPr>
        <p:spPr>
          <a:xfrm>
            <a:off x="34747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Frontend Architect &amp; UI/UX Specialist</a:t>
            </a:r>
            <a:endParaRPr lang="en-US" sz="950" dirty="0"/>
          </a:p>
        </p:txBody>
      </p:sp>
      <p:sp>
        <p:nvSpPr>
          <p:cNvPr id="14" name="Text 11"/>
          <p:cNvSpPr/>
          <p:nvPr/>
        </p:nvSpPr>
        <p:spPr>
          <a:xfrm>
            <a:off x="34747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5" name="Shape 12"/>
          <p:cNvSpPr/>
          <p:nvPr/>
        </p:nvSpPr>
        <p:spPr>
          <a:xfrm>
            <a:off x="6035040" y="1188720"/>
            <a:ext cx="2560320" cy="2377440"/>
          </a:xfrm>
          <a:prstGeom prst="roundRect">
            <a:avLst>
              <a:gd name="adj" fmla="val 3077"/>
            </a:avLst>
          </a:prstGeom>
          <a:solidFill>
            <a:srgbClr val="F8FAFC"/>
          </a:solidFill>
          <a:ln w="12700">
            <a:solidFill>
              <a:srgbClr val="E2E8F0"/>
            </a:solidFill>
            <a:prstDash val="solid"/>
          </a:ln>
        </p:spPr>
      </p:sp>
      <p:sp>
        <p:nvSpPr>
          <p:cNvPr id="16" name="Text 13"/>
          <p:cNvSpPr/>
          <p:nvPr/>
        </p:nvSpPr>
        <p:spPr>
          <a:xfrm>
            <a:off x="62179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Kesar Singh</a:t>
            </a:r>
            <a:endParaRPr lang="en-US" sz="1300" dirty="0"/>
          </a:p>
        </p:txBody>
      </p:sp>
      <p:sp>
        <p:nvSpPr>
          <p:cNvPr id="17" name="Text 14"/>
          <p:cNvSpPr/>
          <p:nvPr/>
        </p:nvSpPr>
        <p:spPr>
          <a:xfrm>
            <a:off x="62179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Systems Integration &amp; QA Lead</a:t>
            </a:r>
            <a:endParaRPr lang="en-US" sz="950" dirty="0"/>
          </a:p>
        </p:txBody>
      </p:sp>
      <p:sp>
        <p:nvSpPr>
          <p:cNvPr id="18" name="Text 15"/>
          <p:cNvSpPr/>
          <p:nvPr/>
        </p:nvSpPr>
        <p:spPr>
          <a:xfrm>
            <a:off x="62179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9" name="Shape 16"/>
          <p:cNvSpPr/>
          <p:nvPr/>
        </p:nvSpPr>
        <p:spPr>
          <a:xfrm>
            <a:off x="548640" y="3749040"/>
            <a:ext cx="8046720" cy="914400"/>
          </a:xfrm>
          <a:prstGeom prst="roundRect">
            <a:avLst>
              <a:gd name="adj" fmla="val 8000"/>
            </a:avLst>
          </a:prstGeom>
          <a:solidFill>
            <a:srgbClr val="EFF6FF"/>
          </a:solidFill>
          <a:ln w="12700">
            <a:solidFill>
              <a:srgbClr val="BFDBFE"/>
            </a:solidFill>
            <a:prstDash val="solid"/>
          </a:ln>
        </p:spPr>
      </p:sp>
      <p:sp>
        <p:nvSpPr>
          <p:cNvPr id="20" name="Text 17"/>
          <p:cNvSpPr/>
          <p:nvPr/>
        </p:nvSpPr>
        <p:spPr>
          <a:xfrm>
            <a:off x="731520" y="3840480"/>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COLLABORATIVE METHODOLOGY &amp; REPOSITORY GOVERNANCE</a:t>
            </a:r>
            <a:endParaRPr lang="en-US" sz="950" dirty="0"/>
          </a:p>
        </p:txBody>
      </p:sp>
      <p:sp>
        <p:nvSpPr>
          <p:cNvPr id="21"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Cost Analysis, Budgeting &amp; Practical Feasibility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3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3891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1E3A8A"/>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DC2626"/>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10" name="Shape 6"/>
          <p:cNvSpPr/>
          <p:nvPr/>
        </p:nvSpPr>
        <p:spPr>
          <a:xfrm>
            <a:off x="5120640" y="1188720"/>
            <a:ext cx="3474720" cy="3429000"/>
          </a:xfrm>
          <a:prstGeom prst="roundRect">
            <a:avLst>
              <a:gd name="adj" fmla="val 2133"/>
            </a:avLst>
          </a:prstGeom>
          <a:solidFill>
            <a:srgbClr val="F8FAFC"/>
          </a:solidFill>
          <a:ln w="12700">
            <a:solidFill>
              <a:srgbClr val="E2E8F0"/>
            </a:solidFill>
            <a:prstDash val="solid"/>
          </a:ln>
        </p:spPr>
      </p:sp>
      <p:sp>
        <p:nvSpPr>
          <p:cNvPr id="11"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TECHNICAL &amp; OPERATIONAL FEASIBILITY</a:t>
            </a:r>
            <a:endParaRPr lang="en-US" sz="1100" dirty="0"/>
          </a:p>
        </p:txBody>
      </p:sp>
      <p:sp>
        <p:nvSpPr>
          <p:cNvPr id="12" name="Text 8"/>
          <p:cNvSpPr/>
          <p:nvPr/>
        </p:nvSpPr>
        <p:spPr>
          <a:xfrm>
            <a:off x="5303520" y="1691640"/>
            <a:ext cx="3108960" cy="2743200"/>
          </a:xfrm>
          <a:prstGeom prst="rect">
            <a:avLst/>
          </a:prstGeom>
          <a:noFill/>
          <a:ln/>
        </p:spPr>
        <p:txBody>
          <a:bodyPr wrap="square" lIns="0" tIns="0" rIns="0" bIns="0" rtlCol="0" anchor="ctr"/>
          <a:lstStyle/>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Economic Feasibility: Exceptional ROI</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Eliminates hardware procurement entirely. A 10-table restaurant saves over ₹6.6 Lakhs ($8,000+) over 3 years, achieving instant ROI in Month 1.</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Technical Feasibility: Web Standards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Utilizes standardized W3C WebXR and WebGL APIs natively supported in Chrome, Edge, and Safari without proprietary SDK royalties.</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Operational Feasibility: Zero Friction</a:t>
            </a:r>
            <a:endParaRPr lang="en-US" sz="950" dirty="0"/>
          </a:p>
          <a:p>
            <a:pPr marL="342900" indent="-342900">
              <a:spcAft>
                <a:spcPts val="800"/>
              </a:spcAft>
              <a:buSzPct val="100000"/>
              <a:buChar char="•"/>
            </a:pPr>
            <a:r>
              <a:rPr lang="en-US" sz="950" dirty="0">
                <a:solidFill>
                  <a:srgbClr val="334155"/>
                </a:solidFill>
                <a:latin typeface="Calibri" pitchFamily="34" charset="0"/>
                <a:ea typeface="Calibri" pitchFamily="34" charset="-122"/>
                <a:cs typeface="Calibri" pitchFamily="34" charset="-120"/>
              </a:rPr>
              <a:t>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100% Implementation: Working Modules &amp; Live Proof</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7 (30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back_to_menu_1790013320137.png">    </p:cNvPr>
          <p:cNvPicPr>
            <a:picLocks noChangeAspect="1"/>
          </p:cNvPicPr>
          <p:nvPr/>
        </p:nvPicPr>
        <p:blipFill>
          <a:blip r:embed="rId2"/>
          <a:stretch>
            <a:fillRect/>
          </a:stretch>
        </p:blipFill>
        <p:spPr>
          <a:xfrm>
            <a:off x="548640" y="1188720"/>
            <a:ext cx="3291840" cy="2194560"/>
          </a:xfrm>
          <a:prstGeom prst="rect">
            <a:avLst/>
          </a:prstGeom>
        </p:spPr>
      </p:pic>
      <p:sp>
        <p:nvSpPr>
          <p:cNvPr id="8" name="Shape 4"/>
          <p:cNvSpPr/>
          <p:nvPr/>
        </p:nvSpPr>
        <p:spPr>
          <a:xfrm>
            <a:off x="548640" y="1188720"/>
            <a:ext cx="3291840" cy="2194560"/>
          </a:xfrm>
          <a:prstGeom prst="rect">
            <a:avLst/>
          </a:prstGeom>
          <a:ln w="12700">
            <a:solidFill>
              <a:srgbClr val="E2E8F0"/>
            </a:solidFill>
            <a:prstDash val="solid"/>
          </a:ln>
        </p:spPr>
      </p:sp>
      <p:pic>
        <p:nvPicPr>
          <p:cNvPr id="9" name="Image 2" descr="d:\resrtorant\presentation_assets\dish_anchored_placed_1790012727681.png">    </p:cNvPr>
          <p:cNvPicPr>
            <a:picLocks noChangeAspect="1"/>
          </p:cNvPicPr>
          <p:nvPr/>
        </p:nvPicPr>
        <p:blipFill>
          <a:blip r:embed="rId3"/>
          <a:stretch>
            <a:fillRect/>
          </a:stretch>
        </p:blipFill>
        <p:spPr>
          <a:xfrm>
            <a:off x="4023360" y="1188720"/>
            <a:ext cx="4572000" cy="2194560"/>
          </a:xfrm>
          <a:prstGeom prst="rect">
            <a:avLst/>
          </a:prstGeom>
        </p:spPr>
      </p:pic>
      <p:sp>
        <p:nvSpPr>
          <p:cNvPr id="10" name="Shape 5"/>
          <p:cNvSpPr/>
          <p:nvPr/>
        </p:nvSpPr>
        <p:spPr>
          <a:xfrm>
            <a:off x="4023360" y="1188720"/>
            <a:ext cx="4572000" cy="2194560"/>
          </a:xfrm>
          <a:prstGeom prst="rect">
            <a:avLst/>
          </a:prstGeom>
          <a:ln w="12700">
            <a:solidFill>
              <a:srgbClr val="E2E8F0"/>
            </a:solidFill>
            <a:prstDash val="solid"/>
          </a:ln>
        </p:spPr>
      </p:sp>
      <p:sp>
        <p:nvSpPr>
          <p:cNvPr id="11" name="Shape 6"/>
          <p:cNvSpPr/>
          <p:nvPr/>
        </p:nvSpPr>
        <p:spPr>
          <a:xfrm>
            <a:off x="548640" y="3520440"/>
            <a:ext cx="8046720" cy="1143000"/>
          </a:xfrm>
          <a:prstGeom prst="roundRect">
            <a:avLst>
              <a:gd name="adj" fmla="val 6400"/>
            </a:avLst>
          </a:prstGeom>
          <a:solidFill>
            <a:srgbClr val="F8FAFC"/>
          </a:solidFill>
          <a:ln w="12700">
            <a:solidFill>
              <a:srgbClr val="059669"/>
            </a:solidFill>
            <a:prstDash val="solid"/>
          </a:ln>
        </p:spPr>
      </p:sp>
      <p:sp>
        <p:nvSpPr>
          <p:cNvPr id="12" name="Text 7"/>
          <p:cNvSpPr/>
          <p:nvPr/>
        </p:nvSpPr>
        <p:spPr>
          <a:xfrm>
            <a:off x="731520" y="3611880"/>
            <a:ext cx="7680960" cy="182880"/>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100% COMPLETED MODULES &amp; VERIFIABLE PROOF (30 MARKS)</a:t>
            </a:r>
            <a:endParaRPr lang="en-US" sz="950" dirty="0"/>
          </a:p>
        </p:txBody>
      </p:sp>
      <p:sp>
        <p:nvSpPr>
          <p:cNvPr id="13" name="Text 8"/>
          <p:cNvSpPr/>
          <p:nvPr/>
        </p:nvSpPr>
        <p:spPr>
          <a:xfrm>
            <a:off x="731520" y="3840480"/>
            <a:ext cx="7680960" cy="731520"/>
          </a:xfrm>
          <a:prstGeom prst="rect">
            <a:avLst/>
          </a:prstGeom>
          <a:noFill/>
          <a:ln/>
        </p:spPr>
        <p:txBody>
          <a:bodyPr wrap="square" lIns="0" tIns="0" rIns="0" bIns="0" rtlCol="0" anchor="ctr"/>
          <a:lstStyle/>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Interactive Menu: 12+ gourmet dishes with dietary tags, preparation times, and calorie metrics.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6-DoF WebXR Surface Tracker: Table plane hit-testing, dynamic reticle, and model rotation gestures.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Google Scene Viewer Fallback: Automated Android intent dispatch for non-WebXR devices.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Real-Time Kitchen Display: Live order queue with state transitions and acoustic alerts.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[COMPLETED] Live Production Vercel Edge: Hosted &amp; active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Operational Workflow &amp; Diner Journey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Live Model Demonstration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qr_handoff_modal_1790013103448.png">    </p:cNvPr>
          <p:cNvPicPr>
            <a:picLocks noChangeAspect="1"/>
          </p:cNvPicPr>
          <p:nvPr/>
        </p:nvPicPr>
        <p:blipFill>
          <a:blip r:embed="rId2"/>
          <a:stretch>
            <a:fillRect/>
          </a:stretch>
        </p:blipFill>
        <p:spPr>
          <a:xfrm>
            <a:off x="548640" y="1188720"/>
            <a:ext cx="3108960" cy="2103120"/>
          </a:xfrm>
          <a:prstGeom prst="rect">
            <a:avLst/>
          </a:prstGeom>
        </p:spPr>
      </p:pic>
      <p:sp>
        <p:nvSpPr>
          <p:cNvPr id="8" name="Shape 4"/>
          <p:cNvSpPr/>
          <p:nvPr/>
        </p:nvSpPr>
        <p:spPr>
          <a:xfrm>
            <a:off x="548640" y="1188720"/>
            <a:ext cx="3108960" cy="2103120"/>
          </a:xfrm>
          <a:prstGeom prst="rect">
            <a:avLst/>
          </a:prstGeom>
          <a:ln w="12700">
            <a:solidFill>
              <a:srgbClr val="E2E8F0"/>
            </a:solidFill>
            <a:prstDash val="solid"/>
          </a:ln>
        </p:spPr>
      </p:sp>
      <p:pic>
        <p:nvPicPr>
          <p:cNvPr id="9" name="Image 2" descr="d:\resrtorant\presentation_assets\model_rotated_66deg_1790012883322.png">    </p:cNvPr>
          <p:cNvPicPr>
            <a:picLocks noChangeAspect="1"/>
          </p:cNvPicPr>
          <p:nvPr/>
        </p:nvPicPr>
        <p:blipFill>
          <a:blip r:embed="rId3"/>
          <a:stretch>
            <a:fillRect/>
          </a:stretch>
        </p:blipFill>
        <p:spPr>
          <a:xfrm>
            <a:off x="3840480" y="1188720"/>
            <a:ext cx="4754880" cy="2103120"/>
          </a:xfrm>
          <a:prstGeom prst="rect">
            <a:avLst/>
          </a:prstGeom>
        </p:spPr>
      </p:pic>
      <p:sp>
        <p:nvSpPr>
          <p:cNvPr id="10" name="Shape 5"/>
          <p:cNvSpPr/>
          <p:nvPr/>
        </p:nvSpPr>
        <p:spPr>
          <a:xfrm>
            <a:off x="3840480" y="1188720"/>
            <a:ext cx="4754880" cy="2103120"/>
          </a:xfrm>
          <a:prstGeom prst="rect">
            <a:avLst/>
          </a:prstGeom>
          <a:ln w="12700">
            <a:solidFill>
              <a:srgbClr val="E2E8F0"/>
            </a:solidFill>
            <a:prstDash val="solid"/>
          </a:ln>
        </p:spPr>
      </p:sp>
      <p:sp>
        <p:nvSpPr>
          <p:cNvPr id="11" name="Shape 6"/>
          <p:cNvSpPr/>
          <p:nvPr/>
        </p:nvSpPr>
        <p:spPr>
          <a:xfrm>
            <a:off x="548640" y="3429000"/>
            <a:ext cx="8046720" cy="1234440"/>
          </a:xfrm>
          <a:prstGeom prst="roundRect">
            <a:avLst>
              <a:gd name="adj" fmla="val 5926"/>
            </a:avLst>
          </a:prstGeom>
          <a:solidFill>
            <a:srgbClr val="F8FAFC"/>
          </a:solidFill>
          <a:ln w="12700">
            <a:solidFill>
              <a:srgbClr val="E2E8F0"/>
            </a:solidFill>
            <a:prstDash val="solid"/>
          </a:ln>
        </p:spPr>
      </p:sp>
      <p:sp>
        <p:nvSpPr>
          <p:cNvPr id="12" name="Text 7"/>
          <p:cNvSpPr/>
          <p:nvPr/>
        </p:nvSpPr>
        <p:spPr>
          <a:xfrm>
            <a:off x="731520" y="352044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END-TO-END OPERATIONAL PIPELINE (INPUT → PROCESSING → OUTPUT)</a:t>
            </a:r>
            <a:endParaRPr lang="en-US" sz="950" dirty="0"/>
          </a:p>
        </p:txBody>
      </p:sp>
      <p:sp>
        <p:nvSpPr>
          <p:cNvPr id="13" name="Text 8"/>
          <p:cNvSpPr/>
          <p:nvPr/>
        </p:nvSpPr>
        <p:spPr>
          <a:xfrm>
            <a:off x="731520" y="3749040"/>
            <a:ext cx="7680960" cy="868680"/>
          </a:xfrm>
          <a:prstGeom prst="rect">
            <a:avLst/>
          </a:prstGeom>
          <a:noFill/>
          <a:ln/>
        </p:spPr>
        <p:txBody>
          <a:bodyPr wrap="square" lIns="0" tIns="0" rIns="0" bIns="0" rtlCol="0" anchor="ctr"/>
          <a:lstStyle/>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marL="342900" indent="-342900">
              <a:spcAft>
                <a:spcPts val="200"/>
              </a:spcAft>
              <a:buSzPct val="100000"/>
              <a:buChar char="•"/>
            </a:pPr>
            <a:r>
              <a:rPr lang="en-US" sz="850" dirty="0">
                <a:solidFill>
                  <a:srgbClr val="334155"/>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Testing Methodology, Test Matrix &amp; Verification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8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bl>
          </a:graphicData>
        </a:graphic>
      </p:graphicFrame>
      <p:sp>
        <p:nvSpPr>
          <p:cNvPr id="8" name="Shape 4"/>
          <p:cNvSpPr/>
          <p:nvPr/>
        </p:nvSpPr>
        <p:spPr>
          <a:xfrm>
            <a:off x="548640" y="3703320"/>
            <a:ext cx="8046720" cy="960120"/>
          </a:xfrm>
          <a:prstGeom prst="roundRect">
            <a:avLst>
              <a:gd name="adj" fmla="val 7619"/>
            </a:avLst>
          </a:prstGeom>
          <a:solidFill>
            <a:srgbClr val="F8FAFC"/>
          </a:solidFill>
          <a:ln w="12700">
            <a:solidFill>
              <a:srgbClr val="E2E8F0"/>
            </a:solidFill>
            <a:prstDash val="solid"/>
          </a:ln>
        </p:spPr>
      </p:sp>
      <p:sp>
        <p:nvSpPr>
          <p:cNvPr id="9"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TESTING METHODOLOGY &amp; VERIFICATION SUMMARY</a:t>
            </a:r>
            <a:endParaRPr lang="en-US" sz="950" dirty="0"/>
          </a:p>
        </p:txBody>
      </p:sp>
      <p:sp>
        <p:nvSpPr>
          <p:cNvPr id="10"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Quantitative Performance Benchmarks &amp; Results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Experimental Results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7"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120640" y="1188720"/>
            <a:ext cx="3474720" cy="749808"/>
          </a:xfrm>
          <a:prstGeom prst="roundRect">
            <a:avLst>
              <a:gd name="adj" fmla="val 9756"/>
            </a:avLst>
          </a:prstGeom>
          <a:solidFill>
            <a:srgbClr val="F8FAFC"/>
          </a:solidFill>
          <a:ln w="12700">
            <a:solidFill>
              <a:srgbClr val="E2E8F0"/>
            </a:solidFill>
            <a:prstDash val="solid"/>
          </a:ln>
        </p:spPr>
      </p:sp>
      <p:sp>
        <p:nvSpPr>
          <p:cNvPr id="9"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Mobile Load Latency</a:t>
            </a:r>
            <a:endParaRPr lang="en-US" sz="900" dirty="0"/>
          </a:p>
        </p:txBody>
      </p:sp>
      <p:sp>
        <p:nvSpPr>
          <p:cNvPr id="10"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1.8 Seconds</a:t>
            </a:r>
            <a:endParaRPr lang="en-US" sz="1100" dirty="0"/>
          </a:p>
        </p:txBody>
      </p:sp>
      <p:sp>
        <p:nvSpPr>
          <p:cNvPr id="11"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2" name="Shape 8"/>
          <p:cNvSpPr/>
          <p:nvPr/>
        </p:nvSpPr>
        <p:spPr>
          <a:xfrm>
            <a:off x="5120640" y="2029968"/>
            <a:ext cx="3474720" cy="749808"/>
          </a:xfrm>
          <a:prstGeom prst="roundRect">
            <a:avLst>
              <a:gd name="adj" fmla="val 9756"/>
            </a:avLst>
          </a:prstGeom>
          <a:solidFill>
            <a:srgbClr val="F8FAFC"/>
          </a:solidFill>
          <a:ln w="12700">
            <a:solidFill>
              <a:srgbClr val="E2E8F0"/>
            </a:solidFill>
            <a:prstDash val="solid"/>
          </a:ln>
        </p:spPr>
      </p:sp>
      <p:sp>
        <p:nvSpPr>
          <p:cNvPr id="13"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Sustained Frame Rate</a:t>
            </a:r>
            <a:endParaRPr lang="en-US" sz="900" dirty="0"/>
          </a:p>
        </p:txBody>
      </p:sp>
      <p:sp>
        <p:nvSpPr>
          <p:cNvPr id="14"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58 – 60 FPS</a:t>
            </a:r>
            <a:endParaRPr lang="en-US" sz="1100" dirty="0"/>
          </a:p>
        </p:txBody>
      </p:sp>
      <p:sp>
        <p:nvSpPr>
          <p:cNvPr id="15"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6" name="Shape 12"/>
          <p:cNvSpPr/>
          <p:nvPr/>
        </p:nvSpPr>
        <p:spPr>
          <a:xfrm>
            <a:off x="5120640" y="2871216"/>
            <a:ext cx="3474720" cy="749808"/>
          </a:xfrm>
          <a:prstGeom prst="roundRect">
            <a:avLst>
              <a:gd name="adj" fmla="val 9756"/>
            </a:avLst>
          </a:prstGeom>
          <a:solidFill>
            <a:srgbClr val="F8FAFC"/>
          </a:solidFill>
          <a:ln w="12700">
            <a:solidFill>
              <a:srgbClr val="E2E8F0"/>
            </a:solidFill>
            <a:prstDash val="solid"/>
          </a:ln>
        </p:spPr>
      </p:sp>
      <p:sp>
        <p:nvSpPr>
          <p:cNvPr id="17"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Peak Memory Footprint</a:t>
            </a:r>
            <a:endParaRPr lang="en-US" sz="900" dirty="0"/>
          </a:p>
        </p:txBody>
      </p:sp>
      <p:sp>
        <p:nvSpPr>
          <p:cNvPr id="18"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110 MB Heap</a:t>
            </a:r>
            <a:endParaRPr lang="en-US" sz="1100" dirty="0"/>
          </a:p>
        </p:txBody>
      </p:sp>
      <p:sp>
        <p:nvSpPr>
          <p:cNvPr id="19"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20" name="Shape 16"/>
          <p:cNvSpPr/>
          <p:nvPr/>
        </p:nvSpPr>
        <p:spPr>
          <a:xfrm>
            <a:off x="5120640" y="3712464"/>
            <a:ext cx="3474720" cy="749808"/>
          </a:xfrm>
          <a:prstGeom prst="roundRect">
            <a:avLst>
              <a:gd name="adj" fmla="val 9756"/>
            </a:avLst>
          </a:prstGeom>
          <a:solidFill>
            <a:srgbClr val="F8FAFC"/>
          </a:solidFill>
          <a:ln w="12700">
            <a:solidFill>
              <a:srgbClr val="E2E8F0"/>
            </a:solidFill>
            <a:prstDash val="solid"/>
          </a:ln>
        </p:spPr>
      </p:sp>
      <p:sp>
        <p:nvSpPr>
          <p:cNvPr id="21"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900" b="1" dirty="0">
                <a:solidFill>
                  <a:srgbClr val="1E3A8A"/>
                </a:solidFill>
                <a:latin typeface="Calibri" pitchFamily="34" charset="0"/>
                <a:ea typeface="Calibri" pitchFamily="34" charset="-122"/>
                <a:cs typeface="Calibri" pitchFamily="34" charset="-120"/>
              </a:rPr>
              <a:t>User Ordering Confidence</a:t>
            </a:r>
            <a:endParaRPr lang="en-US" sz="900" dirty="0"/>
          </a:p>
        </p:txBody>
      </p:sp>
      <p:sp>
        <p:nvSpPr>
          <p:cNvPr id="22"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89.4% Rating</a:t>
            </a:r>
            <a:endParaRPr lang="en-US" sz="1100" dirty="0"/>
          </a:p>
        </p:txBody>
      </p:sp>
      <p:sp>
        <p:nvSpPr>
          <p:cNvPr id="23"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Research Paper: Academic Contribution &amp; Status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9 (20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868680"/>
          </a:xfrm>
          <a:prstGeom prst="roundRect">
            <a:avLst>
              <a:gd name="adj" fmla="val 8421"/>
            </a:avLst>
          </a:prstGeom>
          <a:solidFill>
            <a:srgbClr val="EFF6FF"/>
          </a:solidFill>
          <a:ln w="12700">
            <a:solidFill>
              <a:srgbClr val="BFDBFE"/>
            </a:solidFill>
            <a:prstDash val="solid"/>
          </a:ln>
        </p:spPr>
      </p:sp>
      <p:sp>
        <p:nvSpPr>
          <p:cNvPr id="8"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RESEARCH PAPER TITLE &amp; CITATION</a:t>
            </a:r>
            <a:endParaRPr lang="en-US" sz="900" dirty="0"/>
          </a:p>
        </p:txBody>
      </p:sp>
      <p:sp>
        <p:nvSpPr>
          <p:cNvPr id="9"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10"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1" name="Shape 8"/>
          <p:cNvSpPr/>
          <p:nvPr/>
        </p:nvSpPr>
        <p:spPr>
          <a:xfrm>
            <a:off x="548640" y="2194560"/>
            <a:ext cx="2560320" cy="2423160"/>
          </a:xfrm>
          <a:prstGeom prst="roundRect">
            <a:avLst>
              <a:gd name="adj" fmla="val 3019"/>
            </a:avLst>
          </a:prstGeom>
          <a:solidFill>
            <a:srgbClr val="F8FAFC"/>
          </a:solidFill>
          <a:ln w="12700">
            <a:solidFill>
              <a:srgbClr val="E2E8F0"/>
            </a:solidFill>
            <a:prstDash val="solid"/>
          </a:ln>
        </p:spPr>
      </p:sp>
      <p:sp>
        <p:nvSpPr>
          <p:cNvPr id="12"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Methodology &amp; Spatial Pipeline</a:t>
            </a:r>
            <a:endParaRPr lang="en-US" sz="1200" dirty="0"/>
          </a:p>
        </p:txBody>
      </p:sp>
      <p:sp>
        <p:nvSpPr>
          <p:cNvPr id="13"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4" name="Shape 11"/>
          <p:cNvSpPr/>
          <p:nvPr/>
        </p:nvSpPr>
        <p:spPr>
          <a:xfrm>
            <a:off x="3291840" y="2194560"/>
            <a:ext cx="2560320" cy="2423160"/>
          </a:xfrm>
          <a:prstGeom prst="roundRect">
            <a:avLst>
              <a:gd name="adj" fmla="val 3019"/>
            </a:avLst>
          </a:prstGeom>
          <a:solidFill>
            <a:srgbClr val="F8FAFC"/>
          </a:solidFill>
          <a:ln w="12700">
            <a:solidFill>
              <a:srgbClr val="E2E8F0"/>
            </a:solidFill>
            <a:prstDash val="solid"/>
          </a:ln>
        </p:spPr>
      </p:sp>
      <p:sp>
        <p:nvSpPr>
          <p:cNvPr id="15"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Core Research Contribution</a:t>
            </a:r>
            <a:endParaRPr lang="en-US" sz="1200" dirty="0"/>
          </a:p>
        </p:txBody>
      </p:sp>
      <p:sp>
        <p:nvSpPr>
          <p:cNvPr id="16"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7" name="Shape 14"/>
          <p:cNvSpPr/>
          <p:nvPr/>
        </p:nvSpPr>
        <p:spPr>
          <a:xfrm>
            <a:off x="6035040" y="2194560"/>
            <a:ext cx="2560320" cy="2423160"/>
          </a:xfrm>
          <a:prstGeom prst="roundRect">
            <a:avLst>
              <a:gd name="adj" fmla="val 3019"/>
            </a:avLst>
          </a:prstGeom>
          <a:solidFill>
            <a:srgbClr val="F8FAFC"/>
          </a:solidFill>
          <a:ln w="12700">
            <a:solidFill>
              <a:srgbClr val="E2E8F0"/>
            </a:solidFill>
            <a:prstDash val="solid"/>
          </a:ln>
        </p:spPr>
      </p:sp>
      <p:sp>
        <p:nvSpPr>
          <p:cNvPr id="18"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Validation &amp; Publication Status</a:t>
            </a:r>
            <a:endParaRPr lang="en-US" sz="1200" dirty="0"/>
          </a:p>
        </p:txBody>
      </p:sp>
      <p:sp>
        <p:nvSpPr>
          <p:cNvPr id="19"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Key Achievements &amp; Overall Summary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Conclusion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Production-Grade System Deployed Live</a:t>
            </a:r>
            <a:endParaRPr lang="en-US" sz="125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Delivered a fully functioning, end-to-end contactless dining platform active on Vercel at `https://smart-restaurant-2za8.vercel.app/`. Both diner AR ordering and real-time KDS kitchen tracking operate seamlessly.</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Frictionless Spatial Computing Viability</a:t>
            </a:r>
            <a:endParaRPr lang="en-US" sz="125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93.7% TCO Reduction &amp; Sustainability</a:t>
            </a:r>
            <a:endParaRPr lang="en-US" sz="125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Completed Research Paper in Review</a:t>
            </a:r>
            <a:endParaRPr lang="en-US" sz="125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Future Scope &amp; Commercial Scalability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Roadmap &amp; Horizons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Multi-User Synchronized AR Dining</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Generative AI Voice Sommelier</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Computer Vision Plating QA Inspection</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IoT Smart Table Sensor Integration</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1828800" y="45720"/>
            <a:ext cx="5486400" cy="749808"/>
          </a:xfrm>
          <a:prstGeom prst="rect">
            <a:avLst/>
          </a:prstGeom>
        </p:spPr>
      </p:pic>
      <p:sp>
        <p:nvSpPr>
          <p:cNvPr id="3" name="Text 0"/>
          <p:cNvSpPr/>
          <p:nvPr/>
        </p:nvSpPr>
        <p:spPr>
          <a:xfrm>
            <a:off x="548640" y="813816"/>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References, Technical Standards &amp; Literature Citations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Academic Bibliography</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Restaurant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2026-09-23T06:38:04Z</dcterms:created>
  <dcterms:modified xsi:type="dcterms:W3CDTF">2026-09-23T06:38:04Z</dcterms:modified>
</cp:coreProperties>
</file>