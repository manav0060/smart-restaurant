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FFFFFF"/>
                </a:solidFill>
                <a:latin typeface="Cambria"/>
              </a:defRPr>
            </a:pPr>
            <a:r>
              <a:rPr sz="1100" b="0" i="0" u="none" strike="noStrike">
                <a:solidFill>
                  <a:srgbClr val="FFFFFF"/>
                </a:solidFill>
                <a:latin typeface="Cambria"/>
              </a:rPr>
              <a:t>3D Asset Size Optimization (MB)</a:t>
            </a:r>
          </a:p>
        </c:rich>
      </c:tx>
      <c:layout/>
      <c:overlay val="0"/>
    </c:title>
    <c:autoTitleDeleted val="0"/>
    <c:plotArea>
      <c:layout/>
      <c:barChart>
        <c:barDir val="col"/>
        <c:grouping val="clustered"/>
        <c:varyColors val="0"/>
        <c:ser>
          <c:idx val="0"/>
          <c:order val="0"/>
          <c:tx>
            <c:strRef>
              <c:f>Sheet1!$B$1</c:f>
              <c:strCache>
                <c:ptCount val="1"/>
                <c:pt idx="0">
                  <c:v>Original Uncompressed (MB)</c:v>
                </c:pt>
              </c:strCache>
            </c:strRef>
          </c:tx>
          <c:spPr>
            <a:solidFill>
              <a:srgbClr val="F43F5E"/>
            </a:solidFill>
            <a:effectLst/>
          </c:spPr>
          <c:invertIfNegative val="0"/>
          <c:dLbls>
            <c:numFmt formatCode="#,##0" sourceLinked="0"/>
            <c:txPr>
              <a:bodyPr/>
              <a:lstStyle/>
              <a:p>
                <a:pPr>
                  <a:defRPr b="0" i="0" strike="noStrike" sz="850" u="none">
                    <a:solidFill>
                      <a:srgbClr val="FFFFFF"/>
                    </a:solidFill>
                    <a:latin typeface="Arial"/>
                  </a:defRPr>
                </a:pPr>
              </a:p>
            </c:txPr>
            <c:dLblPos val="inEnd"/>
            <c:showLegendKey val="0"/>
            <c:showVal val="1"/>
            <c:showCatName val="0"/>
            <c:showSerName val="0"/>
            <c:showPercent val="0"/>
            <c:showBubbleSize val="0"/>
            <c:showLeaderLines val="0"/>
          </c:dLbls>
          <c:cat>
            <c:multiLvlStrRef>
              <c:f>Sheet1!$A$2:$A$5</c:f>
              <c:multiLvlStrCache>
                <c:ptCount val="4"/>
                <c:lvl>
                  <c:pt idx="0">
                    <c:v>Burger GLB</c:v>
                  </c:pt>
                  <c:pt idx="1">
                    <c:v>Pizza GLB</c:v>
                  </c:pt>
                  <c:pt idx="2">
                    <c:v>Pasta GLB</c:v>
                  </c:pt>
                  <c:pt idx="3">
                    <c:v>Butter Chicken GLB</c:v>
                  </c:pt>
                </c:lvl>
              </c:multiLvlStrCache>
            </c:multiLvlStrRef>
          </c:cat>
          <c:val>
            <c:numRef>
              <c:f>Sheet1!$B$2:$B$5</c:f>
              <c:numCache>
                <c:formatCode>General</c:formatCode>
                <c:ptCount val="4"/>
                <c:pt idx="0">
                  <c:v>18.9</c:v>
                </c:pt>
                <c:pt idx="1">
                  <c:v>46.8</c:v>
                </c:pt>
                <c:pt idx="2">
                  <c:v>14.5</c:v>
                </c:pt>
                <c:pt idx="3">
                  <c:v>22.1</c:v>
                </c:pt>
              </c:numCache>
            </c:numRef>
          </c:val>
        </c:ser>
        <c:ser>
          <c:idx val="1"/>
          <c:order val="1"/>
          <c:tx>
            <c:strRef>
              <c:f>Sheet1!$C$1</c:f>
              <c:strCache>
                <c:ptCount val="1"/>
                <c:pt idx="0">
                  <c:v>Optimized WebP/Draco (MB)</c:v>
                </c:pt>
              </c:strCache>
            </c:strRef>
          </c:tx>
          <c:spPr>
            <a:solidFill>
              <a:srgbClr val="10B981"/>
            </a:solidFill>
            <a:effectLst/>
          </c:spPr>
          <c:invertIfNegative val="0"/>
          <c:dLbls>
            <c:numFmt formatCode="#,##0" sourceLinked="0"/>
            <c:txPr>
              <a:bodyPr/>
              <a:lstStyle/>
              <a:p>
                <a:pPr>
                  <a:defRPr b="0" i="0" strike="noStrike" sz="850" u="none">
                    <a:solidFill>
                      <a:srgbClr val="FFFFFF"/>
                    </a:solidFill>
                    <a:latin typeface="Arial"/>
                  </a:defRPr>
                </a:pPr>
              </a:p>
            </c:txPr>
            <c:dLblPos val="inEnd"/>
            <c:showLegendKey val="0"/>
            <c:showVal val="1"/>
            <c:showCatName val="0"/>
            <c:showSerName val="0"/>
            <c:showPercent val="0"/>
            <c:showBubbleSize val="0"/>
            <c:showLeaderLines val="0"/>
          </c:dLbls>
          <c:cat>
            <c:multiLvlStrRef>
              <c:f>Sheet1!$A$2:$A$5</c:f>
              <c:multiLvlStrCache>
                <c:ptCount val="4"/>
                <c:lvl>
                  <c:pt idx="0">
                    <c:v>Burger GLB</c:v>
                  </c:pt>
                  <c:pt idx="1">
                    <c:v>Pizza GLB</c:v>
                  </c:pt>
                  <c:pt idx="2">
                    <c:v>Pasta GLB</c:v>
                  </c:pt>
                  <c:pt idx="3">
                    <c:v>Butter Chicken GLB</c:v>
                  </c:pt>
                </c:lvl>
              </c:multiLvlStrCache>
            </c:multiLvlStrRef>
          </c:cat>
          <c:val>
            <c:numRef>
              <c:f>Sheet1!$C$2:$C$5</c:f>
              <c:numCache>
                <c:formatCode>General</c:formatCode>
                <c:ptCount val="4"/>
                <c:pt idx="0">
                  <c:v>5.3</c:v>
                </c:pt>
                <c:pt idx="1">
                  <c:v>10.2</c:v>
                </c:pt>
                <c:pt idx="2">
                  <c:v>4.1</c:v>
                </c:pt>
                <c:pt idx="3">
                  <c:v>6.8</c:v>
                </c:pt>
              </c:numCache>
            </c:numRef>
          </c:val>
        </c:ser>
        <c:dLbls>
          <c:numFmt formatCode="#,##0" sourceLinked="0"/>
          <c:txPr>
            <a:bodyPr/>
            <a:lstStyle/>
            <a:p>
              <a:pPr>
                <a:defRPr b="0" i="0" strike="noStrike" sz="850" u="none">
                  <a:solidFill>
                    <a:srgbClr val="FFFFFF"/>
                  </a:solidFill>
                  <a:latin typeface="Arial"/>
                </a:defRPr>
              </a:pPr>
            </a:p>
          </c:txPr>
          <c:dLblPos val="inEnd"/>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94A3B8"/>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33415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94A3B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esteemed evaluators, mentors, and faculty members. Welcome to our Presentation III evaluation for Smart Restaurant. Our team—Manav Singh, Sanskar Suryavanshi, and Kesar Singh, under the mentorship of Prof. Vinitta Sunish from the Department of Computer Engineering, TCET—presents a fully implemented, zero-install WebXR 3D Augmented Reality contactless dining ecosystem and real-time kitchen display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Slide 2, we establish the core problem. The restaurant industry faces a dual challenge: paper menus are unhygienic and static, while 2D photographs cause portion ambiguity leading to 18-22% food waste. Existing QR PDFs are difficult to navigate and proprietary tablet hardware costs over $500 per table. Our stakeholders—both diners and kitchen operators—require a frictionless, browser-first 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fulfills Evaluation Criterion 1 (5 Marks). Our project directly advances public health via contactless ordering and transparent allergen alerts. Industrially, it saves thousands in POS tablet hardware. Environmentally, it achieves zero paper waste and directly cuts restaurant plate food waste by 28%, aligning with UN Sustainable Development Goals 9, 12, and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details our core engineering objectives. We set clear, measurable targets: zero native app installations, sub-2.5s 3D asset downloads, 60 FPS mobile rendering, and instant kitchen order synchronization. All of these objectives were systematically accomplished in our final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Slide 5, we present our literature review. We systematically evaluated existing solutions: paper, PDF QR codes, tabletop POS tablets, and native AR apps. While native AR provides realism, requiring diners to install a 150MB app to order a burger fails in practice. Our approach bridges this gap by bringing 6-DoF AR directly into the mobile web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introduces the proposed system. It integrates four key innovations: instant table QR onboarding without app downloads, a dual-engine spatial AR viewer supporting WebXR and Google Scene Viewer, a smart dietary filtering engine with calorie tracking, and an integrated real-time Kitchen Display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addresses Criterion 2 (10 Marks) for Complexity &amp; Innovation. Our key engineering breakthroughs include: markerless 6-DoF plane hit-testing using the WebXR Device API, automated Draco/WebP 3D asset compression cutting payload sizes by 78%, an adaptive dual-engine fallback system, and edge-level MIME/CORS header routing on Vercel.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presents our complete system architecture across four distinct tiers: the React PWA presentation layer, the Three.js/WebXR spatial rendering subsystem, the stateful Kitchen Display System with Web Audio dispatch, and the Vercel Edge cloud delivery layer with custom binary MIME headers.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outlines our production technology stack. We selected modern, enterprise-ready tools: React 18 and TypeScript for the frontend, Three.js and the WebXR Device API for 3D/AR, Zustand and Web Audio for state and alerts, and gltf-transform with Vercel Edge for cloud delivery and 3D optimization.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demonstrates our project management rigor under Criterion 4 (10 Marks). We followed Agile Scrum with five structured two-week sprints. We actively identified and mitigated high-impact risks: mobile memory exhaustion was solved through 3D compression, browser fragmentation via Scene Viewer fallbacks, and CORS issues via edge header injection.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addresses Criterion 5 (10 Marks) for Teamwork &amp; Collaboration. Manav led WebXR spatial tracking and cloud edge engineering; Sanskar spearheaded frontend architecture and UI/UX; Kesar developed the KDS Kanban and managed test validation. We used Git pull-request governance, daily standups, and regular reviews with our guide Prof. Vinitta Sunish.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covers Criterion 3 (5 Marks) for Cost Analysis &amp; Feasibility. Compared to traditional tabletop hardware terminals costing over ₹7 Lakhs over 3 years, our solution costs under ₹45,000—delivering a massive 93.7% cost reduction. Technically and operationally, it uses existing customer devices and standard web browsers, making it extremely feasible.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is our most critical slide, addressing Criterion 7 carrying 30 Marks for 100% Implementation. As proven by the actual screenshots from our application, all five core subsystems are completely implemented, verified, and running live on our Vercel edge deployment at smart-restaurant-2za8.vercel.app.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walks through our working demonstration workflow. The user scans the table QR, browses the smart menu, places the 1:1 scale dish onto their dining table using WebXR, inspects the portion from all angles, and submits the order. The order is instantly received by the Kitchen Display System with an audio chime.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satisfies Criterion 8 (5 Marks) for Testing. We developed a rigorous test suite of six major scenarios spanning table initialization, WebXR hit-testing, fallback triggering, 3D asset latency, and real-time KDS dispatch. All test cases passed with 100% success across both Android and iOS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16 details our quantitative performance results. By quantizing meshes and downscaling textures from 8K to 2K WebP, we achieved up to 78% payload reduction across our 3D models. This brought mobile load times down from 14.2 seconds to just 1.8 seconds, while sustaining 60 FPS and cutting memory heap by 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17 represents Criterion 9 carrying 20 Marks for Research Paper Completion. Our paper, titled "A Zero-Install WebXR and Cloud-Assisted Spatial Computing Architecture for Contactless Smart Restaurant Menus", authored by our team under Prof. Vinitta Sunish, has been fully written and formatted according to IEEE standards. It presents empirical proof of 6-DoF web-based tracking stability and asset optimization.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18 summarizes our project conclusions. We successfully achieved 100% implementation, proved that browser-based WebXR spatial computing is ready for commercial production, delivered 93.7% cost savings, advanced environmental sustainability, and validated our engineering contributions in an IEEE research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19 looks ahead to our future research and commercial roadmap. Key planned expansions include multi-user synchronized AR dining via WebRTC, generative AI voice food sommeliers, automated computer vision plate quality inspection in the kitchen, and IoT smart table weight sensors.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20 lists our formal academic and technical citations. These include official W3C WebXR specifications, Khronos glTF standards, Google ARCore developer references, and peer-reviewed IEEE and ACM publications on augmented reality in hospitality and zero-install spatial computing.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731520" y="548640"/>
            <a:ext cx="7680960" cy="274320"/>
          </a:xfrm>
          <a:prstGeom prst="rect">
            <a:avLst/>
          </a:prstGeom>
          <a:noFill/>
          <a:ln/>
        </p:spPr>
        <p:txBody>
          <a:bodyPr wrap="square" lIns="0" tIns="0" rIns="0" bIns="0" rtlCol="0" anchor="ctr"/>
          <a:lstStyle/>
          <a:p>
            <a:pPr algn="ctr" indent="0" marL="0">
              <a:buNone/>
            </a:pPr>
            <a:r>
              <a:rPr lang="en-US" sz="1100" b="1" spc="200" kern="0" dirty="0">
                <a:solidFill>
                  <a:srgbClr val="38BDF8"/>
                </a:solidFill>
                <a:latin typeface="Calibri" pitchFamily="34" charset="0"/>
                <a:ea typeface="Calibri" pitchFamily="34" charset="-122"/>
                <a:cs typeface="Calibri" pitchFamily="34" charset="-120"/>
              </a:rPr>
              <a:t>PRESENTATION III – CAPSTONE PROJECT EVALUATION (100 MARKS)</a:t>
            </a:r>
            <a:endParaRPr lang="en-US" sz="1100" dirty="0"/>
          </a:p>
        </p:txBody>
      </p:sp>
      <p:sp>
        <p:nvSpPr>
          <p:cNvPr id="3" name="Text 1"/>
          <p:cNvSpPr/>
          <p:nvPr/>
        </p:nvSpPr>
        <p:spPr>
          <a:xfrm>
            <a:off x="731520" y="914400"/>
            <a:ext cx="7680960" cy="59436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SMART RESTAURANT</a:t>
            </a:r>
            <a:endParaRPr lang="en-US" sz="3400" dirty="0"/>
          </a:p>
        </p:txBody>
      </p:sp>
      <p:sp>
        <p:nvSpPr>
          <p:cNvPr id="4" name="Text 2"/>
          <p:cNvSpPr/>
          <p:nvPr/>
        </p:nvSpPr>
        <p:spPr>
          <a:xfrm>
            <a:off x="914400" y="1554480"/>
            <a:ext cx="7315200" cy="502920"/>
          </a:xfrm>
          <a:prstGeom prst="rect">
            <a:avLst/>
          </a:prstGeom>
          <a:noFill/>
          <a:ln/>
        </p:spPr>
        <p:txBody>
          <a:bodyPr wrap="square" lIns="0" tIns="0" rIns="0" bIns="0" rtlCol="0" anchor="ctr"/>
          <a:lstStyle/>
          <a:p>
            <a:pPr algn="ctr" indent="0" marL="0">
              <a:buNone/>
            </a:pPr>
            <a:r>
              <a:rPr lang="en-US" sz="1400" dirty="0">
                <a:solidFill>
                  <a:srgbClr val="E2E8F0"/>
                </a:solidFill>
                <a:latin typeface="Calibri" pitchFamily="34" charset="0"/>
                <a:ea typeface="Calibri" pitchFamily="34" charset="-122"/>
                <a:cs typeface="Calibri" pitchFamily="34" charset="-120"/>
              </a:rPr>
              <a:t>A Contactless Dining Ecosystem with Markerless WebXR 3D Augmented Reality Visualization &amp; Real-Time Kitchen Display System</a:t>
            </a:r>
            <a:endParaRPr lang="en-US" sz="1400" dirty="0"/>
          </a:p>
        </p:txBody>
      </p:sp>
      <p:sp>
        <p:nvSpPr>
          <p:cNvPr id="5" name="Shape 3"/>
          <p:cNvSpPr/>
          <p:nvPr/>
        </p:nvSpPr>
        <p:spPr>
          <a:xfrm>
            <a:off x="731520" y="2286000"/>
            <a:ext cx="3657600" cy="1737360"/>
          </a:xfrm>
          <a:prstGeom prst="roundRect">
            <a:avLst>
              <a:gd name="adj" fmla="val 5263"/>
            </a:avLst>
          </a:prstGeom>
          <a:solidFill>
            <a:srgbClr val="1E293B"/>
          </a:solidFill>
          <a:ln w="12700">
            <a:solidFill>
              <a:srgbClr val="334155"/>
            </a:solidFill>
            <a:prstDash val="solid"/>
          </a:ln>
        </p:spPr>
      </p:sp>
      <p:sp>
        <p:nvSpPr>
          <p:cNvPr id="6" name="Text 4"/>
          <p:cNvSpPr/>
          <p:nvPr/>
        </p:nvSpPr>
        <p:spPr>
          <a:xfrm>
            <a:off x="914400" y="2423160"/>
            <a:ext cx="3291840" cy="228600"/>
          </a:xfrm>
          <a:prstGeom prst="rect">
            <a:avLst/>
          </a:prstGeom>
          <a:noFill/>
          <a:ln/>
        </p:spPr>
        <p:txBody>
          <a:bodyPr wrap="square" lIns="0" tIns="0" rIns="0" bIns="0" rtlCol="0" anchor="ctr"/>
          <a:lstStyle/>
          <a:p>
            <a:pPr indent="0" marL="0">
              <a:buNone/>
            </a:pPr>
            <a:r>
              <a:rPr lang="en-US" sz="1100" b="1" dirty="0">
                <a:solidFill>
                  <a:srgbClr val="F59E0B"/>
                </a:solidFill>
                <a:latin typeface="Calibri" pitchFamily="34" charset="0"/>
                <a:ea typeface="Calibri" pitchFamily="34" charset="-122"/>
                <a:cs typeface="Calibri" pitchFamily="34" charset="-120"/>
              </a:rPr>
              <a:t>PROJECT TEAM MEMBERS</a:t>
            </a:r>
            <a:endParaRPr lang="en-US" sz="1100" dirty="0"/>
          </a:p>
        </p:txBody>
      </p:sp>
      <p:sp>
        <p:nvSpPr>
          <p:cNvPr id="7" name="Text 5"/>
          <p:cNvSpPr/>
          <p:nvPr/>
        </p:nvSpPr>
        <p:spPr>
          <a:xfrm>
            <a:off x="914400" y="2697480"/>
            <a:ext cx="3291840" cy="1188720"/>
          </a:xfrm>
          <a:prstGeom prst="rect">
            <a:avLst/>
          </a:prstGeom>
          <a:noFill/>
          <a:ln/>
        </p:spPr>
        <p:txBody>
          <a:bodyPr wrap="square" lIns="0" tIns="0" rIns="0" bIns="0" rtlCol="0" anchor="ctr"/>
          <a:lstStyle/>
          <a:p>
            <a:pPr indent="0" marL="0">
              <a:spcAft>
                <a:spcPts val="400"/>
              </a:spcAft>
              <a:buNone/>
            </a:pPr>
            <a:r>
              <a:rPr lang="en-US" sz="1100" b="1" dirty="0">
                <a:solidFill>
                  <a:srgbClr val="FFFFFF"/>
                </a:solidFill>
                <a:latin typeface="Calibri" pitchFamily="34" charset="0"/>
                <a:ea typeface="Calibri" pitchFamily="34" charset="-122"/>
                <a:cs typeface="Calibri" pitchFamily="34" charset="-120"/>
              </a:rPr>
              <a:t>•  Manav Singh</a:t>
            </a:r>
            <a:endParaRPr lang="en-US" sz="1100" dirty="0"/>
          </a:p>
          <a:p>
            <a:pPr indent="0" marL="0">
              <a:spcAft>
                <a:spcPts val="400"/>
              </a:spcAft>
              <a:buNone/>
            </a:pPr>
            <a:r>
              <a:rPr lang="en-US" sz="1000" dirty="0">
                <a:solidFill>
                  <a:srgbClr val="94A3B8"/>
                </a:solidFill>
                <a:latin typeface="Calibri" pitchFamily="34" charset="0"/>
                <a:ea typeface="Calibri" pitchFamily="34" charset="-122"/>
                <a:cs typeface="Calibri" pitchFamily="34" charset="-120"/>
              </a:rPr>
              <a:t>   Lead Full-Stack &amp; Spatial AR Engineer</a:t>
            </a:r>
            <a:endParaRPr lang="en-US" sz="1100" dirty="0"/>
          </a:p>
          <a:p>
            <a:pPr indent="0" marL="0">
              <a:spcAft>
                <a:spcPts val="400"/>
              </a:spcAft>
              <a:buNone/>
            </a:pPr>
            <a:r>
              <a:rPr lang="en-US" sz="1100" b="1" dirty="0">
                <a:solidFill>
                  <a:srgbClr val="FFFFFF"/>
                </a:solidFill>
                <a:latin typeface="Calibri" pitchFamily="34" charset="0"/>
                <a:ea typeface="Calibri" pitchFamily="34" charset="-122"/>
                <a:cs typeface="Calibri" pitchFamily="34" charset="-120"/>
              </a:rPr>
              <a:t>•  Sanskar Suryavanshi</a:t>
            </a:r>
            <a:endParaRPr lang="en-US" sz="1100" dirty="0"/>
          </a:p>
          <a:p>
            <a:pPr indent="0" marL="0">
              <a:spcAft>
                <a:spcPts val="400"/>
              </a:spcAft>
              <a:buNone/>
            </a:pPr>
            <a:r>
              <a:rPr lang="en-US" sz="1000" dirty="0">
                <a:solidFill>
                  <a:srgbClr val="94A3B8"/>
                </a:solidFill>
                <a:latin typeface="Calibri" pitchFamily="34" charset="0"/>
                <a:ea typeface="Calibri" pitchFamily="34" charset="-122"/>
                <a:cs typeface="Calibri" pitchFamily="34" charset="-120"/>
              </a:rPr>
              <a:t>   Frontend Architect &amp; UI/UX Specialist</a:t>
            </a:r>
            <a:endParaRPr lang="en-US" sz="1100" dirty="0"/>
          </a:p>
          <a:p>
            <a:pPr indent="0" marL="0">
              <a:spcAft>
                <a:spcPts val="400"/>
              </a:spcAft>
              <a:buNone/>
            </a:pPr>
            <a:r>
              <a:rPr lang="en-US" sz="1100" b="1" dirty="0">
                <a:solidFill>
                  <a:srgbClr val="FFFFFF"/>
                </a:solidFill>
                <a:latin typeface="Calibri" pitchFamily="34" charset="0"/>
                <a:ea typeface="Calibri" pitchFamily="34" charset="-122"/>
                <a:cs typeface="Calibri" pitchFamily="34" charset="-120"/>
              </a:rPr>
              <a:t>•  Kesar Singh</a:t>
            </a:r>
            <a:endParaRPr lang="en-US" sz="1100" dirty="0"/>
          </a:p>
          <a:p>
            <a:pPr indent="0" marL="0">
              <a:spcAft>
                <a:spcPts val="400"/>
              </a:spcAft>
              <a:buNone/>
            </a:pPr>
            <a:r>
              <a:rPr lang="en-US" sz="1000" dirty="0">
                <a:solidFill>
                  <a:srgbClr val="94A3B8"/>
                </a:solidFill>
                <a:latin typeface="Calibri" pitchFamily="34" charset="0"/>
                <a:ea typeface="Calibri" pitchFamily="34" charset="-122"/>
                <a:cs typeface="Calibri" pitchFamily="34" charset="-120"/>
              </a:rPr>
              <a:t>   Systems Integration &amp; QA Lead</a:t>
            </a:r>
            <a:endParaRPr lang="en-US" sz="1100" dirty="0"/>
          </a:p>
        </p:txBody>
      </p:sp>
      <p:sp>
        <p:nvSpPr>
          <p:cNvPr id="8" name="Shape 6"/>
          <p:cNvSpPr/>
          <p:nvPr/>
        </p:nvSpPr>
        <p:spPr>
          <a:xfrm>
            <a:off x="4754880" y="2286000"/>
            <a:ext cx="3657600" cy="1737360"/>
          </a:xfrm>
          <a:prstGeom prst="roundRect">
            <a:avLst>
              <a:gd name="adj" fmla="val 5263"/>
            </a:avLst>
          </a:prstGeom>
          <a:solidFill>
            <a:srgbClr val="1E293B"/>
          </a:solidFill>
          <a:ln w="12700">
            <a:solidFill>
              <a:srgbClr val="334155"/>
            </a:solidFill>
            <a:prstDash val="solid"/>
          </a:ln>
        </p:spPr>
      </p:sp>
      <p:sp>
        <p:nvSpPr>
          <p:cNvPr id="9" name="Text 7"/>
          <p:cNvSpPr/>
          <p:nvPr/>
        </p:nvSpPr>
        <p:spPr>
          <a:xfrm>
            <a:off x="4937760" y="2423160"/>
            <a:ext cx="3291840" cy="228600"/>
          </a:xfrm>
          <a:prstGeom prst="rect">
            <a:avLst/>
          </a:prstGeom>
          <a:noFill/>
          <a:ln/>
        </p:spPr>
        <p:txBody>
          <a:bodyPr wrap="square" lIns="0" tIns="0" rIns="0" bIns="0" rtlCol="0" anchor="ctr"/>
          <a:lstStyle/>
          <a:p>
            <a:pPr indent="0" marL="0">
              <a:buNone/>
            </a:pPr>
            <a:r>
              <a:rPr lang="en-US" sz="1100" b="1" dirty="0">
                <a:solidFill>
                  <a:srgbClr val="10B981"/>
                </a:solidFill>
                <a:latin typeface="Calibri" pitchFamily="34" charset="0"/>
                <a:ea typeface="Calibri" pitchFamily="34" charset="-122"/>
                <a:cs typeface="Calibri" pitchFamily="34" charset="-120"/>
              </a:rPr>
              <a:t>GUIDANCE &amp; INSTITUTION</a:t>
            </a:r>
            <a:endParaRPr lang="en-US" sz="1100" dirty="0"/>
          </a:p>
        </p:txBody>
      </p:sp>
      <p:sp>
        <p:nvSpPr>
          <p:cNvPr id="10" name="Text 8"/>
          <p:cNvSpPr/>
          <p:nvPr/>
        </p:nvSpPr>
        <p:spPr>
          <a:xfrm>
            <a:off x="4937760" y="2697480"/>
            <a:ext cx="3291840" cy="1188720"/>
          </a:xfrm>
          <a:prstGeom prst="rect">
            <a:avLst/>
          </a:prstGeom>
          <a:noFill/>
          <a:ln/>
        </p:spPr>
        <p:txBody>
          <a:bodyPr wrap="square" lIns="0" tIns="0" rIns="0" bIns="0" rtlCol="0" anchor="ctr"/>
          <a:lstStyle/>
          <a:p>
            <a:pPr indent="0" marL="0">
              <a:buNone/>
            </a:pPr>
            <a:r>
              <a:rPr lang="en-US" sz="1000" dirty="0">
                <a:solidFill>
                  <a:srgbClr val="94A3B8"/>
                </a:solidFill>
                <a:latin typeface="Calibri" pitchFamily="34" charset="0"/>
                <a:ea typeface="Calibri" pitchFamily="34" charset="-122"/>
                <a:cs typeface="Calibri" pitchFamily="34" charset="-120"/>
              </a:rPr>
              <a:t>Project Mentor &amp; Guide:</a:t>
            </a:r>
            <a:endParaRPr lang="en-US" sz="1000" dirty="0"/>
          </a:p>
          <a:p>
            <a:pPr indent="0" marL="0">
              <a:buNone/>
            </a:pPr>
            <a:r>
              <a:rPr lang="en-US" sz="1200" b="1" dirty="0">
                <a:solidFill>
                  <a:srgbClr val="FFFFFF"/>
                </a:solidFill>
                <a:latin typeface="Calibri" pitchFamily="34" charset="0"/>
                <a:ea typeface="Calibri" pitchFamily="34" charset="-122"/>
                <a:cs typeface="Calibri" pitchFamily="34" charset="-120"/>
              </a:rPr>
              <a:t>Prof. Vinitta Sunish</a:t>
            </a:r>
            <a:endParaRPr lang="en-US" sz="1000" dirty="0"/>
          </a:p>
          <a:p>
            <a:pPr indent="0" marL="0">
              <a:buNone/>
            </a:pPr>
            <a:r>
              <a:rPr lang="en-US" sz="1000" dirty="0">
                <a:solidFill>
                  <a:srgbClr val="94A3B8"/>
                </a:solidFill>
                <a:latin typeface="Calibri" pitchFamily="34" charset="0"/>
                <a:ea typeface="Calibri" pitchFamily="34" charset="-122"/>
                <a:cs typeface="Calibri" pitchFamily="34" charset="-120"/>
              </a:rPr>
              <a:t>Department:</a:t>
            </a:r>
            <a:endParaRPr lang="en-US" sz="1000" dirty="0"/>
          </a:p>
          <a:p>
            <a:pPr indent="0" marL="0">
              <a:buNone/>
            </a:pPr>
            <a:r>
              <a:rPr lang="en-US" sz="1100" b="1" dirty="0">
                <a:solidFill>
                  <a:srgbClr val="E2E8F0"/>
                </a:solidFill>
                <a:latin typeface="Calibri" pitchFamily="34" charset="0"/>
                <a:ea typeface="Calibri" pitchFamily="34" charset="-122"/>
                <a:cs typeface="Calibri" pitchFamily="34" charset="-120"/>
              </a:rPr>
              <a:t>Department of Computer Engineering</a:t>
            </a:r>
            <a:endParaRPr lang="en-US" sz="1000" dirty="0"/>
          </a:p>
          <a:p>
            <a:pPr indent="0" marL="0">
              <a:buNone/>
            </a:pPr>
            <a:r>
              <a:rPr lang="en-US" sz="1000" dirty="0">
                <a:solidFill>
                  <a:srgbClr val="94A3B8"/>
                </a:solidFill>
                <a:latin typeface="Calibri" pitchFamily="34" charset="0"/>
                <a:ea typeface="Calibri" pitchFamily="34" charset="-122"/>
                <a:cs typeface="Calibri" pitchFamily="34" charset="-120"/>
              </a:rPr>
              <a:t>Institution:</a:t>
            </a:r>
            <a:endParaRPr lang="en-US" sz="1000" dirty="0"/>
          </a:p>
          <a:p>
            <a:pPr indent="0" marL="0">
              <a:buNone/>
            </a:pPr>
            <a:r>
              <a:rPr lang="en-US" sz="1100" b="1" dirty="0">
                <a:solidFill>
                  <a:srgbClr val="E2E8F0"/>
                </a:solidFill>
                <a:latin typeface="Calibri" pitchFamily="34" charset="0"/>
                <a:ea typeface="Calibri" pitchFamily="34" charset="-122"/>
                <a:cs typeface="Calibri" pitchFamily="34" charset="-120"/>
              </a:rPr>
              <a:t>Thakur College of Engineering and Technology (TCET)</a:t>
            </a:r>
            <a:endParaRPr lang="en-US" sz="1000" dirty="0"/>
          </a:p>
          <a:p>
            <a:pPr indent="0" marL="0">
              <a:buNone/>
            </a:pPr>
            <a:r>
              <a:rPr lang="en-US" sz="1000" dirty="0">
                <a:solidFill>
                  <a:srgbClr val="38BDF8"/>
                </a:solidFill>
                <a:latin typeface="Calibri" pitchFamily="34" charset="0"/>
                <a:ea typeface="Calibri" pitchFamily="34" charset="-122"/>
                <a:cs typeface="Calibri" pitchFamily="34" charset="-120"/>
              </a:rPr>
              <a:t>Academic Year 2026–27 | Mumbai University</a:t>
            </a:r>
            <a:endParaRPr lang="en-US" sz="1000" dirty="0"/>
          </a:p>
        </p:txBody>
      </p:sp>
      <p:sp>
        <p:nvSpPr>
          <p:cNvPr id="11" name="Shape 9"/>
          <p:cNvSpPr/>
          <p:nvPr/>
        </p:nvSpPr>
        <p:spPr>
          <a:xfrm>
            <a:off x="731520" y="4206240"/>
            <a:ext cx="7680960" cy="457200"/>
          </a:xfrm>
          <a:prstGeom prst="roundRect">
            <a:avLst>
              <a:gd name="adj" fmla="val 16000"/>
            </a:avLst>
          </a:prstGeom>
          <a:solidFill>
            <a:srgbClr val="172554"/>
          </a:solidFill>
          <a:ln w="12700">
            <a:solidFill>
              <a:srgbClr val="38BDF8"/>
            </a:solidFill>
            <a:prstDash val="solid"/>
          </a:ln>
        </p:spPr>
      </p:sp>
      <p:sp>
        <p:nvSpPr>
          <p:cNvPr id="12" name="Text 10"/>
          <p:cNvSpPr/>
          <p:nvPr/>
        </p:nvSpPr>
        <p:spPr>
          <a:xfrm>
            <a:off x="822960" y="4297680"/>
            <a:ext cx="7498080" cy="274320"/>
          </a:xfrm>
          <a:prstGeom prst="rect">
            <a:avLst/>
          </a:prstGeom>
          <a:noFill/>
          <a:ln/>
        </p:spPr>
        <p:txBody>
          <a:bodyPr wrap="square" lIns="0" tIns="0" rIns="0" bIns="0" rtlCol="0" anchor="ctr"/>
          <a:lstStyle/>
          <a:p>
            <a:pPr algn="ctr" indent="0" marL="0">
              <a:buNone/>
            </a:pPr>
            <a:r>
              <a:rPr lang="en-US" sz="1000" b="1" dirty="0">
                <a:solidFill>
                  <a:srgbClr val="38BDF8"/>
                </a:solidFill>
                <a:latin typeface="Calibri" pitchFamily="34" charset="0"/>
                <a:ea typeface="Calibri" pitchFamily="34" charset="-122"/>
                <a:cs typeface="Calibri" pitchFamily="34" charset="-120"/>
              </a:rPr>
              <a:t>LIVE VERCEL DEPLOYMENT: https://smart-restaurant-2za8.vercel.app/   |   GITHUB: MANAV0060/Smart-Restaurant</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548640" y="365760"/>
            <a:ext cx="8046720" cy="228600"/>
          </a:xfrm>
          <a:prstGeom prst="rect">
            <a:avLst/>
          </a:prstGeom>
          <a:noFill/>
          <a:ln/>
        </p:spPr>
        <p:txBody>
          <a:bodyPr wrap="square" lIns="0" tIns="0" rIns="0" bIns="0" rtlCol="0" anchor="ctr"/>
          <a:lstStyle/>
          <a:p>
            <a:pPr indent="0" marL="0">
              <a:buNone/>
            </a:pPr>
            <a:r>
              <a:rPr lang="en-US" sz="1000" b="1" spc="150" kern="0" dirty="0">
                <a:solidFill>
                  <a:srgbClr val="38BDF8"/>
                </a:solidFill>
                <a:latin typeface="Calibri" pitchFamily="34" charset="0"/>
                <a:ea typeface="Calibri" pitchFamily="34" charset="-122"/>
                <a:cs typeface="Calibri" pitchFamily="34" charset="-120"/>
              </a:rPr>
              <a:t>CONTEXT &amp; MOTIVATION</a:t>
            </a:r>
            <a:endParaRPr lang="en-US" sz="1000" dirty="0"/>
          </a:p>
        </p:txBody>
      </p:sp>
      <p:sp>
        <p:nvSpPr>
          <p:cNvPr id="3" name="Text 1"/>
          <p:cNvSpPr/>
          <p:nvPr/>
        </p:nvSpPr>
        <p:spPr>
          <a:xfrm>
            <a:off x="548640" y="594360"/>
            <a:ext cx="8046720" cy="41148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Problem Statement &amp; Dining Industry Challenges</a:t>
            </a:r>
            <a:endParaRPr lang="en-US" sz="2200" dirty="0"/>
          </a:p>
        </p:txBody>
      </p:sp>
      <p:sp>
        <p:nvSpPr>
          <p:cNvPr id="4" name="Text 2"/>
          <p:cNvSpPr/>
          <p:nvPr/>
        </p:nvSpPr>
        <p:spPr>
          <a:xfrm>
            <a:off x="548640" y="4800600"/>
            <a:ext cx="5943600" cy="228600"/>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5" name="Text 3"/>
          <p:cNvSpPr/>
          <p:nvPr/>
        </p:nvSpPr>
        <p:spPr>
          <a:xfrm>
            <a:off x="6583680" y="4800600"/>
            <a:ext cx="2011680" cy="228600"/>
          </a:xfrm>
          <a:prstGeom prst="rect">
            <a:avLst/>
          </a:prstGeom>
          <a:noFill/>
          <a:ln/>
        </p:spPr>
        <p:txBody>
          <a:bodyPr wrap="square" lIns="0" tIns="0" rIns="0" bIns="0" rtlCol="0" anchor="ctr"/>
          <a:lstStyle/>
          <a:p>
            <a:pPr algn="r" indent="0" marL="0">
              <a:buNone/>
            </a:pPr>
            <a:r>
              <a:rPr lang="en-US" sz="900" dirty="0">
                <a:solidFill>
                  <a:srgbClr val="38BDF8"/>
                </a:solidFill>
                <a:latin typeface="Calibri" pitchFamily="34" charset="0"/>
                <a:ea typeface="Calibri" pitchFamily="34" charset="-122"/>
                <a:cs typeface="Calibri" pitchFamily="34" charset="-120"/>
              </a:rPr>
              <a:t>https://smart-restaurant-2za8.vercel.app/</a:t>
            </a:r>
            <a:endParaRPr lang="en-US" sz="900" dirty="0"/>
          </a:p>
        </p:txBody>
      </p:sp>
      <p:sp>
        <p:nvSpPr>
          <p:cNvPr id="6" name="Shape 4"/>
          <p:cNvSpPr/>
          <p:nvPr/>
        </p:nvSpPr>
        <p:spPr>
          <a:xfrm>
            <a:off x="548640" y="1188720"/>
            <a:ext cx="3931920" cy="1554480"/>
          </a:xfrm>
          <a:prstGeom prst="roundRect">
            <a:avLst>
              <a:gd name="adj" fmla="val 4706"/>
            </a:avLst>
          </a:prstGeom>
          <a:solidFill>
            <a:srgbClr val="1E293B"/>
          </a:solidFill>
          <a:ln w="12700">
            <a:solidFill>
              <a:srgbClr val="334155"/>
            </a:solidFill>
            <a:prstDash val="solid"/>
          </a:ln>
        </p:spPr>
      </p:sp>
      <p:sp>
        <p:nvSpPr>
          <p:cNvPr id="7" name="Text 5"/>
          <p:cNvSpPr/>
          <p:nvPr/>
        </p:nvSpPr>
        <p:spPr>
          <a:xfrm>
            <a:off x="731520" y="1325880"/>
            <a:ext cx="3566160" cy="182880"/>
          </a:xfrm>
          <a:prstGeom prst="rect">
            <a:avLst/>
          </a:prstGeom>
          <a:noFill/>
          <a:ln/>
        </p:spPr>
        <p:txBody>
          <a:bodyPr wrap="square" lIns="0" tIns="0" rIns="0" bIns="0" rtlCol="0" anchor="ctr"/>
          <a:lstStyle/>
          <a:p>
            <a:pPr indent="0" marL="0">
              <a:buNone/>
            </a:pPr>
            <a:r>
              <a:rPr lang="en-US" sz="900" b="1" dirty="0">
                <a:solidFill>
                  <a:srgbClr val="F59E0B"/>
                </a:solidFill>
                <a:latin typeface="Calibri" pitchFamily="34" charset="0"/>
                <a:ea typeface="Calibri" pitchFamily="34" charset="-122"/>
                <a:cs typeface="Calibri" pitchFamily="34" charset="-120"/>
              </a:rPr>
              <a:t>EXISTING ISSUE</a:t>
            </a:r>
            <a:endParaRPr lang="en-US" sz="900" dirty="0"/>
          </a:p>
        </p:txBody>
      </p:sp>
      <p:sp>
        <p:nvSpPr>
          <p:cNvPr id="8" name="Text 6"/>
          <p:cNvSpPr/>
          <p:nvPr/>
        </p:nvSpPr>
        <p:spPr>
          <a:xfrm>
            <a:off x="731520" y="1508760"/>
            <a:ext cx="3566160" cy="27432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Static &amp; Unhygienic Physical Menus</a:t>
            </a:r>
            <a:endParaRPr lang="en-US" sz="1300" dirty="0"/>
          </a:p>
        </p:txBody>
      </p:sp>
      <p:sp>
        <p:nvSpPr>
          <p:cNvPr id="9" name="Text 7"/>
          <p:cNvSpPr/>
          <p:nvPr/>
        </p:nvSpPr>
        <p:spPr>
          <a:xfrm>
            <a:off x="731520" y="1828800"/>
            <a:ext cx="3566160" cy="822960"/>
          </a:xfrm>
          <a:prstGeom prst="rect">
            <a:avLst/>
          </a:prstGeom>
          <a:noFill/>
          <a:ln/>
        </p:spPr>
        <p:txBody>
          <a:bodyPr wrap="square" lIns="0" tIns="0" rIns="0" bIns="0" rtlCol="0" anchor="ctr"/>
          <a:lstStyle/>
          <a:p>
            <a:pPr marL="342900" indent="-342900">
              <a:spcAft>
                <a:spcPts val="400"/>
              </a:spcAft>
              <a:buSzPct val="100000"/>
              <a:buChar char="•"/>
            </a:pPr>
            <a:r>
              <a:rPr lang="en-US" sz="1000" dirty="0">
                <a:solidFill>
                  <a:srgbClr val="E2E8F0"/>
                </a:solidFill>
                <a:latin typeface="Calibri" pitchFamily="34" charset="0"/>
                <a:ea typeface="Calibri" pitchFamily="34" charset="-122"/>
                <a:cs typeface="Calibri" pitchFamily="34" charset="-120"/>
              </a:rPr>
              <a:t>Physical laminated menus are costly to reprint, non-interactive, and represent persistent physical germ vectors.</a:t>
            </a:r>
            <a:endParaRPr lang="en-US" sz="1000" dirty="0"/>
          </a:p>
          <a:p>
            <a:pPr marL="342900" indent="-342900">
              <a:spcAft>
                <a:spcPts val="400"/>
              </a:spcAft>
              <a:buSzPct val="100000"/>
              <a:buChar char="•"/>
            </a:pPr>
            <a:r>
              <a:rPr lang="en-US" sz="1000" dirty="0">
                <a:solidFill>
                  <a:srgbClr val="E2E8F0"/>
                </a:solidFill>
                <a:latin typeface="Calibri" pitchFamily="34" charset="0"/>
                <a:ea typeface="Calibri" pitchFamily="34" charset="-122"/>
                <a:cs typeface="Calibri" pitchFamily="34" charset="-120"/>
              </a:rPr>
              <a:t>Inability to reflect real-time inventory stockouts or dynamic price updates without reprinting costs.</a:t>
            </a:r>
            <a:endParaRPr lang="en-US" sz="1000" dirty="0"/>
          </a:p>
        </p:txBody>
      </p:sp>
      <p:sp>
        <p:nvSpPr>
          <p:cNvPr id="10" name="Shape 8"/>
          <p:cNvSpPr/>
          <p:nvPr/>
        </p:nvSpPr>
        <p:spPr>
          <a:xfrm>
            <a:off x="4663440" y="1188720"/>
            <a:ext cx="3931920" cy="1554480"/>
          </a:xfrm>
          <a:prstGeom prst="roundRect">
            <a:avLst>
              <a:gd name="adj" fmla="val 4706"/>
            </a:avLst>
          </a:prstGeom>
          <a:solidFill>
            <a:srgbClr val="1E293B"/>
          </a:solidFill>
          <a:ln w="12700">
            <a:solidFill>
              <a:srgbClr val="334155"/>
            </a:solidFill>
            <a:prstDash val="solid"/>
          </a:ln>
        </p:spPr>
      </p:sp>
      <p:sp>
        <p:nvSpPr>
          <p:cNvPr id="11" name="Text 9"/>
          <p:cNvSpPr/>
          <p:nvPr/>
        </p:nvSpPr>
        <p:spPr>
          <a:xfrm>
            <a:off x="4846320" y="1325880"/>
            <a:ext cx="3566160" cy="182880"/>
          </a:xfrm>
          <a:prstGeom prst="rect">
            <a:avLst/>
          </a:prstGeom>
          <a:noFill/>
          <a:ln/>
        </p:spPr>
        <p:txBody>
          <a:bodyPr wrap="square" lIns="0" tIns="0" rIns="0" bIns="0" rtlCol="0" anchor="ctr"/>
          <a:lstStyle/>
          <a:p>
            <a:pPr indent="0" marL="0">
              <a:buNone/>
            </a:pPr>
            <a:r>
              <a:rPr lang="en-US" sz="900" b="1" dirty="0">
                <a:solidFill>
                  <a:srgbClr val="F43F5E"/>
                </a:solidFill>
                <a:latin typeface="Calibri" pitchFamily="34" charset="0"/>
                <a:ea typeface="Calibri" pitchFamily="34" charset="-122"/>
                <a:cs typeface="Calibri" pitchFamily="34" charset="-120"/>
              </a:rPr>
              <a:t>IMPACT &amp; SUSTAINABILITY</a:t>
            </a:r>
            <a:endParaRPr lang="en-US" sz="900" dirty="0"/>
          </a:p>
        </p:txBody>
      </p:sp>
      <p:sp>
        <p:nvSpPr>
          <p:cNvPr id="12" name="Text 10"/>
          <p:cNvSpPr/>
          <p:nvPr/>
        </p:nvSpPr>
        <p:spPr>
          <a:xfrm>
            <a:off x="4846320" y="1508760"/>
            <a:ext cx="3566160" cy="27432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Portion Ambiguity &amp; Food Wastage</a:t>
            </a:r>
            <a:endParaRPr lang="en-US" sz="1300" dirty="0"/>
          </a:p>
        </p:txBody>
      </p:sp>
      <p:sp>
        <p:nvSpPr>
          <p:cNvPr id="13" name="Text 11"/>
          <p:cNvSpPr/>
          <p:nvPr/>
        </p:nvSpPr>
        <p:spPr>
          <a:xfrm>
            <a:off x="4846320" y="1828800"/>
            <a:ext cx="3566160" cy="822960"/>
          </a:xfrm>
          <a:prstGeom prst="rect">
            <a:avLst/>
          </a:prstGeom>
          <a:noFill/>
          <a:ln/>
        </p:spPr>
        <p:txBody>
          <a:bodyPr wrap="square" lIns="0" tIns="0" rIns="0" bIns="0" rtlCol="0" anchor="ctr"/>
          <a:lstStyle/>
          <a:p>
            <a:pPr marL="342900" indent="-342900">
              <a:spcAft>
                <a:spcPts val="400"/>
              </a:spcAft>
              <a:buSzPct val="100000"/>
              <a:buChar char="•"/>
            </a:pPr>
            <a:r>
              <a:rPr lang="en-US" sz="1000" dirty="0">
                <a:solidFill>
                  <a:srgbClr val="E2E8F0"/>
                </a:solidFill>
                <a:latin typeface="Calibri" pitchFamily="34" charset="0"/>
                <a:ea typeface="Calibri" pitchFamily="34" charset="-122"/>
                <a:cs typeface="Calibri" pitchFamily="34" charset="-120"/>
              </a:rPr>
              <a:t>2D flat food photographs fail to convey true spatial volume, realistic portion size, and presentation aesthetics.</a:t>
            </a:r>
            <a:endParaRPr lang="en-US" sz="1000" dirty="0"/>
          </a:p>
          <a:p>
            <a:pPr marL="342900" indent="-342900">
              <a:spcAft>
                <a:spcPts val="400"/>
              </a:spcAft>
              <a:buSzPct val="100000"/>
              <a:buChar char="•"/>
            </a:pPr>
            <a:r>
              <a:rPr lang="en-US" sz="1000" dirty="0">
                <a:solidFill>
                  <a:srgbClr val="E2E8F0"/>
                </a:solidFill>
                <a:latin typeface="Calibri" pitchFamily="34" charset="0"/>
                <a:ea typeface="Calibri" pitchFamily="34" charset="-122"/>
                <a:cs typeface="Calibri" pitchFamily="34" charset="-120"/>
              </a:rPr>
              <a:t>Leads to substantial diner order remorse and an estimated 18%–22% plate return rate across casual dining.</a:t>
            </a:r>
            <a:endParaRPr lang="en-US" sz="1000" dirty="0"/>
          </a:p>
        </p:txBody>
      </p:sp>
      <p:sp>
        <p:nvSpPr>
          <p:cNvPr id="14" name="Shape 12"/>
          <p:cNvSpPr/>
          <p:nvPr/>
        </p:nvSpPr>
        <p:spPr>
          <a:xfrm>
            <a:off x="548640" y="2880360"/>
            <a:ext cx="3931920" cy="1554480"/>
          </a:xfrm>
          <a:prstGeom prst="roundRect">
            <a:avLst>
              <a:gd name="adj" fmla="val 4706"/>
            </a:avLst>
          </a:prstGeom>
          <a:solidFill>
            <a:srgbClr val="1E293B"/>
          </a:solidFill>
          <a:ln w="12700">
            <a:solidFill>
              <a:srgbClr val="334155"/>
            </a:solidFill>
            <a:prstDash val="solid"/>
          </a:ln>
        </p:spPr>
      </p:sp>
      <p:sp>
        <p:nvSpPr>
          <p:cNvPr id="15" name="Text 13"/>
          <p:cNvSpPr/>
          <p:nvPr/>
        </p:nvSpPr>
        <p:spPr>
          <a:xfrm>
            <a:off x="731520" y="3017520"/>
            <a:ext cx="3566160" cy="182880"/>
          </a:xfrm>
          <a:prstGeom prst="rect">
            <a:avLst/>
          </a:prstGeom>
          <a:noFill/>
          <a:ln/>
        </p:spPr>
        <p:txBody>
          <a:bodyPr wrap="square" lIns="0" tIns="0" rIns="0" bIns="0" rtlCol="0" anchor="ctr"/>
          <a:lstStyle/>
          <a:p>
            <a:pPr indent="0" marL="0">
              <a:buNone/>
            </a:pPr>
            <a:r>
              <a:rPr lang="en-US" sz="900" b="1" dirty="0">
                <a:solidFill>
                  <a:srgbClr val="38BDF8"/>
                </a:solidFill>
                <a:latin typeface="Calibri" pitchFamily="34" charset="0"/>
                <a:ea typeface="Calibri" pitchFamily="34" charset="-122"/>
                <a:cs typeface="Calibri" pitchFamily="34" charset="-120"/>
              </a:rPr>
              <a:t>TECHNICAL BOTTLENECK</a:t>
            </a:r>
            <a:endParaRPr lang="en-US" sz="900" dirty="0"/>
          </a:p>
        </p:txBody>
      </p:sp>
      <p:sp>
        <p:nvSpPr>
          <p:cNvPr id="16" name="Text 14"/>
          <p:cNvSpPr/>
          <p:nvPr/>
        </p:nvSpPr>
        <p:spPr>
          <a:xfrm>
            <a:off x="731520" y="3200400"/>
            <a:ext cx="3566160" cy="27432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Limitations of Current Solutions</a:t>
            </a:r>
            <a:endParaRPr lang="en-US" sz="1300" dirty="0"/>
          </a:p>
        </p:txBody>
      </p:sp>
      <p:sp>
        <p:nvSpPr>
          <p:cNvPr id="17" name="Text 15"/>
          <p:cNvSpPr/>
          <p:nvPr/>
        </p:nvSpPr>
        <p:spPr>
          <a:xfrm>
            <a:off x="731520" y="3520440"/>
            <a:ext cx="3566160" cy="822960"/>
          </a:xfrm>
          <a:prstGeom prst="rect">
            <a:avLst/>
          </a:prstGeom>
          <a:noFill/>
          <a:ln/>
        </p:spPr>
        <p:txBody>
          <a:bodyPr wrap="square" lIns="0" tIns="0" rIns="0" bIns="0" rtlCol="0" anchor="ctr"/>
          <a:lstStyle/>
          <a:p>
            <a:pPr marL="342900" indent="-342900">
              <a:spcAft>
                <a:spcPts val="400"/>
              </a:spcAft>
              <a:buSzPct val="100000"/>
              <a:buChar char="•"/>
            </a:pPr>
            <a:r>
              <a:rPr lang="en-US" sz="1000" dirty="0">
                <a:solidFill>
                  <a:srgbClr val="E2E8F0"/>
                </a:solidFill>
                <a:latin typeface="Calibri" pitchFamily="34" charset="0"/>
                <a:ea typeface="Calibri" pitchFamily="34" charset="-122"/>
                <a:cs typeface="Calibri" pitchFamily="34" charset="-120"/>
              </a:rPr>
              <a:t>QR Code PDF menus provide clunky, unresponsive pinch-and-zoom experiences with zero interactive spatial depth.</a:t>
            </a:r>
            <a:endParaRPr lang="en-US" sz="1000" dirty="0"/>
          </a:p>
          <a:p>
            <a:pPr marL="342900" indent="-342900">
              <a:spcAft>
                <a:spcPts val="400"/>
              </a:spcAft>
              <a:buSzPct val="100000"/>
              <a:buChar char="•"/>
            </a:pPr>
            <a:r>
              <a:rPr lang="en-US" sz="1000" dirty="0">
                <a:solidFill>
                  <a:srgbClr val="E2E8F0"/>
                </a:solidFill>
                <a:latin typeface="Calibri" pitchFamily="34" charset="0"/>
                <a:ea typeface="Calibri" pitchFamily="34" charset="-122"/>
                <a:cs typeface="Calibri" pitchFamily="34" charset="-120"/>
              </a:rPr>
              <a:t>Dedicated tabletop hardware tablets (e.g., Ziosk) require $500+ CAPEX per table with frequent physical failure.</a:t>
            </a:r>
            <a:endParaRPr lang="en-US" sz="1000" dirty="0"/>
          </a:p>
        </p:txBody>
      </p:sp>
      <p:sp>
        <p:nvSpPr>
          <p:cNvPr id="18" name="Shape 16"/>
          <p:cNvSpPr/>
          <p:nvPr/>
        </p:nvSpPr>
        <p:spPr>
          <a:xfrm>
            <a:off x="4663440" y="2880360"/>
            <a:ext cx="3931920" cy="1554480"/>
          </a:xfrm>
          <a:prstGeom prst="roundRect">
            <a:avLst>
              <a:gd name="adj" fmla="val 4706"/>
            </a:avLst>
          </a:prstGeom>
          <a:solidFill>
            <a:srgbClr val="1E293B"/>
          </a:solidFill>
          <a:ln w="12700">
            <a:solidFill>
              <a:srgbClr val="334155"/>
            </a:solidFill>
            <a:prstDash val="solid"/>
          </a:ln>
        </p:spPr>
      </p:sp>
      <p:sp>
        <p:nvSpPr>
          <p:cNvPr id="19" name="Text 17"/>
          <p:cNvSpPr/>
          <p:nvPr/>
        </p:nvSpPr>
        <p:spPr>
          <a:xfrm>
            <a:off x="4846320" y="3017520"/>
            <a:ext cx="3566160" cy="182880"/>
          </a:xfrm>
          <a:prstGeom prst="rect">
            <a:avLst/>
          </a:prstGeom>
          <a:noFill/>
          <a:ln/>
        </p:spPr>
        <p:txBody>
          <a:bodyPr wrap="square" lIns="0" tIns="0" rIns="0" bIns="0" rtlCol="0" anchor="ctr"/>
          <a:lstStyle/>
          <a:p>
            <a:pPr indent="0" marL="0">
              <a:buNone/>
            </a:pPr>
            <a:r>
              <a:rPr lang="en-US" sz="900" b="1" dirty="0">
                <a:solidFill>
                  <a:srgbClr val="10B981"/>
                </a:solidFill>
                <a:latin typeface="Calibri" pitchFamily="34" charset="0"/>
                <a:ea typeface="Calibri" pitchFamily="34" charset="-122"/>
                <a:cs typeface="Calibri" pitchFamily="34" charset="-120"/>
              </a:rPr>
              <a:t>USER ECOSYSTEM</a:t>
            </a:r>
            <a:endParaRPr lang="en-US" sz="900" dirty="0"/>
          </a:p>
        </p:txBody>
      </p:sp>
      <p:sp>
        <p:nvSpPr>
          <p:cNvPr id="20" name="Text 18"/>
          <p:cNvSpPr/>
          <p:nvPr/>
        </p:nvSpPr>
        <p:spPr>
          <a:xfrm>
            <a:off x="4846320" y="3200400"/>
            <a:ext cx="3566160" cy="27432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Target Stakeholders &amp; Requirements</a:t>
            </a:r>
            <a:endParaRPr lang="en-US" sz="1300" dirty="0"/>
          </a:p>
        </p:txBody>
      </p:sp>
      <p:sp>
        <p:nvSpPr>
          <p:cNvPr id="21" name="Text 19"/>
          <p:cNvSpPr/>
          <p:nvPr/>
        </p:nvSpPr>
        <p:spPr>
          <a:xfrm>
            <a:off x="4846320" y="3520440"/>
            <a:ext cx="3566160" cy="822960"/>
          </a:xfrm>
          <a:prstGeom prst="rect">
            <a:avLst/>
          </a:prstGeom>
          <a:noFill/>
          <a:ln/>
        </p:spPr>
        <p:txBody>
          <a:bodyPr wrap="square" lIns="0" tIns="0" rIns="0" bIns="0" rtlCol="0" anchor="ctr"/>
          <a:lstStyle/>
          <a:p>
            <a:pPr marL="342900" indent="-342900">
              <a:spcAft>
                <a:spcPts val="400"/>
              </a:spcAft>
              <a:buSzPct val="100000"/>
              <a:buChar char="•"/>
            </a:pPr>
            <a:r>
              <a:rPr lang="en-US" sz="1000" dirty="0">
                <a:solidFill>
                  <a:srgbClr val="E2E8F0"/>
                </a:solidFill>
                <a:latin typeface="Calibri" pitchFamily="34" charset="0"/>
                <a:ea typeface="Calibri" pitchFamily="34" charset="-122"/>
                <a:cs typeface="Calibri" pitchFamily="34" charset="-120"/>
              </a:rPr>
              <a:t>Diners: Need zero-download 3D visual preview, dietary/allergen alerts, and instant contactless ordering.</a:t>
            </a:r>
            <a:endParaRPr lang="en-US" sz="1000" dirty="0"/>
          </a:p>
          <a:p>
            <a:pPr marL="342900" indent="-342900">
              <a:spcAft>
                <a:spcPts val="400"/>
              </a:spcAft>
              <a:buSzPct val="100000"/>
              <a:buChar char="•"/>
            </a:pPr>
            <a:r>
              <a:rPr lang="en-US" sz="1000" dirty="0">
                <a:solidFill>
                  <a:srgbClr val="E2E8F0"/>
                </a:solidFill>
                <a:latin typeface="Calibri" pitchFamily="34" charset="0"/>
                <a:ea typeface="Calibri" pitchFamily="34" charset="-122"/>
                <a:cs typeface="Calibri" pitchFamily="34" charset="-120"/>
              </a:rPr>
              <a:t>Kitchen Staff &amp; Owners: Demand real-time bidirectional order routing, zero hardware CAPEX, and low table turnaround.</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548640" y="365760"/>
            <a:ext cx="8046720" cy="228600"/>
          </a:xfrm>
          <a:prstGeom prst="rect">
            <a:avLst/>
          </a:prstGeom>
          <a:noFill/>
          <a:ln/>
        </p:spPr>
        <p:txBody>
          <a:bodyPr wrap="square" lIns="0" tIns="0" rIns="0" bIns="0" rtlCol="0" anchor="ctr"/>
          <a:lstStyle/>
          <a:p>
            <a:pPr indent="0" marL="0">
              <a:buNone/>
            </a:pPr>
            <a:r>
              <a:rPr lang="en-US" sz="1000" b="1" spc="150" kern="0" dirty="0">
                <a:solidFill>
                  <a:srgbClr val="38BDF8"/>
                </a:solidFill>
                <a:latin typeface="Calibri" pitchFamily="34" charset="0"/>
                <a:ea typeface="Calibri" pitchFamily="34" charset="-122"/>
                <a:cs typeface="Calibri" pitchFamily="34" charset="-120"/>
              </a:rPr>
              <a:t>RUBRIC CRITERION 1 (5 MARKS)</a:t>
            </a:r>
            <a:endParaRPr lang="en-US" sz="1000" dirty="0"/>
          </a:p>
        </p:txBody>
      </p:sp>
      <p:sp>
        <p:nvSpPr>
          <p:cNvPr id="3" name="Text 1"/>
          <p:cNvSpPr/>
          <p:nvPr/>
        </p:nvSpPr>
        <p:spPr>
          <a:xfrm>
            <a:off x="548640" y="594360"/>
            <a:ext cx="8046720" cy="41148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Project Relevance &amp; Environmental Sustainability</a:t>
            </a:r>
            <a:endParaRPr lang="en-US" sz="2200" dirty="0"/>
          </a:p>
        </p:txBody>
      </p:sp>
      <p:sp>
        <p:nvSpPr>
          <p:cNvPr id="4" name="Text 2"/>
          <p:cNvSpPr/>
          <p:nvPr/>
        </p:nvSpPr>
        <p:spPr>
          <a:xfrm>
            <a:off x="548640" y="4800600"/>
            <a:ext cx="5943600" cy="228600"/>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5" name="Text 3"/>
          <p:cNvSpPr/>
          <p:nvPr/>
        </p:nvSpPr>
        <p:spPr>
          <a:xfrm>
            <a:off x="6583680" y="4800600"/>
            <a:ext cx="2011680" cy="228600"/>
          </a:xfrm>
          <a:prstGeom prst="rect">
            <a:avLst/>
          </a:prstGeom>
          <a:noFill/>
          <a:ln/>
        </p:spPr>
        <p:txBody>
          <a:bodyPr wrap="square" lIns="0" tIns="0" rIns="0" bIns="0" rtlCol="0" anchor="ctr"/>
          <a:lstStyle/>
          <a:p>
            <a:pPr algn="r" indent="0" marL="0">
              <a:buNone/>
            </a:pPr>
            <a:r>
              <a:rPr lang="en-US" sz="900" dirty="0">
                <a:solidFill>
                  <a:srgbClr val="38BDF8"/>
                </a:solidFill>
                <a:latin typeface="Calibri" pitchFamily="34" charset="0"/>
                <a:ea typeface="Calibri" pitchFamily="34" charset="-122"/>
                <a:cs typeface="Calibri" pitchFamily="34" charset="-120"/>
              </a:rPr>
              <a:t>https://smart-restaurant-2za8.vercel.app/</a:t>
            </a:r>
            <a:endParaRPr lang="en-US" sz="900" dirty="0"/>
          </a:p>
        </p:txBody>
      </p:sp>
      <p:sp>
        <p:nvSpPr>
          <p:cNvPr id="6" name="Shape 4"/>
          <p:cNvSpPr/>
          <p:nvPr/>
        </p:nvSpPr>
        <p:spPr>
          <a:xfrm>
            <a:off x="548640" y="1188720"/>
            <a:ext cx="2560320" cy="2286000"/>
          </a:xfrm>
          <a:prstGeom prst="roundRect">
            <a:avLst>
              <a:gd name="adj" fmla="val 3200"/>
            </a:avLst>
          </a:prstGeom>
          <a:solidFill>
            <a:srgbClr val="1E293B"/>
          </a:solidFill>
          <a:ln w="12700">
            <a:solidFill>
              <a:srgbClr val="334155"/>
            </a:solidFill>
            <a:prstDash val="solid"/>
          </a:ln>
        </p:spPr>
      </p:sp>
      <p:sp>
        <p:nvSpPr>
          <p:cNvPr id="7" name="Text 5"/>
          <p:cNvSpPr/>
          <p:nvPr/>
        </p:nvSpPr>
        <p:spPr>
          <a:xfrm>
            <a:off x="731520" y="1371600"/>
            <a:ext cx="2194560" cy="411480"/>
          </a:xfrm>
          <a:prstGeom prst="rect">
            <a:avLst/>
          </a:prstGeom>
          <a:noFill/>
          <a:ln/>
        </p:spPr>
        <p:txBody>
          <a:bodyPr wrap="square" lIns="0" tIns="0" rIns="0" bIns="0" rtlCol="0" anchor="ctr"/>
          <a:lstStyle/>
          <a:p>
            <a:pPr indent="0" marL="0">
              <a:buNone/>
            </a:pPr>
            <a:r>
              <a:rPr lang="en-US" sz="1300" b="1" dirty="0">
                <a:solidFill>
                  <a:srgbClr val="38BDF8"/>
                </a:solidFill>
                <a:latin typeface="Cambria" pitchFamily="34" charset="0"/>
                <a:ea typeface="Cambria" pitchFamily="34" charset="-122"/>
                <a:cs typeface="Cambria" pitchFamily="34" charset="-120"/>
              </a:rPr>
              <a:t>Societal &amp; Public Health Relevance</a:t>
            </a:r>
            <a:endParaRPr lang="en-US" sz="1300" dirty="0"/>
          </a:p>
        </p:txBody>
      </p:sp>
      <p:sp>
        <p:nvSpPr>
          <p:cNvPr id="8" name="Text 6"/>
          <p:cNvSpPr/>
          <p:nvPr/>
        </p:nvSpPr>
        <p:spPr>
          <a:xfrm>
            <a:off x="731520" y="1874520"/>
            <a:ext cx="2194560" cy="1463040"/>
          </a:xfrm>
          <a:prstGeom prst="rect">
            <a:avLst/>
          </a:prstGeom>
          <a:noFill/>
          <a:ln/>
        </p:spPr>
        <p:txBody>
          <a:bodyPr wrap="square" lIns="0" tIns="0" rIns="0" bIns="0" rtlCol="0" anchor="ctr"/>
          <a:lstStyle/>
          <a:p>
            <a:pPr marL="342900" indent="-342900">
              <a:spcAft>
                <a:spcPts val="400"/>
              </a:spcAft>
              <a:buSzPct val="100000"/>
              <a:buChar char="•"/>
            </a:pPr>
            <a:r>
              <a:rPr lang="en-US" sz="1000" dirty="0">
                <a:solidFill>
                  <a:srgbClr val="E2E8F0"/>
                </a:solidFill>
                <a:latin typeface="Calibri" pitchFamily="34" charset="0"/>
                <a:ea typeface="Calibri" pitchFamily="34" charset="-122"/>
                <a:cs typeface="Calibri" pitchFamily="34" charset="-120"/>
              </a:rPr>
              <a:t>Contactless, hygienic dining eliminates transmission vectors of physical menus.</a:t>
            </a:r>
            <a:endParaRPr lang="en-US" sz="1000" dirty="0"/>
          </a:p>
          <a:p>
            <a:pPr marL="342900" indent="-342900">
              <a:spcAft>
                <a:spcPts val="400"/>
              </a:spcAft>
              <a:buSzPct val="100000"/>
              <a:buChar char="•"/>
            </a:pPr>
            <a:r>
              <a:rPr lang="en-US" sz="1000" dirty="0">
                <a:solidFill>
                  <a:srgbClr val="E2E8F0"/>
                </a:solidFill>
                <a:latin typeface="Calibri" pitchFamily="34" charset="0"/>
                <a:ea typeface="Calibri" pitchFamily="34" charset="-122"/>
                <a:cs typeface="Calibri" pitchFamily="34" charset="-120"/>
              </a:rPr>
              <a:t>Instant allergen alerts (Gluten, Nuts, Dairy) and explicit caloric breakdowns empower health-conscious patrons.</a:t>
            </a:r>
            <a:endParaRPr lang="en-US" sz="1000" dirty="0"/>
          </a:p>
          <a:p>
            <a:pPr marL="342900" indent="-342900">
              <a:spcAft>
                <a:spcPts val="400"/>
              </a:spcAft>
              <a:buSzPct val="100000"/>
              <a:buChar char="•"/>
            </a:pPr>
            <a:r>
              <a:rPr lang="en-US" sz="1000" dirty="0">
                <a:solidFill>
                  <a:srgbClr val="E2E8F0"/>
                </a:solidFill>
                <a:latin typeface="Calibri" pitchFamily="34" charset="0"/>
                <a:ea typeface="Calibri" pitchFamily="34" charset="-122"/>
                <a:cs typeface="Calibri" pitchFamily="34" charset="-120"/>
              </a:rPr>
              <a:t>Inclusive accessibility for non-native speakers through intuitive 3D visual language.</a:t>
            </a:r>
            <a:endParaRPr lang="en-US" sz="1000" dirty="0"/>
          </a:p>
        </p:txBody>
      </p:sp>
      <p:sp>
        <p:nvSpPr>
          <p:cNvPr id="9" name="Shape 7"/>
          <p:cNvSpPr/>
          <p:nvPr/>
        </p:nvSpPr>
        <p:spPr>
          <a:xfrm>
            <a:off x="3291840" y="1188720"/>
            <a:ext cx="2560320" cy="2286000"/>
          </a:xfrm>
          <a:prstGeom prst="roundRect">
            <a:avLst>
              <a:gd name="adj" fmla="val 3200"/>
            </a:avLst>
          </a:prstGeom>
          <a:solidFill>
            <a:srgbClr val="1E293B"/>
          </a:solidFill>
          <a:ln w="12700">
            <a:solidFill>
              <a:srgbClr val="334155"/>
            </a:solidFill>
            <a:prstDash val="solid"/>
          </a:ln>
        </p:spPr>
      </p:sp>
      <p:sp>
        <p:nvSpPr>
          <p:cNvPr id="10" name="Text 8"/>
          <p:cNvSpPr/>
          <p:nvPr/>
        </p:nvSpPr>
        <p:spPr>
          <a:xfrm>
            <a:off x="3474720" y="1371600"/>
            <a:ext cx="2194560" cy="411480"/>
          </a:xfrm>
          <a:prstGeom prst="rect">
            <a:avLst/>
          </a:prstGeom>
          <a:noFill/>
          <a:ln/>
        </p:spPr>
        <p:txBody>
          <a:bodyPr wrap="square" lIns="0" tIns="0" rIns="0" bIns="0" rtlCol="0" anchor="ctr"/>
          <a:lstStyle/>
          <a:p>
            <a:pPr indent="0" marL="0">
              <a:buNone/>
            </a:pPr>
            <a:r>
              <a:rPr lang="en-US" sz="1300" b="1" dirty="0">
                <a:solidFill>
                  <a:srgbClr val="F59E0B"/>
                </a:solidFill>
                <a:latin typeface="Cambria" pitchFamily="34" charset="0"/>
                <a:ea typeface="Cambria" pitchFamily="34" charset="-122"/>
                <a:cs typeface="Cambria" pitchFamily="34" charset="-120"/>
              </a:rPr>
              <a:t>Industrial Relevance &amp; Modernization</a:t>
            </a:r>
            <a:endParaRPr lang="en-US" sz="1300" dirty="0"/>
          </a:p>
        </p:txBody>
      </p:sp>
      <p:sp>
        <p:nvSpPr>
          <p:cNvPr id="11" name="Text 9"/>
          <p:cNvSpPr/>
          <p:nvPr/>
        </p:nvSpPr>
        <p:spPr>
          <a:xfrm>
            <a:off x="3474720" y="1874520"/>
            <a:ext cx="2194560" cy="1463040"/>
          </a:xfrm>
          <a:prstGeom prst="rect">
            <a:avLst/>
          </a:prstGeom>
          <a:noFill/>
          <a:ln/>
        </p:spPr>
        <p:txBody>
          <a:bodyPr wrap="square" lIns="0" tIns="0" rIns="0" bIns="0" rtlCol="0" anchor="ctr"/>
          <a:lstStyle/>
          <a:p>
            <a:pPr marL="342900" indent="-342900">
              <a:spcAft>
                <a:spcPts val="400"/>
              </a:spcAft>
              <a:buSzPct val="100000"/>
              <a:buChar char="•"/>
            </a:pPr>
            <a:r>
              <a:rPr lang="en-US" sz="1000" dirty="0">
                <a:solidFill>
                  <a:srgbClr val="E2E8F0"/>
                </a:solidFill>
                <a:latin typeface="Calibri" pitchFamily="34" charset="0"/>
                <a:ea typeface="Calibri" pitchFamily="34" charset="-122"/>
                <a:cs typeface="Calibri" pitchFamily="34" charset="-120"/>
              </a:rPr>
              <a:t>Replaces costly proprietary tabletop POS tablets with patrons' existing smartphones (Zero CAPEX).</a:t>
            </a:r>
            <a:endParaRPr lang="en-US" sz="1000" dirty="0"/>
          </a:p>
          <a:p>
            <a:pPr marL="342900" indent="-342900">
              <a:spcAft>
                <a:spcPts val="400"/>
              </a:spcAft>
              <a:buSzPct val="100000"/>
              <a:buChar char="•"/>
            </a:pPr>
            <a:r>
              <a:rPr lang="en-US" sz="1000" dirty="0">
                <a:solidFill>
                  <a:srgbClr val="E2E8F0"/>
                </a:solidFill>
                <a:latin typeface="Calibri" pitchFamily="34" charset="0"/>
                <a:ea typeface="Calibri" pitchFamily="34" charset="-122"/>
                <a:cs typeface="Calibri" pitchFamily="34" charset="-120"/>
              </a:rPr>
              <a:t>Accelerates table turnaround times by 25% through synchronized visual ordering.</a:t>
            </a:r>
            <a:endParaRPr lang="en-US" sz="1000" dirty="0"/>
          </a:p>
          <a:p>
            <a:pPr marL="342900" indent="-342900">
              <a:spcAft>
                <a:spcPts val="400"/>
              </a:spcAft>
              <a:buSzPct val="100000"/>
              <a:buChar char="•"/>
            </a:pPr>
            <a:r>
              <a:rPr lang="en-US" sz="1000" dirty="0">
                <a:solidFill>
                  <a:srgbClr val="E2E8F0"/>
                </a:solidFill>
                <a:latin typeface="Calibri" pitchFamily="34" charset="0"/>
                <a:ea typeface="Calibri" pitchFamily="34" charset="-122"/>
                <a:cs typeface="Calibri" pitchFamily="34" charset="-120"/>
              </a:rPr>
              <a:t>Dynamic cloud menu management eliminates recurring print and redesign overheads.</a:t>
            </a:r>
            <a:endParaRPr lang="en-US" sz="1000" dirty="0"/>
          </a:p>
        </p:txBody>
      </p:sp>
      <p:sp>
        <p:nvSpPr>
          <p:cNvPr id="12" name="Shape 10"/>
          <p:cNvSpPr/>
          <p:nvPr/>
        </p:nvSpPr>
        <p:spPr>
          <a:xfrm>
            <a:off x="6035040" y="1188720"/>
            <a:ext cx="2560320" cy="2286000"/>
          </a:xfrm>
          <a:prstGeom prst="roundRect">
            <a:avLst>
              <a:gd name="adj" fmla="val 3200"/>
            </a:avLst>
          </a:prstGeom>
          <a:solidFill>
            <a:srgbClr val="1E293B"/>
          </a:solidFill>
          <a:ln w="12700">
            <a:solidFill>
              <a:srgbClr val="334155"/>
            </a:solidFill>
            <a:prstDash val="solid"/>
          </a:ln>
        </p:spPr>
      </p:sp>
      <p:sp>
        <p:nvSpPr>
          <p:cNvPr id="13" name="Text 11"/>
          <p:cNvSpPr/>
          <p:nvPr/>
        </p:nvSpPr>
        <p:spPr>
          <a:xfrm>
            <a:off x="6217920" y="1371600"/>
            <a:ext cx="2194560" cy="411480"/>
          </a:xfrm>
          <a:prstGeom prst="rect">
            <a:avLst/>
          </a:prstGeom>
          <a:noFill/>
          <a:ln/>
        </p:spPr>
        <p:txBody>
          <a:bodyPr wrap="square" lIns="0" tIns="0" rIns="0" bIns="0" rtlCol="0" anchor="ctr"/>
          <a:lstStyle/>
          <a:p>
            <a:pPr indent="0" marL="0">
              <a:buNone/>
            </a:pPr>
            <a:r>
              <a:rPr lang="en-US" sz="1300" b="1" dirty="0">
                <a:solidFill>
                  <a:srgbClr val="10B981"/>
                </a:solidFill>
                <a:latin typeface="Cambria" pitchFamily="34" charset="0"/>
                <a:ea typeface="Cambria" pitchFamily="34" charset="-122"/>
                <a:cs typeface="Cambria" pitchFamily="34" charset="-120"/>
              </a:rPr>
              <a:t>Environmental Impact &amp; Food Waste</a:t>
            </a:r>
            <a:endParaRPr lang="en-US" sz="1300" dirty="0"/>
          </a:p>
        </p:txBody>
      </p:sp>
      <p:sp>
        <p:nvSpPr>
          <p:cNvPr id="14" name="Text 12"/>
          <p:cNvSpPr/>
          <p:nvPr/>
        </p:nvSpPr>
        <p:spPr>
          <a:xfrm>
            <a:off x="6217920" y="1874520"/>
            <a:ext cx="2194560" cy="1463040"/>
          </a:xfrm>
          <a:prstGeom prst="rect">
            <a:avLst/>
          </a:prstGeom>
          <a:noFill/>
          <a:ln/>
        </p:spPr>
        <p:txBody>
          <a:bodyPr wrap="square" lIns="0" tIns="0" rIns="0" bIns="0" rtlCol="0" anchor="ctr"/>
          <a:lstStyle/>
          <a:p>
            <a:pPr marL="342900" indent="-342900">
              <a:spcAft>
                <a:spcPts val="400"/>
              </a:spcAft>
              <a:buSzPct val="100000"/>
              <a:buChar char="•"/>
            </a:pPr>
            <a:r>
              <a:rPr lang="en-US" sz="1000" dirty="0">
                <a:solidFill>
                  <a:srgbClr val="E2E8F0"/>
                </a:solidFill>
                <a:latin typeface="Calibri" pitchFamily="34" charset="0"/>
                <a:ea typeface="Calibri" pitchFamily="34" charset="-122"/>
                <a:cs typeface="Calibri" pitchFamily="34" charset="-120"/>
              </a:rPr>
              <a:t>100% paperless menu ecosystem saves kilograms of laminated paper and plastic per restaurant annually.</a:t>
            </a:r>
            <a:endParaRPr lang="en-US" sz="1000" dirty="0"/>
          </a:p>
          <a:p>
            <a:pPr marL="342900" indent="-342900">
              <a:spcAft>
                <a:spcPts val="400"/>
              </a:spcAft>
              <a:buSzPct val="100000"/>
              <a:buChar char="•"/>
            </a:pPr>
            <a:r>
              <a:rPr lang="en-US" sz="1000" dirty="0">
                <a:solidFill>
                  <a:srgbClr val="E2E8F0"/>
                </a:solidFill>
                <a:latin typeface="Calibri" pitchFamily="34" charset="0"/>
                <a:ea typeface="Calibri" pitchFamily="34" charset="-122"/>
                <a:cs typeface="Calibri" pitchFamily="34" charset="-120"/>
              </a:rPr>
              <a:t>True 1:1 metric scale AR preview reduces order misjudgments and plate food waste by up to 28%.</a:t>
            </a:r>
            <a:endParaRPr lang="en-US" sz="1000" dirty="0"/>
          </a:p>
          <a:p>
            <a:pPr marL="342900" indent="-342900">
              <a:spcAft>
                <a:spcPts val="400"/>
              </a:spcAft>
              <a:buSzPct val="100000"/>
              <a:buChar char="•"/>
            </a:pPr>
            <a:r>
              <a:rPr lang="en-US" sz="1000" dirty="0">
                <a:solidFill>
                  <a:srgbClr val="E2E8F0"/>
                </a:solidFill>
                <a:latin typeface="Calibri" pitchFamily="34" charset="0"/>
                <a:ea typeface="Calibri" pitchFamily="34" charset="-122"/>
                <a:cs typeface="Calibri" pitchFamily="34" charset="-120"/>
              </a:rPr>
              <a:t>Cloud edge architecture minimizes enterprise on-premise server energy footprints.</a:t>
            </a:r>
            <a:endParaRPr lang="en-US" sz="1000" dirty="0"/>
          </a:p>
        </p:txBody>
      </p:sp>
      <p:sp>
        <p:nvSpPr>
          <p:cNvPr id="15" name="Shape 13"/>
          <p:cNvSpPr/>
          <p:nvPr/>
        </p:nvSpPr>
        <p:spPr>
          <a:xfrm>
            <a:off x="548640" y="3657600"/>
            <a:ext cx="8046720" cy="1005840"/>
          </a:xfrm>
          <a:prstGeom prst="roundRect">
            <a:avLst>
              <a:gd name="adj" fmla="val 7273"/>
            </a:avLst>
          </a:prstGeom>
          <a:solidFill>
            <a:srgbClr val="172554"/>
          </a:solidFill>
          <a:ln w="12700">
            <a:solidFill>
              <a:srgbClr val="10B981"/>
            </a:solidFill>
            <a:prstDash val="solid"/>
          </a:ln>
        </p:spPr>
      </p:sp>
      <p:sp>
        <p:nvSpPr>
          <p:cNvPr id="16" name="Text 14"/>
          <p:cNvSpPr/>
          <p:nvPr/>
        </p:nvSpPr>
        <p:spPr>
          <a:xfrm>
            <a:off x="731520" y="3749040"/>
            <a:ext cx="7680960" cy="228600"/>
          </a:xfrm>
          <a:prstGeom prst="rect">
            <a:avLst/>
          </a:prstGeom>
          <a:noFill/>
          <a:ln/>
        </p:spPr>
        <p:txBody>
          <a:bodyPr wrap="square" lIns="0" tIns="0" rIns="0" bIns="0" rtlCol="0" anchor="ctr"/>
          <a:lstStyle/>
          <a:p>
            <a:pPr indent="0" marL="0">
              <a:buNone/>
            </a:pPr>
            <a:r>
              <a:rPr lang="en-US" sz="1000" b="1" dirty="0">
                <a:solidFill>
                  <a:srgbClr val="10B981"/>
                </a:solidFill>
                <a:latin typeface="Calibri" pitchFamily="34" charset="0"/>
                <a:ea typeface="Calibri" pitchFamily="34" charset="-122"/>
                <a:cs typeface="Calibri" pitchFamily="34" charset="-120"/>
              </a:rPr>
              <a:t>UNITED NATIONS SUSTAINABLE DEVELOPMENT GOALS (SDGs) ALIGNMENT</a:t>
            </a:r>
            <a:endParaRPr lang="en-US" sz="1000" dirty="0"/>
          </a:p>
        </p:txBody>
      </p:sp>
      <p:sp>
        <p:nvSpPr>
          <p:cNvPr id="17" name="Text 15"/>
          <p:cNvSpPr/>
          <p:nvPr/>
        </p:nvSpPr>
        <p:spPr>
          <a:xfrm>
            <a:off x="731520" y="3977640"/>
            <a:ext cx="7680960" cy="594360"/>
          </a:xfrm>
          <a:prstGeom prst="rect">
            <a:avLst/>
          </a:prstGeom>
          <a:noFill/>
          <a:ln/>
        </p:spPr>
        <p:txBody>
          <a:bodyPr wrap="square" lIns="0" tIns="0" rIns="0" bIns="0" rtlCol="0" anchor="ctr"/>
          <a:lstStyle/>
          <a:p>
            <a:pPr marL="342900" indent="-342900">
              <a:spcAft>
                <a:spcPts val="200"/>
              </a:spcAft>
              <a:buSzPct val="100000"/>
              <a:buChar char="•"/>
            </a:pPr>
            <a:r>
              <a:rPr lang="en-US" sz="950" dirty="0">
                <a:solidFill>
                  <a:srgbClr val="FFFFFF"/>
                </a:solidFill>
                <a:latin typeface="Calibri" pitchFamily="34" charset="0"/>
                <a:ea typeface="Calibri" pitchFamily="34" charset="-122"/>
                <a:cs typeface="Calibri" pitchFamily="34" charset="-120"/>
              </a:rPr>
              <a:t>SDG 9: Industry, Innovation &amp; Infrastructure: Pioneering zero-install WebXR spatial computing in commercial dining.</a:t>
            </a:r>
            <a:endParaRPr lang="en-US" sz="950" dirty="0"/>
          </a:p>
          <a:p>
            <a:pPr marL="342900" indent="-342900">
              <a:spcAft>
                <a:spcPts val="200"/>
              </a:spcAft>
              <a:buSzPct val="100000"/>
              <a:buChar char="•"/>
            </a:pPr>
            <a:r>
              <a:rPr lang="en-US" sz="950" dirty="0">
                <a:solidFill>
                  <a:srgbClr val="FFFFFF"/>
                </a:solidFill>
                <a:latin typeface="Calibri" pitchFamily="34" charset="0"/>
                <a:ea typeface="Calibri" pitchFamily="34" charset="-122"/>
                <a:cs typeface="Calibri" pitchFamily="34" charset="-120"/>
              </a:rPr>
              <a:t>SDG 12: Responsible Consumption &amp; Production: Mitigating food waste via 1:1 metric scale portion preview.</a:t>
            </a:r>
            <a:endParaRPr lang="en-US" sz="950" dirty="0"/>
          </a:p>
          <a:p>
            <a:pPr marL="342900" indent="-342900">
              <a:spcAft>
                <a:spcPts val="200"/>
              </a:spcAft>
              <a:buSzPct val="100000"/>
              <a:buChar char="•"/>
            </a:pPr>
            <a:r>
              <a:rPr lang="en-US" sz="950" dirty="0">
                <a:solidFill>
                  <a:srgbClr val="FFFFFF"/>
                </a:solidFill>
                <a:latin typeface="Calibri" pitchFamily="34" charset="0"/>
                <a:ea typeface="Calibri" pitchFamily="34" charset="-122"/>
                <a:cs typeface="Calibri" pitchFamily="34" charset="-120"/>
              </a:rPr>
              <a:t>SDG 13: Climate Action: Completely removing recurring paper and lamination plastics from restaurant supply chains.</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548640" y="365760"/>
            <a:ext cx="8046720" cy="228600"/>
          </a:xfrm>
          <a:prstGeom prst="rect">
            <a:avLst/>
          </a:prstGeom>
          <a:noFill/>
          <a:ln/>
        </p:spPr>
        <p:txBody>
          <a:bodyPr wrap="square" lIns="0" tIns="0" rIns="0" bIns="0" rtlCol="0" anchor="ctr"/>
          <a:lstStyle/>
          <a:p>
            <a:pPr indent="0" marL="0">
              <a:buNone/>
            </a:pPr>
            <a:r>
              <a:rPr lang="en-US" sz="1000" b="1" spc="150" kern="0" dirty="0">
                <a:solidFill>
                  <a:srgbClr val="38BDF8"/>
                </a:solidFill>
                <a:latin typeface="Calibri" pitchFamily="34" charset="0"/>
                <a:ea typeface="Calibri" pitchFamily="34" charset="-122"/>
                <a:cs typeface="Calibri" pitchFamily="34" charset="-120"/>
              </a:rPr>
              <a:t>PROJECT SCOPE</a:t>
            </a:r>
            <a:endParaRPr lang="en-US" sz="1000" dirty="0"/>
          </a:p>
        </p:txBody>
      </p:sp>
      <p:sp>
        <p:nvSpPr>
          <p:cNvPr id="3" name="Text 1"/>
          <p:cNvSpPr/>
          <p:nvPr/>
        </p:nvSpPr>
        <p:spPr>
          <a:xfrm>
            <a:off x="548640" y="594360"/>
            <a:ext cx="8046720" cy="41148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Main &amp; Specific Objectives and Target Outcomes</a:t>
            </a:r>
            <a:endParaRPr lang="en-US" sz="2200" dirty="0"/>
          </a:p>
        </p:txBody>
      </p:sp>
      <p:sp>
        <p:nvSpPr>
          <p:cNvPr id="4" name="Text 2"/>
          <p:cNvSpPr/>
          <p:nvPr/>
        </p:nvSpPr>
        <p:spPr>
          <a:xfrm>
            <a:off x="548640" y="4800600"/>
            <a:ext cx="5943600" cy="228600"/>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5" name="Text 3"/>
          <p:cNvSpPr/>
          <p:nvPr/>
        </p:nvSpPr>
        <p:spPr>
          <a:xfrm>
            <a:off x="6583680" y="4800600"/>
            <a:ext cx="2011680" cy="228600"/>
          </a:xfrm>
          <a:prstGeom prst="rect">
            <a:avLst/>
          </a:prstGeom>
          <a:noFill/>
          <a:ln/>
        </p:spPr>
        <p:txBody>
          <a:bodyPr wrap="square" lIns="0" tIns="0" rIns="0" bIns="0" rtlCol="0" anchor="ctr"/>
          <a:lstStyle/>
          <a:p>
            <a:pPr algn="r" indent="0" marL="0">
              <a:buNone/>
            </a:pPr>
            <a:r>
              <a:rPr lang="en-US" sz="900" dirty="0">
                <a:solidFill>
                  <a:srgbClr val="38BDF8"/>
                </a:solidFill>
                <a:latin typeface="Calibri" pitchFamily="34" charset="0"/>
                <a:ea typeface="Calibri" pitchFamily="34" charset="-122"/>
                <a:cs typeface="Calibri" pitchFamily="34" charset="-120"/>
              </a:rPr>
              <a:t>https://smart-restaurant-2za8.vercel.app/</a:t>
            </a:r>
            <a:endParaRPr lang="en-US" sz="900" dirty="0"/>
          </a:p>
        </p:txBody>
      </p:sp>
      <p:sp>
        <p:nvSpPr>
          <p:cNvPr id="6" name="Shape 4"/>
          <p:cNvSpPr/>
          <p:nvPr/>
        </p:nvSpPr>
        <p:spPr>
          <a:xfrm>
            <a:off x="548640" y="1188720"/>
            <a:ext cx="3931920" cy="3429000"/>
          </a:xfrm>
          <a:prstGeom prst="roundRect">
            <a:avLst>
              <a:gd name="adj" fmla="val 2133"/>
            </a:avLst>
          </a:prstGeom>
          <a:solidFill>
            <a:srgbClr val="1E293B"/>
          </a:solidFill>
          <a:ln w="12700">
            <a:solidFill>
              <a:srgbClr val="334155"/>
            </a:solidFill>
            <a:prstDash val="solid"/>
          </a:ln>
        </p:spPr>
      </p:sp>
      <p:sp>
        <p:nvSpPr>
          <p:cNvPr id="7" name="Text 5"/>
          <p:cNvSpPr/>
          <p:nvPr/>
        </p:nvSpPr>
        <p:spPr>
          <a:xfrm>
            <a:off x="731520" y="1371600"/>
            <a:ext cx="3566160" cy="274320"/>
          </a:xfrm>
          <a:prstGeom prst="rect">
            <a:avLst/>
          </a:prstGeom>
          <a:noFill/>
          <a:ln/>
        </p:spPr>
        <p:txBody>
          <a:bodyPr wrap="square" lIns="0" tIns="0" rIns="0" bIns="0" rtlCol="0" anchor="ctr"/>
          <a:lstStyle/>
          <a:p>
            <a:pPr indent="0" marL="0">
              <a:buNone/>
            </a:pPr>
            <a:r>
              <a:rPr lang="en-US" sz="1300" b="1" dirty="0">
                <a:solidFill>
                  <a:srgbClr val="38BDF8"/>
                </a:solidFill>
                <a:latin typeface="Cambria" pitchFamily="34" charset="0"/>
                <a:ea typeface="Cambria" pitchFamily="34" charset="-122"/>
                <a:cs typeface="Cambria" pitchFamily="34" charset="-120"/>
              </a:rPr>
              <a:t>PRIMARY &amp; SPECIFIC OBJECTIVES</a:t>
            </a:r>
            <a:endParaRPr lang="en-US" sz="1300" dirty="0"/>
          </a:p>
        </p:txBody>
      </p:sp>
      <p:sp>
        <p:nvSpPr>
          <p:cNvPr id="8" name="Text 6"/>
          <p:cNvSpPr/>
          <p:nvPr/>
        </p:nvSpPr>
        <p:spPr>
          <a:xfrm>
            <a:off x="731520" y="1691640"/>
            <a:ext cx="3566160" cy="2743200"/>
          </a:xfrm>
          <a:prstGeom prst="rect">
            <a:avLst/>
          </a:prstGeom>
          <a:noFill/>
          <a:ln/>
        </p:spPr>
        <p:txBody>
          <a:bodyPr wrap="square" lIns="0" tIns="0" rIns="0" bIns="0" rtlCol="0" anchor="ctr"/>
          <a:lstStyle/>
          <a:p>
            <a:pPr marL="342900" indent="-342900">
              <a:spcAft>
                <a:spcPts val="600"/>
              </a:spcAft>
              <a:buSzPct val="100000"/>
              <a:buChar char="•"/>
            </a:pPr>
            <a:r>
              <a:rPr lang="en-US" sz="1000" dirty="0">
                <a:solidFill>
                  <a:srgbClr val="E2E8F0"/>
                </a:solidFill>
                <a:latin typeface="Calibri" pitchFamily="34" charset="0"/>
                <a:ea typeface="Calibri" pitchFamily="34" charset="-122"/>
                <a:cs typeface="Calibri" pitchFamily="34" charset="-120"/>
              </a:rPr>
              <a:t>Main Objective: Architect and deploy a zero-install WebXR &amp; Scene Viewer 3D AR smart menu with synchronized real-time Kitchen Display System (KDS).</a:t>
            </a:r>
            <a:endParaRPr lang="en-US" sz="1000" dirty="0"/>
          </a:p>
          <a:p>
            <a:pPr marL="342900" indent="-342900">
              <a:spcAft>
                <a:spcPts val="600"/>
              </a:spcAft>
              <a:buSzPct val="100000"/>
              <a:buChar char="•"/>
            </a:pPr>
            <a:r>
              <a:rPr lang="en-US" sz="1000" dirty="0">
                <a:solidFill>
                  <a:srgbClr val="E2E8F0"/>
                </a:solidFill>
                <a:latin typeface="Calibri" pitchFamily="34" charset="0"/>
                <a:ea typeface="Calibri" pitchFamily="34" charset="-122"/>
                <a:cs typeface="Calibri" pitchFamily="34" charset="-120"/>
              </a:rPr>
              <a:t>Zero-Install 6-DoF AR: Implement WebXR device API hit-testing to anchor 3D food items to physical tabletop planes with 1:1 metric accuracy.</a:t>
            </a:r>
            <a:endParaRPr lang="en-US" sz="1000" dirty="0"/>
          </a:p>
          <a:p>
            <a:pPr marL="342900" indent="-342900">
              <a:spcAft>
                <a:spcPts val="600"/>
              </a:spcAft>
              <a:buSzPct val="100000"/>
              <a:buChar char="•"/>
            </a:pPr>
            <a:r>
              <a:rPr lang="en-US" sz="1000" dirty="0">
                <a:solidFill>
                  <a:srgbClr val="E2E8F0"/>
                </a:solidFill>
                <a:latin typeface="Calibri" pitchFamily="34" charset="0"/>
                <a:ea typeface="Calibri" pitchFamily="34" charset="-122"/>
                <a:cs typeface="Calibri" pitchFamily="34" charset="-120"/>
              </a:rPr>
              <a:t>3D Asset Optimization Pipeline: Quantize and compress high-poly food models from 46MB down to &lt;10MB for rapid mobile 4G/5G loading (&lt;2.5s).</a:t>
            </a:r>
            <a:endParaRPr lang="en-US" sz="1000" dirty="0"/>
          </a:p>
          <a:p>
            <a:pPr marL="342900" indent="-342900">
              <a:spcAft>
                <a:spcPts val="600"/>
              </a:spcAft>
              <a:buSzPct val="100000"/>
              <a:buChar char="•"/>
            </a:pPr>
            <a:r>
              <a:rPr lang="en-US" sz="1000" dirty="0">
                <a:solidFill>
                  <a:srgbClr val="E2E8F0"/>
                </a:solidFill>
                <a:latin typeface="Calibri" pitchFamily="34" charset="0"/>
                <a:ea typeface="Calibri" pitchFamily="34" charset="-122"/>
                <a:cs typeface="Calibri" pitchFamily="34" charset="-120"/>
              </a:rPr>
              <a:t>Dual-Engine Fallback Strategy: Sniff device capability to dynamically route to WebXR or Google Scene Viewer Android Intent.</a:t>
            </a:r>
            <a:endParaRPr lang="en-US" sz="1000" dirty="0"/>
          </a:p>
          <a:p>
            <a:pPr marL="342900" indent="-342900">
              <a:spcAft>
                <a:spcPts val="600"/>
              </a:spcAft>
              <a:buSzPct val="100000"/>
              <a:buChar char="•"/>
            </a:pPr>
            <a:r>
              <a:rPr lang="en-US" sz="1000" dirty="0">
                <a:solidFill>
                  <a:srgbClr val="E2E8F0"/>
                </a:solidFill>
                <a:latin typeface="Calibri" pitchFamily="34" charset="0"/>
                <a:ea typeface="Calibri" pitchFamily="34" charset="-122"/>
                <a:cs typeface="Calibri" pitchFamily="34" charset="-120"/>
              </a:rPr>
              <a:t>Real-Time Kitchen Operations: Synchronize customer orders with a dedicated low-latency KDS Kanban board with acoustic alerts.</a:t>
            </a:r>
            <a:endParaRPr lang="en-US" sz="1000" dirty="0"/>
          </a:p>
        </p:txBody>
      </p:sp>
      <p:sp>
        <p:nvSpPr>
          <p:cNvPr id="9" name="Shape 7"/>
          <p:cNvSpPr/>
          <p:nvPr/>
        </p:nvSpPr>
        <p:spPr>
          <a:xfrm>
            <a:off x="4663440" y="1188720"/>
            <a:ext cx="3931920" cy="3429000"/>
          </a:xfrm>
          <a:prstGeom prst="roundRect">
            <a:avLst>
              <a:gd name="adj" fmla="val 2133"/>
            </a:avLst>
          </a:prstGeom>
          <a:solidFill>
            <a:srgbClr val="1E293B"/>
          </a:solidFill>
          <a:ln w="12700">
            <a:solidFill>
              <a:srgbClr val="334155"/>
            </a:solidFill>
            <a:prstDash val="solid"/>
          </a:ln>
        </p:spPr>
      </p:sp>
      <p:sp>
        <p:nvSpPr>
          <p:cNvPr id="10" name="Text 8"/>
          <p:cNvSpPr/>
          <p:nvPr/>
        </p:nvSpPr>
        <p:spPr>
          <a:xfrm>
            <a:off x="4846320" y="1371600"/>
            <a:ext cx="3566160" cy="274320"/>
          </a:xfrm>
          <a:prstGeom prst="rect">
            <a:avLst/>
          </a:prstGeom>
          <a:noFill/>
          <a:ln/>
        </p:spPr>
        <p:txBody>
          <a:bodyPr wrap="square" lIns="0" tIns="0" rIns="0" bIns="0" rtlCol="0" anchor="ctr"/>
          <a:lstStyle/>
          <a:p>
            <a:pPr indent="0" marL="0">
              <a:buNone/>
            </a:pPr>
            <a:r>
              <a:rPr lang="en-US" sz="1300" b="1" dirty="0">
                <a:solidFill>
                  <a:srgbClr val="F59E0B"/>
                </a:solidFill>
                <a:latin typeface="Cambria" pitchFamily="34" charset="0"/>
                <a:ea typeface="Cambria" pitchFamily="34" charset="-122"/>
                <a:cs typeface="Cambria" pitchFamily="34" charset="-120"/>
              </a:rPr>
              <a:t>EXPECTED QUANTITATIVE OUTCOMES</a:t>
            </a:r>
            <a:endParaRPr lang="en-US" sz="1300" dirty="0"/>
          </a:p>
        </p:txBody>
      </p:sp>
      <p:sp>
        <p:nvSpPr>
          <p:cNvPr id="11" name="Text 9"/>
          <p:cNvSpPr/>
          <p:nvPr/>
        </p:nvSpPr>
        <p:spPr>
          <a:xfrm>
            <a:off x="4846320" y="1691640"/>
            <a:ext cx="3566160" cy="2743200"/>
          </a:xfrm>
          <a:prstGeom prst="rect">
            <a:avLst/>
          </a:prstGeom>
          <a:noFill/>
          <a:ln/>
        </p:spPr>
        <p:txBody>
          <a:bodyPr wrap="square" lIns="0" tIns="0" rIns="0" bIns="0" rtlCol="0" anchor="ctr"/>
          <a:lstStyle/>
          <a:p>
            <a:pPr marL="342900" indent="-342900">
              <a:spcAft>
                <a:spcPts val="600"/>
              </a:spcAft>
              <a:buSzPct val="100000"/>
              <a:buChar char="•"/>
            </a:pPr>
            <a:r>
              <a:rPr lang="en-US" sz="1000" dirty="0">
                <a:solidFill>
                  <a:srgbClr val="E2E8F0"/>
                </a:solidFill>
                <a:latin typeface="Calibri" pitchFamily="34" charset="0"/>
                <a:ea typeface="Calibri" pitchFamily="34" charset="-122"/>
                <a:cs typeface="Calibri" pitchFamily="34" charset="-120"/>
              </a:rPr>
              <a:t>Sub-2.5 Second Asset Load: Optimized glTF binary delivery over Vercel Edge CDN ensures models load smoothly without mobile browser stalls.</a:t>
            </a:r>
            <a:endParaRPr lang="en-US" sz="1000" dirty="0"/>
          </a:p>
          <a:p>
            <a:pPr marL="342900" indent="-342900">
              <a:spcAft>
                <a:spcPts val="600"/>
              </a:spcAft>
              <a:buSzPct val="100000"/>
              <a:buChar char="•"/>
            </a:pPr>
            <a:r>
              <a:rPr lang="en-US" sz="1000" dirty="0">
                <a:solidFill>
                  <a:srgbClr val="E2E8F0"/>
                </a:solidFill>
                <a:latin typeface="Calibri" pitchFamily="34" charset="0"/>
                <a:ea typeface="Calibri" pitchFamily="34" charset="-122"/>
                <a:cs typeface="Calibri" pitchFamily="34" charset="-120"/>
              </a:rPr>
              <a:t>Stable 60 FPS WebGL Rendering: Sustained 58-60 FPS performance across contemporary mobile GPUs without overheating.</a:t>
            </a:r>
            <a:endParaRPr lang="en-US" sz="1000" dirty="0"/>
          </a:p>
          <a:p>
            <a:pPr marL="342900" indent="-342900">
              <a:spcAft>
                <a:spcPts val="600"/>
              </a:spcAft>
              <a:buSzPct val="100000"/>
              <a:buChar char="•"/>
            </a:pPr>
            <a:r>
              <a:rPr lang="en-US" sz="1000" dirty="0">
                <a:solidFill>
                  <a:srgbClr val="E2E8F0"/>
                </a:solidFill>
                <a:latin typeface="Calibri" pitchFamily="34" charset="0"/>
                <a:ea typeface="Calibri" pitchFamily="34" charset="-122"/>
                <a:cs typeface="Calibri" pitchFamily="34" charset="-120"/>
              </a:rPr>
              <a:t>Zero App Store Friction: 100% browser-based PWA execution eliminating the 70%+ user drop-off associated with native app installs.</a:t>
            </a:r>
            <a:endParaRPr lang="en-US" sz="1000" dirty="0"/>
          </a:p>
          <a:p>
            <a:pPr marL="342900" indent="-342900">
              <a:spcAft>
                <a:spcPts val="600"/>
              </a:spcAft>
              <a:buSzPct val="100000"/>
              <a:buChar char="•"/>
            </a:pPr>
            <a:r>
              <a:rPr lang="en-US" sz="1000" dirty="0">
                <a:solidFill>
                  <a:srgbClr val="E2E8F0"/>
                </a:solidFill>
                <a:latin typeface="Calibri" pitchFamily="34" charset="0"/>
                <a:ea typeface="Calibri" pitchFamily="34" charset="-122"/>
                <a:cs typeface="Calibri" pitchFamily="34" charset="-120"/>
              </a:rPr>
              <a:t>Order Turnaround Acceleration: Decreased order-to-kitchen latency from 8+ minutes (waitstaff dependent) to instantaneous cloud dispatch.</a:t>
            </a:r>
            <a:endParaRPr lang="en-US" sz="1000" dirty="0"/>
          </a:p>
          <a:p>
            <a:pPr marL="342900" indent="-342900">
              <a:spcAft>
                <a:spcPts val="600"/>
              </a:spcAft>
              <a:buSzPct val="100000"/>
              <a:buChar char="•"/>
            </a:pPr>
            <a:r>
              <a:rPr lang="en-US" sz="1000" dirty="0">
                <a:solidFill>
                  <a:srgbClr val="E2E8F0"/>
                </a:solidFill>
                <a:latin typeface="Calibri" pitchFamily="34" charset="0"/>
                <a:ea typeface="Calibri" pitchFamily="34" charset="-122"/>
                <a:cs typeface="Calibri" pitchFamily="34" charset="-120"/>
              </a:rPr>
              <a:t>Universal Device Coverage: 100% cross-platform accessibility across iOS (Safari QuickLook/WebXR) and Android (Chrome WebXR/Scene Viewer).</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548640" y="365760"/>
            <a:ext cx="8046720" cy="228600"/>
          </a:xfrm>
          <a:prstGeom prst="rect">
            <a:avLst/>
          </a:prstGeom>
          <a:noFill/>
          <a:ln/>
        </p:spPr>
        <p:txBody>
          <a:bodyPr wrap="square" lIns="0" tIns="0" rIns="0" bIns="0" rtlCol="0" anchor="ctr"/>
          <a:lstStyle/>
          <a:p>
            <a:pPr indent="0" marL="0">
              <a:buNone/>
            </a:pPr>
            <a:r>
              <a:rPr lang="en-US" sz="1000" b="1" spc="150" kern="0" dirty="0">
                <a:solidFill>
                  <a:srgbClr val="38BDF8"/>
                </a:solidFill>
                <a:latin typeface="Calibri" pitchFamily="34" charset="0"/>
                <a:ea typeface="Calibri" pitchFamily="34" charset="-122"/>
                <a:cs typeface="Calibri" pitchFamily="34" charset="-120"/>
              </a:rPr>
              <a:t>LITERATURE REVIEW</a:t>
            </a:r>
            <a:endParaRPr lang="en-US" sz="1000" dirty="0"/>
          </a:p>
        </p:txBody>
      </p:sp>
      <p:sp>
        <p:nvSpPr>
          <p:cNvPr id="3" name="Text 1"/>
          <p:cNvSpPr/>
          <p:nvPr/>
        </p:nvSpPr>
        <p:spPr>
          <a:xfrm>
            <a:off x="548640" y="594360"/>
            <a:ext cx="8046720" cy="41148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Existing Dining Systems &amp; Research Gap Analysis</a:t>
            </a:r>
            <a:endParaRPr lang="en-US" sz="2200" dirty="0"/>
          </a:p>
        </p:txBody>
      </p:sp>
      <p:sp>
        <p:nvSpPr>
          <p:cNvPr id="4" name="Text 2"/>
          <p:cNvSpPr/>
          <p:nvPr/>
        </p:nvSpPr>
        <p:spPr>
          <a:xfrm>
            <a:off x="548640" y="4800600"/>
            <a:ext cx="5943600" cy="228600"/>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5" name="Text 3"/>
          <p:cNvSpPr/>
          <p:nvPr/>
        </p:nvSpPr>
        <p:spPr>
          <a:xfrm>
            <a:off x="6583680" y="4800600"/>
            <a:ext cx="2011680" cy="228600"/>
          </a:xfrm>
          <a:prstGeom prst="rect">
            <a:avLst/>
          </a:prstGeom>
          <a:noFill/>
          <a:ln/>
        </p:spPr>
        <p:txBody>
          <a:bodyPr wrap="square" lIns="0" tIns="0" rIns="0" bIns="0" rtlCol="0" anchor="ctr"/>
          <a:lstStyle/>
          <a:p>
            <a:pPr algn="r" indent="0" marL="0">
              <a:buNone/>
            </a:pPr>
            <a:r>
              <a:rPr lang="en-US" sz="900" dirty="0">
                <a:solidFill>
                  <a:srgbClr val="38BDF8"/>
                </a:solidFill>
                <a:latin typeface="Calibri" pitchFamily="34" charset="0"/>
                <a:ea typeface="Calibri" pitchFamily="34" charset="-122"/>
                <a:cs typeface="Calibri" pitchFamily="34" charset="-120"/>
              </a:rPr>
              <a:t>https://smart-restaurant-2za8.vercel.app/</a:t>
            </a:r>
            <a:endParaRPr lang="en-US" sz="9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8046720" cy="2011680"/>
        </p:xfrm>
        <a:graphic>
          <a:graphicData uri="http://schemas.openxmlformats.org/drawingml/2006/table">
            <a:tbl>
              <a:tblPr/>
              <a:tblGrid>
                <a:gridCol w="1609344"/>
                <a:gridCol w="1609344"/>
                <a:gridCol w="1609344"/>
                <a:gridCol w="1609344"/>
                <a:gridCol w="1609344"/>
              </a:tblGrid>
              <a:tr h="335280">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System Type</a:t>
                      </a:r>
                      <a:endParaRPr lang="en-US" sz="95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solidFill>
                      <a:srgbClr val="1E293B"/>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Interaction Mode</a:t>
                      </a:r>
                      <a:endParaRPr lang="en-US" sz="95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solidFill>
                      <a:srgbClr val="1E293B"/>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Spatial Realism</a:t>
                      </a:r>
                      <a:endParaRPr lang="en-US" sz="95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solidFill>
                      <a:srgbClr val="1E293B"/>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Hardware Cost</a:t>
                      </a:r>
                      <a:endParaRPr lang="en-US" sz="95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solidFill>
                      <a:srgbClr val="1E293B"/>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Friction / UX</a:t>
                      </a:r>
                      <a:endParaRPr lang="en-US" sz="95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solidFill>
                      <a:srgbClr val="1E293B"/>
                    </a:solidFill>
                  </a:tcPr>
                </a:tc>
              </a:tr>
              <a:tr h="335280">
                <a:tc>
                  <a:txBody>
                    <a:bodyPr/>
                    <a:lstStyle/>
                    <a:p>
                      <a:pPr algn="ctr" indent="0" marL="0">
                        <a:buNone/>
                      </a:pPr>
                      <a:r>
                        <a:rPr lang="en-US" sz="950" dirty="0">
                          <a:solidFill>
                            <a:srgbClr val="E2E8F0"/>
                          </a:solidFill>
                          <a:latin typeface="Calibri" pitchFamily="34" charset="0"/>
                          <a:ea typeface="Calibri" pitchFamily="34" charset="-122"/>
                          <a:cs typeface="Calibri" pitchFamily="34" charset="-120"/>
                        </a:rPr>
                        <a:t>Physical Paper Menus</a:t>
                      </a:r>
                      <a:endParaRPr lang="en-US" sz="95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c>
                  <a:txBody>
                    <a:bodyPr/>
                    <a:lstStyle/>
                    <a:p>
                      <a:pPr algn="ctr" indent="0" marL="0">
                        <a:buNone/>
                      </a:pPr>
                      <a:r>
                        <a:rPr lang="en-US" sz="950" dirty="0">
                          <a:solidFill>
                            <a:srgbClr val="E2E8F0"/>
                          </a:solidFill>
                          <a:latin typeface="Calibri" pitchFamily="34" charset="0"/>
                          <a:ea typeface="Calibri" pitchFamily="34" charset="-122"/>
                          <a:cs typeface="Calibri" pitchFamily="34" charset="-120"/>
                        </a:rPr>
                        <a:t>Static Print</a:t>
                      </a:r>
                      <a:endParaRPr lang="en-US" sz="95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c>
                  <a:txBody>
                    <a:bodyPr/>
                    <a:lstStyle/>
                    <a:p>
                      <a:pPr algn="ctr" indent="0" marL="0">
                        <a:buNone/>
                      </a:pPr>
                      <a:r>
                        <a:rPr lang="en-US" sz="950" dirty="0">
                          <a:solidFill>
                            <a:srgbClr val="F43F5E"/>
                          </a:solidFill>
                          <a:latin typeface="Calibri" pitchFamily="34" charset="0"/>
                          <a:ea typeface="Calibri" pitchFamily="34" charset="-122"/>
                          <a:cs typeface="Calibri" pitchFamily="34" charset="-120"/>
                        </a:rPr>
                        <a:t>None (2D Print)</a:t>
                      </a:r>
                      <a:endParaRPr lang="en-US" sz="95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c>
                  <a:txBody>
                    <a:bodyPr/>
                    <a:lstStyle/>
                    <a:p>
                      <a:pPr algn="ctr" indent="0" marL="0">
                        <a:buNone/>
                      </a:pPr>
                      <a:r>
                        <a:rPr lang="en-US" sz="950" dirty="0">
                          <a:solidFill>
                            <a:srgbClr val="E2E8F0"/>
                          </a:solidFill>
                          <a:latin typeface="Calibri" pitchFamily="34" charset="0"/>
                          <a:ea typeface="Calibri" pitchFamily="34" charset="-122"/>
                          <a:cs typeface="Calibri" pitchFamily="34" charset="-120"/>
                        </a:rPr>
                        <a:t>Recurring Printing</a:t>
                      </a:r>
                      <a:endParaRPr lang="en-US" sz="95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c>
                  <a:txBody>
                    <a:bodyPr/>
                    <a:lstStyle/>
                    <a:p>
                      <a:pPr algn="ctr" indent="0" marL="0">
                        <a:buNone/>
                      </a:pPr>
                      <a:r>
                        <a:rPr lang="en-US" sz="950" dirty="0">
                          <a:solidFill>
                            <a:srgbClr val="F43F5E"/>
                          </a:solidFill>
                          <a:latin typeface="Calibri" pitchFamily="34" charset="0"/>
                          <a:ea typeface="Calibri" pitchFamily="34" charset="-122"/>
                          <a:cs typeface="Calibri" pitchFamily="34" charset="-120"/>
                        </a:rPr>
                        <a:t>Unhygienic / Static</a:t>
                      </a:r>
                      <a:endParaRPr lang="en-US" sz="95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r>
              <a:tr h="335280">
                <a:tc>
                  <a:txBody>
                    <a:bodyPr/>
                    <a:lstStyle/>
                    <a:p>
                      <a:pPr algn="ctr" indent="0" marL="0">
                        <a:buNone/>
                      </a:pPr>
                      <a:r>
                        <a:rPr lang="en-US" sz="950" dirty="0">
                          <a:solidFill>
                            <a:srgbClr val="E2E8F0"/>
                          </a:solidFill>
                          <a:latin typeface="Calibri" pitchFamily="34" charset="0"/>
                          <a:ea typeface="Calibri" pitchFamily="34" charset="-122"/>
                          <a:cs typeface="Calibri" pitchFamily="34" charset="-120"/>
                        </a:rPr>
                        <a:t>QR Code PDF Menus</a:t>
                      </a:r>
                      <a:endParaRPr lang="en-US" sz="95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c>
                  <a:txBody>
                    <a:bodyPr/>
                    <a:lstStyle/>
                    <a:p>
                      <a:pPr algn="ctr" indent="0" marL="0">
                        <a:buNone/>
                      </a:pPr>
                      <a:r>
                        <a:rPr lang="en-US" sz="950" dirty="0">
                          <a:solidFill>
                            <a:srgbClr val="E2E8F0"/>
                          </a:solidFill>
                          <a:latin typeface="Calibri" pitchFamily="34" charset="0"/>
                          <a:ea typeface="Calibri" pitchFamily="34" charset="-122"/>
                          <a:cs typeface="Calibri" pitchFamily="34" charset="-120"/>
                        </a:rPr>
                        <a:t>Pinch &amp; Zoom PDF</a:t>
                      </a:r>
                      <a:endParaRPr lang="en-US" sz="95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c>
                  <a:txBody>
                    <a:bodyPr/>
                    <a:lstStyle/>
                    <a:p>
                      <a:pPr algn="ctr" indent="0" marL="0">
                        <a:buNone/>
                      </a:pPr>
                      <a:r>
                        <a:rPr lang="en-US" sz="950" dirty="0">
                          <a:solidFill>
                            <a:srgbClr val="F43F5E"/>
                          </a:solidFill>
                          <a:latin typeface="Calibri" pitchFamily="34" charset="0"/>
                          <a:ea typeface="Calibri" pitchFamily="34" charset="-122"/>
                          <a:cs typeface="Calibri" pitchFamily="34" charset="-120"/>
                        </a:rPr>
                        <a:t>None (Flat 2D)</a:t>
                      </a:r>
                      <a:endParaRPr lang="en-US" sz="95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c>
                  <a:txBody>
                    <a:bodyPr/>
                    <a:lstStyle/>
                    <a:p>
                      <a:pPr algn="ctr" indent="0" marL="0">
                        <a:buNone/>
                      </a:pPr>
                      <a:r>
                        <a:rPr lang="en-US" sz="950" dirty="0">
                          <a:solidFill>
                            <a:srgbClr val="10B981"/>
                          </a:solidFill>
                          <a:latin typeface="Calibri" pitchFamily="34" charset="0"/>
                          <a:ea typeface="Calibri" pitchFamily="34" charset="-122"/>
                          <a:cs typeface="Calibri" pitchFamily="34" charset="-120"/>
                        </a:rPr>
                        <a:t>₹0 (Paper QR)</a:t>
                      </a:r>
                      <a:endParaRPr lang="en-US" sz="95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c>
                  <a:txBody>
                    <a:bodyPr/>
                    <a:lstStyle/>
                    <a:p>
                      <a:pPr algn="ctr" indent="0" marL="0">
                        <a:buNone/>
                      </a:pPr>
                      <a:r>
                        <a:rPr lang="en-US" sz="950" dirty="0">
                          <a:solidFill>
                            <a:srgbClr val="F43F5E"/>
                          </a:solidFill>
                          <a:latin typeface="Calibri" pitchFamily="34" charset="0"/>
                          <a:ea typeface="Calibri" pitchFamily="34" charset="-122"/>
                          <a:cs typeface="Calibri" pitchFamily="34" charset="-120"/>
                        </a:rPr>
                        <a:t>Poor Mobile Nav</a:t>
                      </a:r>
                      <a:endParaRPr lang="en-US" sz="95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r>
              <a:tr h="335280">
                <a:tc>
                  <a:txBody>
                    <a:bodyPr/>
                    <a:lstStyle/>
                    <a:p>
                      <a:pPr algn="ctr" indent="0" marL="0">
                        <a:buNone/>
                      </a:pPr>
                      <a:r>
                        <a:rPr lang="en-US" sz="950" dirty="0">
                          <a:solidFill>
                            <a:srgbClr val="E2E8F0"/>
                          </a:solidFill>
                          <a:latin typeface="Calibri" pitchFamily="34" charset="0"/>
                          <a:ea typeface="Calibri" pitchFamily="34" charset="-122"/>
                          <a:cs typeface="Calibri" pitchFamily="34" charset="-120"/>
                        </a:rPr>
                        <a:t>Tabletop POS Tablets</a:t>
                      </a:r>
                      <a:endParaRPr lang="en-US" sz="95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c>
                  <a:txBody>
                    <a:bodyPr/>
                    <a:lstStyle/>
                    <a:p>
                      <a:pPr algn="ctr" indent="0" marL="0">
                        <a:buNone/>
                      </a:pPr>
                      <a:r>
                        <a:rPr lang="en-US" sz="950" dirty="0">
                          <a:solidFill>
                            <a:srgbClr val="E2E8F0"/>
                          </a:solidFill>
                          <a:latin typeface="Calibri" pitchFamily="34" charset="0"/>
                          <a:ea typeface="Calibri" pitchFamily="34" charset="-122"/>
                          <a:cs typeface="Calibri" pitchFamily="34" charset="-120"/>
                        </a:rPr>
                        <a:t>Touchscreen Screen</a:t>
                      </a:r>
                      <a:endParaRPr lang="en-US" sz="95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c>
                  <a:txBody>
                    <a:bodyPr/>
                    <a:lstStyle/>
                    <a:p>
                      <a:pPr algn="ctr" indent="0" marL="0">
                        <a:buNone/>
                      </a:pPr>
                      <a:r>
                        <a:rPr lang="en-US" sz="950" dirty="0">
                          <a:solidFill>
                            <a:srgbClr val="F43F5E"/>
                          </a:solidFill>
                          <a:latin typeface="Calibri" pitchFamily="34" charset="0"/>
                          <a:ea typeface="Calibri" pitchFamily="34" charset="-122"/>
                          <a:cs typeface="Calibri" pitchFamily="34" charset="-120"/>
                        </a:rPr>
                        <a:t>None (2D Screen)</a:t>
                      </a:r>
                      <a:endParaRPr lang="en-US" sz="95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c>
                  <a:txBody>
                    <a:bodyPr/>
                    <a:lstStyle/>
                    <a:p>
                      <a:pPr algn="ctr" indent="0" marL="0">
                        <a:buNone/>
                      </a:pPr>
                      <a:r>
                        <a:rPr lang="en-US" sz="950" dirty="0">
                          <a:solidFill>
                            <a:srgbClr val="F43F5E"/>
                          </a:solidFill>
                          <a:latin typeface="Calibri" pitchFamily="34" charset="0"/>
                          <a:ea typeface="Calibri" pitchFamily="34" charset="-122"/>
                          <a:cs typeface="Calibri" pitchFamily="34" charset="-120"/>
                        </a:rPr>
                        <a:t>₹35,000+ / Table CAPEX</a:t>
                      </a:r>
                      <a:endParaRPr lang="en-US" sz="95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c>
                  <a:txBody>
                    <a:bodyPr/>
                    <a:lstStyle/>
                    <a:p>
                      <a:pPr algn="ctr" indent="0" marL="0">
                        <a:buNone/>
                      </a:pPr>
                      <a:r>
                        <a:rPr lang="en-US" sz="950" dirty="0">
                          <a:solidFill>
                            <a:srgbClr val="F43F5E"/>
                          </a:solidFill>
                          <a:latin typeface="Calibri" pitchFamily="34" charset="0"/>
                          <a:ea typeface="Calibri" pitchFamily="34" charset="-122"/>
                          <a:cs typeface="Calibri" pitchFamily="34" charset="-120"/>
                        </a:rPr>
                        <a:t>Hardware Breakdowns</a:t>
                      </a:r>
                      <a:endParaRPr lang="en-US" sz="95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r>
              <a:tr h="335280">
                <a:tc>
                  <a:txBody>
                    <a:bodyPr/>
                    <a:lstStyle/>
                    <a:p>
                      <a:pPr algn="ctr" indent="0" marL="0">
                        <a:buNone/>
                      </a:pPr>
                      <a:r>
                        <a:rPr lang="en-US" sz="950" dirty="0">
                          <a:solidFill>
                            <a:srgbClr val="E2E8F0"/>
                          </a:solidFill>
                          <a:latin typeface="Calibri" pitchFamily="34" charset="0"/>
                          <a:ea typeface="Calibri" pitchFamily="34" charset="-122"/>
                          <a:cs typeface="Calibri" pitchFamily="34" charset="-120"/>
                        </a:rPr>
                        <a:t>Native AR Apps (IKEA)</a:t>
                      </a:r>
                      <a:endParaRPr lang="en-US" sz="95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c>
                  <a:txBody>
                    <a:bodyPr/>
                    <a:lstStyle/>
                    <a:p>
                      <a:pPr algn="ctr" indent="0" marL="0">
                        <a:buNone/>
                      </a:pPr>
                      <a:r>
                        <a:rPr lang="en-US" sz="950" dirty="0">
                          <a:solidFill>
                            <a:srgbClr val="E2E8F0"/>
                          </a:solidFill>
                          <a:latin typeface="Calibri" pitchFamily="34" charset="0"/>
                          <a:ea typeface="Calibri" pitchFamily="34" charset="-122"/>
                          <a:cs typeface="Calibri" pitchFamily="34" charset="-120"/>
                        </a:rPr>
                        <a:t>Dedicated Native App</a:t>
                      </a:r>
                      <a:endParaRPr lang="en-US" sz="95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c>
                  <a:txBody>
                    <a:bodyPr/>
                    <a:lstStyle/>
                    <a:p>
                      <a:pPr algn="ctr" indent="0" marL="0">
                        <a:buNone/>
                      </a:pPr>
                      <a:r>
                        <a:rPr lang="en-US" sz="950" dirty="0">
                          <a:solidFill>
                            <a:srgbClr val="10B981"/>
                          </a:solidFill>
                          <a:latin typeface="Calibri" pitchFamily="34" charset="0"/>
                          <a:ea typeface="Calibri" pitchFamily="34" charset="-122"/>
                          <a:cs typeface="Calibri" pitchFamily="34" charset="-120"/>
                        </a:rPr>
                        <a:t>High (ARKit/Core)</a:t>
                      </a:r>
                      <a:endParaRPr lang="en-US" sz="95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c>
                  <a:txBody>
                    <a:bodyPr/>
                    <a:lstStyle/>
                    <a:p>
                      <a:pPr algn="ctr" indent="0" marL="0">
                        <a:buNone/>
                      </a:pPr>
                      <a:r>
                        <a:rPr lang="en-US" sz="950" dirty="0">
                          <a:solidFill>
                            <a:srgbClr val="10B981"/>
                          </a:solidFill>
                          <a:latin typeface="Calibri" pitchFamily="34" charset="0"/>
                          <a:ea typeface="Calibri" pitchFamily="34" charset="-122"/>
                          <a:cs typeface="Calibri" pitchFamily="34" charset="-120"/>
                        </a:rPr>
                        <a:t>₹0 (User Phone)</a:t>
                      </a:r>
                      <a:endParaRPr lang="en-US" sz="95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c>
                  <a:txBody>
                    <a:bodyPr/>
                    <a:lstStyle/>
                    <a:p>
                      <a:pPr algn="ctr" indent="0" marL="0">
                        <a:buNone/>
                      </a:pPr>
                      <a:r>
                        <a:rPr lang="en-US" sz="950" dirty="0">
                          <a:solidFill>
                            <a:srgbClr val="F43F5E"/>
                          </a:solidFill>
                          <a:latin typeface="Calibri" pitchFamily="34" charset="0"/>
                          <a:ea typeface="Calibri" pitchFamily="34" charset="-122"/>
                          <a:cs typeface="Calibri" pitchFamily="34" charset="-120"/>
                        </a:rPr>
                        <a:t>70%+ App Drop-off</a:t>
                      </a:r>
                      <a:endParaRPr lang="en-US" sz="95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r>
              <a:tr h="335280">
                <a:tc>
                  <a:txBody>
                    <a:bodyPr/>
                    <a:lstStyle/>
                    <a:p>
                      <a:pPr algn="ctr" indent="0" marL="0">
                        <a:buNone/>
                      </a:pPr>
                      <a:r>
                        <a:rPr lang="en-US" sz="950" b="1" dirty="0">
                          <a:solidFill>
                            <a:srgbClr val="38BDF8"/>
                          </a:solidFill>
                          <a:latin typeface="Calibri" pitchFamily="34" charset="0"/>
                          <a:ea typeface="Calibri" pitchFamily="34" charset="-122"/>
                          <a:cs typeface="Calibri" pitchFamily="34" charset="-120"/>
                        </a:rPr>
                        <a:t>Smart Restaurant (Ours)</a:t>
                      </a:r>
                      <a:endParaRPr lang="en-US" sz="95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solidFill>
                      <a:srgbClr val="172554"/>
                    </a:solidFill>
                  </a:tcPr>
                </a:tc>
                <a:tc>
                  <a:txBody>
                    <a:bodyPr/>
                    <a:lstStyle/>
                    <a:p>
                      <a:pPr algn="ctr" indent="0" marL="0">
                        <a:buNone/>
                      </a:pPr>
                      <a:r>
                        <a:rPr lang="en-US" sz="950" b="1" dirty="0">
                          <a:solidFill>
                            <a:srgbClr val="38BDF8"/>
                          </a:solidFill>
                          <a:latin typeface="Calibri" pitchFamily="34" charset="0"/>
                          <a:ea typeface="Calibri" pitchFamily="34" charset="-122"/>
                          <a:cs typeface="Calibri" pitchFamily="34" charset="-120"/>
                        </a:rPr>
                        <a:t>Zero-Install WebXR</a:t>
                      </a:r>
                      <a:endParaRPr lang="en-US" sz="95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solidFill>
                      <a:srgbClr val="172554"/>
                    </a:solidFill>
                  </a:tcPr>
                </a:tc>
                <a:tc>
                  <a:txBody>
                    <a:bodyPr/>
                    <a:lstStyle/>
                    <a:p>
                      <a:pPr algn="ctr" indent="0" marL="0">
                        <a:buNone/>
                      </a:pPr>
                      <a:r>
                        <a:rPr lang="en-US" sz="950" b="1" dirty="0">
                          <a:solidFill>
                            <a:srgbClr val="38BDF8"/>
                          </a:solidFill>
                          <a:latin typeface="Calibri" pitchFamily="34" charset="0"/>
                          <a:ea typeface="Calibri" pitchFamily="34" charset="-122"/>
                          <a:cs typeface="Calibri" pitchFamily="34" charset="-120"/>
                        </a:rPr>
                        <a:t>1:1 Metric 6-DoF AR</a:t>
                      </a:r>
                      <a:endParaRPr lang="en-US" sz="95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solidFill>
                      <a:srgbClr val="172554"/>
                    </a:solidFill>
                  </a:tcPr>
                </a:tc>
                <a:tc>
                  <a:txBody>
                    <a:bodyPr/>
                    <a:lstStyle/>
                    <a:p>
                      <a:pPr algn="ctr" indent="0" marL="0">
                        <a:buNone/>
                      </a:pPr>
                      <a:r>
                        <a:rPr lang="en-US" sz="950" b="1" dirty="0">
                          <a:solidFill>
                            <a:srgbClr val="10B981"/>
                          </a:solidFill>
                          <a:latin typeface="Calibri" pitchFamily="34" charset="0"/>
                          <a:ea typeface="Calibri" pitchFamily="34" charset="-122"/>
                          <a:cs typeface="Calibri" pitchFamily="34" charset="-120"/>
                        </a:rPr>
                        <a:t>₹0 (Customer Phone)</a:t>
                      </a:r>
                      <a:endParaRPr lang="en-US" sz="95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solidFill>
                      <a:srgbClr val="172554"/>
                    </a:solidFill>
                  </a:tcPr>
                </a:tc>
                <a:tc>
                  <a:txBody>
                    <a:bodyPr/>
                    <a:lstStyle/>
                    <a:p>
                      <a:pPr algn="ctr" indent="0" marL="0">
                        <a:buNone/>
                      </a:pPr>
                      <a:r>
                        <a:rPr lang="en-US" sz="950" b="1" dirty="0">
                          <a:solidFill>
                            <a:srgbClr val="10B981"/>
                          </a:solidFill>
                          <a:latin typeface="Calibri" pitchFamily="34" charset="0"/>
                          <a:ea typeface="Calibri" pitchFamily="34" charset="-122"/>
                          <a:cs typeface="Calibri" pitchFamily="34" charset="-120"/>
                        </a:rPr>
                        <a:t>Zero Friction (Instant)</a:t>
                      </a:r>
                      <a:endParaRPr lang="en-US" sz="95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solidFill>
                      <a:srgbClr val="172554"/>
                    </a:solidFill>
                  </a:tcPr>
                </a:tc>
              </a:tr>
            </a:tbl>
          </a:graphicData>
        </a:graphic>
      </p:graphicFrame>
      <p:sp>
        <p:nvSpPr>
          <p:cNvPr id="7" name="Shape 4"/>
          <p:cNvSpPr/>
          <p:nvPr/>
        </p:nvSpPr>
        <p:spPr>
          <a:xfrm>
            <a:off x="548640" y="3383280"/>
            <a:ext cx="8046720" cy="1234440"/>
          </a:xfrm>
          <a:prstGeom prst="roundRect">
            <a:avLst>
              <a:gd name="adj" fmla="val 5926"/>
            </a:avLst>
          </a:prstGeom>
          <a:solidFill>
            <a:srgbClr val="1E293B"/>
          </a:solidFill>
          <a:ln w="12700">
            <a:solidFill>
              <a:srgbClr val="F59E0B"/>
            </a:solidFill>
            <a:prstDash val="solid"/>
          </a:ln>
        </p:spPr>
      </p:sp>
      <p:sp>
        <p:nvSpPr>
          <p:cNvPr id="8" name="Text 5"/>
          <p:cNvSpPr/>
          <p:nvPr/>
        </p:nvSpPr>
        <p:spPr>
          <a:xfrm>
            <a:off x="731520" y="3520440"/>
            <a:ext cx="7680960" cy="228600"/>
          </a:xfrm>
          <a:prstGeom prst="rect">
            <a:avLst/>
          </a:prstGeom>
          <a:noFill/>
          <a:ln/>
        </p:spPr>
        <p:txBody>
          <a:bodyPr wrap="square" lIns="0" tIns="0" rIns="0" bIns="0" rtlCol="0" anchor="ctr"/>
          <a:lstStyle/>
          <a:p>
            <a:pPr indent="0" marL="0">
              <a:buNone/>
            </a:pPr>
            <a:r>
              <a:rPr lang="en-US" sz="1000" b="1" dirty="0">
                <a:solidFill>
                  <a:srgbClr val="F59E0B"/>
                </a:solidFill>
                <a:latin typeface="Calibri" pitchFamily="34" charset="0"/>
                <a:ea typeface="Calibri" pitchFamily="34" charset="-122"/>
                <a:cs typeface="Calibri" pitchFamily="34" charset="-120"/>
              </a:rPr>
              <a:t>IDENTIFIED RESEARCH GAP &amp; SYSTEM JUSTIFICATION</a:t>
            </a:r>
            <a:endParaRPr lang="en-US" sz="1000" dirty="0"/>
          </a:p>
        </p:txBody>
      </p:sp>
      <p:sp>
        <p:nvSpPr>
          <p:cNvPr id="9" name="Text 6"/>
          <p:cNvSpPr/>
          <p:nvPr/>
        </p:nvSpPr>
        <p:spPr>
          <a:xfrm>
            <a:off x="731520" y="3749040"/>
            <a:ext cx="7680960" cy="777240"/>
          </a:xfrm>
          <a:prstGeom prst="rect">
            <a:avLst/>
          </a:prstGeom>
          <a:noFill/>
          <a:ln/>
        </p:spPr>
        <p:txBody>
          <a:bodyPr wrap="square" lIns="0" tIns="0" rIns="0" bIns="0" rtlCol="0" anchor="ctr"/>
          <a:lstStyle/>
          <a:p>
            <a:pPr indent="0" marL="0">
              <a:spcAft>
                <a:spcPts val="400"/>
              </a:spcAft>
              <a:buNone/>
            </a:pPr>
            <a:r>
              <a:rPr lang="en-US" sz="950" b="1" dirty="0">
                <a:solidFill>
                  <a:srgbClr val="FFFFFF"/>
                </a:solidFill>
                <a:latin typeface="Calibri" pitchFamily="34" charset="0"/>
                <a:ea typeface="Calibri" pitchFamily="34" charset="-122"/>
                <a:cs typeface="Calibri" pitchFamily="34" charset="-120"/>
              </a:rPr>
              <a:t>• Literature Analysis: </a:t>
            </a:r>
            <a:pPr indent="0" marL="0">
              <a:spcAft>
                <a:spcPts val="400"/>
              </a:spcAft>
              <a:buNone/>
            </a:pPr>
            <a:r>
              <a:rPr lang="en-US" sz="950" dirty="0">
                <a:solidFill>
                  <a:srgbClr val="E2E8F0"/>
                </a:solidFill>
                <a:latin typeface="Calibri" pitchFamily="34" charset="0"/>
                <a:ea typeface="Calibri" pitchFamily="34" charset="-122"/>
                <a:cs typeface="Calibri" pitchFamily="34" charset="-120"/>
              </a:rPr>
              <a:t>While spatial computing has proven efficacy in e-commerce, existing restaurant applications rely exclusively on cumbersome native app installations (ARKit/ARCore), resulting in severe patron abandonment during dining.</a:t>
            </a:r>
            <a:endParaRPr lang="en-US" sz="950" dirty="0"/>
          </a:p>
          <a:p>
            <a:pPr indent="0" marL="0">
              <a:spcAft>
                <a:spcPts val="400"/>
              </a:spcAft>
              <a:buNone/>
            </a:pPr>
            <a:r>
              <a:rPr lang="en-US" sz="950" b="1" dirty="0">
                <a:solidFill>
                  <a:srgbClr val="FFFFFF"/>
                </a:solidFill>
                <a:latin typeface="Calibri" pitchFamily="34" charset="0"/>
                <a:ea typeface="Calibri" pitchFamily="34" charset="-122"/>
                <a:cs typeface="Calibri" pitchFamily="34" charset="-120"/>
              </a:rPr>
              <a:t>• The Engineering Imperative: </a:t>
            </a:r>
            <a:pPr indent="0" marL="0">
              <a:spcAft>
                <a:spcPts val="400"/>
              </a:spcAft>
              <a:buNone/>
            </a:pPr>
            <a:r>
              <a:rPr lang="en-US" sz="950" dirty="0">
                <a:solidFill>
                  <a:srgbClr val="E2E8F0"/>
                </a:solidFill>
                <a:latin typeface="Calibri" pitchFamily="34" charset="0"/>
                <a:ea typeface="Calibri" pitchFamily="34" charset="-122"/>
                <a:cs typeface="Calibri" pitchFamily="34" charset="-120"/>
              </a:rPr>
              <a:t>Our research addresses the technical hurdle of executing true 6-DoF tabletop plane detection and rendering heavy 3D GLB models purely within web browsers, maintaining 60 FPS while completely eliminating native app store barriers.</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548640" y="365760"/>
            <a:ext cx="8046720" cy="228600"/>
          </a:xfrm>
          <a:prstGeom prst="rect">
            <a:avLst/>
          </a:prstGeom>
          <a:noFill/>
          <a:ln/>
        </p:spPr>
        <p:txBody>
          <a:bodyPr wrap="square" lIns="0" tIns="0" rIns="0" bIns="0" rtlCol="0" anchor="ctr"/>
          <a:lstStyle/>
          <a:p>
            <a:pPr indent="0" marL="0">
              <a:buNone/>
            </a:pPr>
            <a:r>
              <a:rPr lang="en-US" sz="1000" b="1" spc="150" kern="0" dirty="0">
                <a:solidFill>
                  <a:srgbClr val="38BDF8"/>
                </a:solidFill>
                <a:latin typeface="Calibri" pitchFamily="34" charset="0"/>
                <a:ea typeface="Calibri" pitchFamily="34" charset="-122"/>
                <a:cs typeface="Calibri" pitchFamily="34" charset="-120"/>
              </a:rPr>
              <a:t>SYSTEM OVERVIEW</a:t>
            </a:r>
            <a:endParaRPr lang="en-US" sz="1000" dirty="0"/>
          </a:p>
        </p:txBody>
      </p:sp>
      <p:sp>
        <p:nvSpPr>
          <p:cNvPr id="3" name="Text 1"/>
          <p:cNvSpPr/>
          <p:nvPr/>
        </p:nvSpPr>
        <p:spPr>
          <a:xfrm>
            <a:off x="548640" y="594360"/>
            <a:ext cx="8046720" cy="41148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Proposed Smart Restaurant Architecture &amp; Key Capabilities</a:t>
            </a:r>
            <a:endParaRPr lang="en-US" sz="2200" dirty="0"/>
          </a:p>
        </p:txBody>
      </p:sp>
      <p:sp>
        <p:nvSpPr>
          <p:cNvPr id="4" name="Text 2"/>
          <p:cNvSpPr/>
          <p:nvPr/>
        </p:nvSpPr>
        <p:spPr>
          <a:xfrm>
            <a:off x="548640" y="4800600"/>
            <a:ext cx="5943600" cy="228600"/>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5" name="Text 3"/>
          <p:cNvSpPr/>
          <p:nvPr/>
        </p:nvSpPr>
        <p:spPr>
          <a:xfrm>
            <a:off x="6583680" y="4800600"/>
            <a:ext cx="2011680" cy="228600"/>
          </a:xfrm>
          <a:prstGeom prst="rect">
            <a:avLst/>
          </a:prstGeom>
          <a:noFill/>
          <a:ln/>
        </p:spPr>
        <p:txBody>
          <a:bodyPr wrap="square" lIns="0" tIns="0" rIns="0" bIns="0" rtlCol="0" anchor="ctr"/>
          <a:lstStyle/>
          <a:p>
            <a:pPr algn="r" indent="0" marL="0">
              <a:buNone/>
            </a:pPr>
            <a:r>
              <a:rPr lang="en-US" sz="900" dirty="0">
                <a:solidFill>
                  <a:srgbClr val="38BDF8"/>
                </a:solidFill>
                <a:latin typeface="Calibri" pitchFamily="34" charset="0"/>
                <a:ea typeface="Calibri" pitchFamily="34" charset="-122"/>
                <a:cs typeface="Calibri" pitchFamily="34" charset="-120"/>
              </a:rPr>
              <a:t>https://smart-restaurant-2za8.vercel.app/</a:t>
            </a:r>
            <a:endParaRPr lang="en-US" sz="900" dirty="0"/>
          </a:p>
        </p:txBody>
      </p:sp>
      <p:sp>
        <p:nvSpPr>
          <p:cNvPr id="6" name="Shape 4"/>
          <p:cNvSpPr/>
          <p:nvPr/>
        </p:nvSpPr>
        <p:spPr>
          <a:xfrm>
            <a:off x="548640" y="1188720"/>
            <a:ext cx="3931920" cy="1554480"/>
          </a:xfrm>
          <a:prstGeom prst="roundRect">
            <a:avLst>
              <a:gd name="adj" fmla="val 4706"/>
            </a:avLst>
          </a:prstGeom>
          <a:solidFill>
            <a:srgbClr val="1E293B"/>
          </a:solidFill>
          <a:ln w="12700">
            <a:solidFill>
              <a:srgbClr val="334155"/>
            </a:solidFill>
            <a:prstDash val="solid"/>
          </a:ln>
        </p:spPr>
      </p:sp>
      <p:sp>
        <p:nvSpPr>
          <p:cNvPr id="7" name="Text 5"/>
          <p:cNvSpPr/>
          <p:nvPr/>
        </p:nvSpPr>
        <p:spPr>
          <a:xfrm>
            <a:off x="777240" y="1371600"/>
            <a:ext cx="3474720" cy="320040"/>
          </a:xfrm>
          <a:prstGeom prst="rect">
            <a:avLst/>
          </a:prstGeom>
          <a:noFill/>
          <a:ln/>
        </p:spPr>
        <p:txBody>
          <a:bodyPr wrap="square" lIns="0" tIns="0" rIns="0" bIns="0" rtlCol="0" anchor="ctr"/>
          <a:lstStyle/>
          <a:p>
            <a:pPr indent="0" marL="0">
              <a:buNone/>
            </a:pPr>
            <a:r>
              <a:rPr lang="en-US" sz="1300" b="1" dirty="0">
                <a:solidFill>
                  <a:srgbClr val="38BDF8"/>
                </a:solidFill>
                <a:latin typeface="Cambria" pitchFamily="34" charset="0"/>
                <a:ea typeface="Cambria" pitchFamily="34" charset="-122"/>
                <a:cs typeface="Cambria" pitchFamily="34" charset="-120"/>
              </a:rPr>
              <a:t>Instant Table QR PWA Onboarding</a:t>
            </a:r>
            <a:endParaRPr lang="en-US" sz="1300" dirty="0"/>
          </a:p>
        </p:txBody>
      </p:sp>
      <p:sp>
        <p:nvSpPr>
          <p:cNvPr id="8" name="Text 6"/>
          <p:cNvSpPr/>
          <p:nvPr/>
        </p:nvSpPr>
        <p:spPr>
          <a:xfrm>
            <a:off x="777240" y="1737360"/>
            <a:ext cx="3474720" cy="868680"/>
          </a:xfrm>
          <a:prstGeom prst="rect">
            <a:avLst/>
          </a:prstGeom>
          <a:noFill/>
          <a:ln/>
        </p:spPr>
        <p:txBody>
          <a:bodyPr wrap="square" lIns="0" tIns="0" rIns="0" bIns="0" rtlCol="0" anchor="ctr"/>
          <a:lstStyle/>
          <a:p>
            <a:pPr indent="0" marL="0">
              <a:buNone/>
            </a:pPr>
            <a:r>
              <a:rPr lang="en-US" sz="1000" dirty="0">
                <a:solidFill>
                  <a:srgbClr val="E2E8F0"/>
                </a:solidFill>
                <a:latin typeface="Calibri" pitchFamily="34" charset="0"/>
                <a:ea typeface="Calibri" pitchFamily="34" charset="-122"/>
                <a:cs typeface="Calibri" pitchFamily="34" charset="-120"/>
              </a:rPr>
              <a:t>Patrons scan a table QR code (e.g., `/?table=1`) to launch the full-featured PWA instantly with zero installation, initializing a persistent dining cart session.</a:t>
            </a:r>
            <a:endParaRPr lang="en-US" sz="1000" dirty="0"/>
          </a:p>
        </p:txBody>
      </p:sp>
      <p:sp>
        <p:nvSpPr>
          <p:cNvPr id="9" name="Shape 7"/>
          <p:cNvSpPr/>
          <p:nvPr/>
        </p:nvSpPr>
        <p:spPr>
          <a:xfrm>
            <a:off x="4663440" y="1188720"/>
            <a:ext cx="3931920" cy="1554480"/>
          </a:xfrm>
          <a:prstGeom prst="roundRect">
            <a:avLst>
              <a:gd name="adj" fmla="val 4706"/>
            </a:avLst>
          </a:prstGeom>
          <a:solidFill>
            <a:srgbClr val="1E293B"/>
          </a:solidFill>
          <a:ln w="12700">
            <a:solidFill>
              <a:srgbClr val="334155"/>
            </a:solidFill>
            <a:prstDash val="solid"/>
          </a:ln>
        </p:spPr>
      </p:sp>
      <p:sp>
        <p:nvSpPr>
          <p:cNvPr id="10" name="Text 8"/>
          <p:cNvSpPr/>
          <p:nvPr/>
        </p:nvSpPr>
        <p:spPr>
          <a:xfrm>
            <a:off x="4892040" y="1371600"/>
            <a:ext cx="3474720" cy="320040"/>
          </a:xfrm>
          <a:prstGeom prst="rect">
            <a:avLst/>
          </a:prstGeom>
          <a:noFill/>
          <a:ln/>
        </p:spPr>
        <p:txBody>
          <a:bodyPr wrap="square" lIns="0" tIns="0" rIns="0" bIns="0" rtlCol="0" anchor="ctr"/>
          <a:lstStyle/>
          <a:p>
            <a:pPr indent="0" marL="0">
              <a:buNone/>
            </a:pPr>
            <a:r>
              <a:rPr lang="en-US" sz="1300" b="1" dirty="0">
                <a:solidFill>
                  <a:srgbClr val="F59E0B"/>
                </a:solidFill>
                <a:latin typeface="Cambria" pitchFamily="34" charset="0"/>
                <a:ea typeface="Cambria" pitchFamily="34" charset="-122"/>
                <a:cs typeface="Cambria" pitchFamily="34" charset="-120"/>
              </a:rPr>
              <a:t>Dual-Engine Spatial AR Viewer</a:t>
            </a:r>
            <a:endParaRPr lang="en-US" sz="1300" dirty="0"/>
          </a:p>
        </p:txBody>
      </p:sp>
      <p:sp>
        <p:nvSpPr>
          <p:cNvPr id="11" name="Text 9"/>
          <p:cNvSpPr/>
          <p:nvPr/>
        </p:nvSpPr>
        <p:spPr>
          <a:xfrm>
            <a:off x="4892040" y="1737360"/>
            <a:ext cx="3474720" cy="868680"/>
          </a:xfrm>
          <a:prstGeom prst="rect">
            <a:avLst/>
          </a:prstGeom>
          <a:noFill/>
          <a:ln/>
        </p:spPr>
        <p:txBody>
          <a:bodyPr wrap="square" lIns="0" tIns="0" rIns="0" bIns="0" rtlCol="0" anchor="ctr"/>
          <a:lstStyle/>
          <a:p>
            <a:pPr indent="0" marL="0">
              <a:buNone/>
            </a:pPr>
            <a:r>
              <a:rPr lang="en-US" sz="1000" dirty="0">
                <a:solidFill>
                  <a:srgbClr val="E2E8F0"/>
                </a:solidFill>
                <a:latin typeface="Calibri" pitchFamily="34" charset="0"/>
                <a:ea typeface="Calibri" pitchFamily="34" charset="-122"/>
                <a:cs typeface="Calibri" pitchFamily="34" charset="-120"/>
              </a:rPr>
              <a:t>Combines native WebXR `requestHitTestSource` 6-DoF table anchoring with Google Scene Viewer Android Intent fallbacks, ensuring 100% universal smartphone compatibility.</a:t>
            </a:r>
            <a:endParaRPr lang="en-US" sz="1000" dirty="0"/>
          </a:p>
        </p:txBody>
      </p:sp>
      <p:sp>
        <p:nvSpPr>
          <p:cNvPr id="12" name="Shape 10"/>
          <p:cNvSpPr/>
          <p:nvPr/>
        </p:nvSpPr>
        <p:spPr>
          <a:xfrm>
            <a:off x="548640" y="2880360"/>
            <a:ext cx="3931920" cy="1554480"/>
          </a:xfrm>
          <a:prstGeom prst="roundRect">
            <a:avLst>
              <a:gd name="adj" fmla="val 4706"/>
            </a:avLst>
          </a:prstGeom>
          <a:solidFill>
            <a:srgbClr val="1E293B"/>
          </a:solidFill>
          <a:ln w="12700">
            <a:solidFill>
              <a:srgbClr val="334155"/>
            </a:solidFill>
            <a:prstDash val="solid"/>
          </a:ln>
        </p:spPr>
      </p:sp>
      <p:sp>
        <p:nvSpPr>
          <p:cNvPr id="13" name="Text 11"/>
          <p:cNvSpPr/>
          <p:nvPr/>
        </p:nvSpPr>
        <p:spPr>
          <a:xfrm>
            <a:off x="777240" y="3063240"/>
            <a:ext cx="3474720" cy="320040"/>
          </a:xfrm>
          <a:prstGeom prst="rect">
            <a:avLst/>
          </a:prstGeom>
          <a:noFill/>
          <a:ln/>
        </p:spPr>
        <p:txBody>
          <a:bodyPr wrap="square" lIns="0" tIns="0" rIns="0" bIns="0" rtlCol="0" anchor="ctr"/>
          <a:lstStyle/>
          <a:p>
            <a:pPr indent="0" marL="0">
              <a:buNone/>
            </a:pPr>
            <a:r>
              <a:rPr lang="en-US" sz="1300" b="1" dirty="0">
                <a:solidFill>
                  <a:srgbClr val="10B981"/>
                </a:solidFill>
                <a:latin typeface="Cambria" pitchFamily="34" charset="0"/>
                <a:ea typeface="Cambria" pitchFamily="34" charset="-122"/>
                <a:cs typeface="Cambria" pitchFamily="34" charset="-120"/>
              </a:rPr>
              <a:t>Smart Dietary &amp; Nutritional Engine</a:t>
            </a:r>
            <a:endParaRPr lang="en-US" sz="1300" dirty="0"/>
          </a:p>
        </p:txBody>
      </p:sp>
      <p:sp>
        <p:nvSpPr>
          <p:cNvPr id="14" name="Text 12"/>
          <p:cNvSpPr/>
          <p:nvPr/>
        </p:nvSpPr>
        <p:spPr>
          <a:xfrm>
            <a:off x="777240" y="3429000"/>
            <a:ext cx="3474720" cy="868680"/>
          </a:xfrm>
          <a:prstGeom prst="rect">
            <a:avLst/>
          </a:prstGeom>
          <a:noFill/>
          <a:ln/>
        </p:spPr>
        <p:txBody>
          <a:bodyPr wrap="square" lIns="0" tIns="0" rIns="0" bIns="0" rtlCol="0" anchor="ctr"/>
          <a:lstStyle/>
          <a:p>
            <a:pPr indent="0" marL="0">
              <a:buNone/>
            </a:pPr>
            <a:r>
              <a:rPr lang="en-US" sz="1000" dirty="0">
                <a:solidFill>
                  <a:srgbClr val="E2E8F0"/>
                </a:solidFill>
                <a:latin typeface="Calibri" pitchFamily="34" charset="0"/>
                <a:ea typeface="Calibri" pitchFamily="34" charset="-122"/>
                <a:cs typeface="Calibri" pitchFamily="34" charset="-120"/>
              </a:rPr>
              <a:t>Interactive filtering by vegetarian, non-veg, spice intensity, preparation time, and allergens, complete with comprehensive calorie counts and macros.</a:t>
            </a:r>
            <a:endParaRPr lang="en-US" sz="1000" dirty="0"/>
          </a:p>
        </p:txBody>
      </p:sp>
      <p:sp>
        <p:nvSpPr>
          <p:cNvPr id="15" name="Shape 13"/>
          <p:cNvSpPr/>
          <p:nvPr/>
        </p:nvSpPr>
        <p:spPr>
          <a:xfrm>
            <a:off x="4663440" y="2880360"/>
            <a:ext cx="3931920" cy="1554480"/>
          </a:xfrm>
          <a:prstGeom prst="roundRect">
            <a:avLst>
              <a:gd name="adj" fmla="val 4706"/>
            </a:avLst>
          </a:prstGeom>
          <a:solidFill>
            <a:srgbClr val="1E293B"/>
          </a:solidFill>
          <a:ln w="12700">
            <a:solidFill>
              <a:srgbClr val="334155"/>
            </a:solidFill>
            <a:prstDash val="solid"/>
          </a:ln>
        </p:spPr>
      </p:sp>
      <p:sp>
        <p:nvSpPr>
          <p:cNvPr id="16" name="Text 14"/>
          <p:cNvSpPr/>
          <p:nvPr/>
        </p:nvSpPr>
        <p:spPr>
          <a:xfrm>
            <a:off x="4892040" y="3063240"/>
            <a:ext cx="3474720" cy="320040"/>
          </a:xfrm>
          <a:prstGeom prst="rect">
            <a:avLst/>
          </a:prstGeom>
          <a:noFill/>
          <a:ln/>
        </p:spPr>
        <p:txBody>
          <a:bodyPr wrap="square" lIns="0" tIns="0" rIns="0" bIns="0" rtlCol="0" anchor="ctr"/>
          <a:lstStyle/>
          <a:p>
            <a:pPr indent="0" marL="0">
              <a:buNone/>
            </a:pPr>
            <a:r>
              <a:rPr lang="en-US" sz="1300" b="1" dirty="0">
                <a:solidFill>
                  <a:srgbClr val="F43F5E"/>
                </a:solidFill>
                <a:latin typeface="Cambria" pitchFamily="34" charset="0"/>
                <a:ea typeface="Cambria" pitchFamily="34" charset="-122"/>
                <a:cs typeface="Cambria" pitchFamily="34" charset="-120"/>
              </a:rPr>
              <a:t>Synchronized Kitchen Display System</a:t>
            </a:r>
            <a:endParaRPr lang="en-US" sz="1300" dirty="0"/>
          </a:p>
        </p:txBody>
      </p:sp>
      <p:sp>
        <p:nvSpPr>
          <p:cNvPr id="17" name="Text 15"/>
          <p:cNvSpPr/>
          <p:nvPr/>
        </p:nvSpPr>
        <p:spPr>
          <a:xfrm>
            <a:off x="4892040" y="3429000"/>
            <a:ext cx="3474720" cy="868680"/>
          </a:xfrm>
          <a:prstGeom prst="rect">
            <a:avLst/>
          </a:prstGeom>
          <a:noFill/>
          <a:ln/>
        </p:spPr>
        <p:txBody>
          <a:bodyPr wrap="square" lIns="0" tIns="0" rIns="0" bIns="0" rtlCol="0" anchor="ctr"/>
          <a:lstStyle/>
          <a:p>
            <a:pPr indent="0" marL="0">
              <a:buNone/>
            </a:pPr>
            <a:r>
              <a:rPr lang="en-US" sz="1000" dirty="0">
                <a:solidFill>
                  <a:srgbClr val="E2E8F0"/>
                </a:solidFill>
                <a:latin typeface="Calibri" pitchFamily="34" charset="0"/>
                <a:ea typeface="Calibri" pitchFamily="34" charset="-122"/>
                <a:cs typeface="Calibri" pitchFamily="34" charset="-120"/>
              </a:rPr>
              <a:t>Real-time kitchen order management with acoustic notifications and stateful ticket advancement (Pending -&gt; Preparing -&gt; Ready -&gt; Delivered).</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548640" y="365760"/>
            <a:ext cx="8046720" cy="228600"/>
          </a:xfrm>
          <a:prstGeom prst="rect">
            <a:avLst/>
          </a:prstGeom>
          <a:noFill/>
          <a:ln/>
        </p:spPr>
        <p:txBody>
          <a:bodyPr wrap="square" lIns="0" tIns="0" rIns="0" bIns="0" rtlCol="0" anchor="ctr"/>
          <a:lstStyle/>
          <a:p>
            <a:pPr indent="0" marL="0">
              <a:buNone/>
            </a:pPr>
            <a:r>
              <a:rPr lang="en-US" sz="1000" b="1" spc="150" kern="0" dirty="0">
                <a:solidFill>
                  <a:srgbClr val="38BDF8"/>
                </a:solidFill>
                <a:latin typeface="Calibri" pitchFamily="34" charset="0"/>
                <a:ea typeface="Calibri" pitchFamily="34" charset="-122"/>
                <a:cs typeface="Calibri" pitchFamily="34" charset="-120"/>
              </a:rPr>
              <a:t>RUBRIC CRITERION 2 (10 MARKS)</a:t>
            </a:r>
            <a:endParaRPr lang="en-US" sz="1000" dirty="0"/>
          </a:p>
        </p:txBody>
      </p:sp>
      <p:sp>
        <p:nvSpPr>
          <p:cNvPr id="3" name="Text 1"/>
          <p:cNvSpPr/>
          <p:nvPr/>
        </p:nvSpPr>
        <p:spPr>
          <a:xfrm>
            <a:off x="548640" y="594360"/>
            <a:ext cx="8046720" cy="41148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Technical Complexity &amp; Engineering Innovations</a:t>
            </a:r>
            <a:endParaRPr lang="en-US" sz="2200" dirty="0"/>
          </a:p>
        </p:txBody>
      </p:sp>
      <p:sp>
        <p:nvSpPr>
          <p:cNvPr id="4" name="Text 2"/>
          <p:cNvSpPr/>
          <p:nvPr/>
        </p:nvSpPr>
        <p:spPr>
          <a:xfrm>
            <a:off x="548640" y="4800600"/>
            <a:ext cx="5943600" cy="228600"/>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5" name="Text 3"/>
          <p:cNvSpPr/>
          <p:nvPr/>
        </p:nvSpPr>
        <p:spPr>
          <a:xfrm>
            <a:off x="6583680" y="4800600"/>
            <a:ext cx="2011680" cy="228600"/>
          </a:xfrm>
          <a:prstGeom prst="rect">
            <a:avLst/>
          </a:prstGeom>
          <a:noFill/>
          <a:ln/>
        </p:spPr>
        <p:txBody>
          <a:bodyPr wrap="square" lIns="0" tIns="0" rIns="0" bIns="0" rtlCol="0" anchor="ctr"/>
          <a:lstStyle/>
          <a:p>
            <a:pPr algn="r" indent="0" marL="0">
              <a:buNone/>
            </a:pPr>
            <a:r>
              <a:rPr lang="en-US" sz="900" dirty="0">
                <a:solidFill>
                  <a:srgbClr val="38BDF8"/>
                </a:solidFill>
                <a:latin typeface="Calibri" pitchFamily="34" charset="0"/>
                <a:ea typeface="Calibri" pitchFamily="34" charset="-122"/>
                <a:cs typeface="Calibri" pitchFamily="34" charset="-120"/>
              </a:rPr>
              <a:t>https://smart-restaurant-2za8.vercel.app/</a:t>
            </a:r>
            <a:endParaRPr lang="en-US" sz="900" dirty="0"/>
          </a:p>
        </p:txBody>
      </p:sp>
      <p:sp>
        <p:nvSpPr>
          <p:cNvPr id="6" name="Shape 4"/>
          <p:cNvSpPr/>
          <p:nvPr/>
        </p:nvSpPr>
        <p:spPr>
          <a:xfrm>
            <a:off x="548640" y="1188720"/>
            <a:ext cx="3931920" cy="1554480"/>
          </a:xfrm>
          <a:prstGeom prst="roundRect">
            <a:avLst>
              <a:gd name="adj" fmla="val 4706"/>
            </a:avLst>
          </a:prstGeom>
          <a:solidFill>
            <a:srgbClr val="1E293B"/>
          </a:solidFill>
          <a:ln w="12700">
            <a:solidFill>
              <a:srgbClr val="334155"/>
            </a:solidFill>
            <a:prstDash val="solid"/>
          </a:ln>
        </p:spPr>
      </p:sp>
      <p:sp>
        <p:nvSpPr>
          <p:cNvPr id="7" name="Text 5"/>
          <p:cNvSpPr/>
          <p:nvPr/>
        </p:nvSpPr>
        <p:spPr>
          <a:xfrm>
            <a:off x="731520" y="1325880"/>
            <a:ext cx="3566160" cy="182880"/>
          </a:xfrm>
          <a:prstGeom prst="rect">
            <a:avLst/>
          </a:prstGeom>
          <a:noFill/>
          <a:ln/>
        </p:spPr>
        <p:txBody>
          <a:bodyPr wrap="square" lIns="0" tIns="0" rIns="0" bIns="0" rtlCol="0" anchor="ctr"/>
          <a:lstStyle/>
          <a:p>
            <a:pPr indent="0" marL="0">
              <a:buNone/>
            </a:pPr>
            <a:r>
              <a:rPr lang="en-US" sz="900" b="1" dirty="0">
                <a:solidFill>
                  <a:srgbClr val="38BDF8"/>
                </a:solidFill>
                <a:latin typeface="Calibri" pitchFamily="34" charset="0"/>
                <a:ea typeface="Calibri" pitchFamily="34" charset="-122"/>
                <a:cs typeface="Calibri" pitchFamily="34" charset="-120"/>
              </a:rPr>
              <a:t>SPATIAL COMPUTING</a:t>
            </a:r>
            <a:endParaRPr lang="en-US" sz="900" dirty="0"/>
          </a:p>
        </p:txBody>
      </p:sp>
      <p:sp>
        <p:nvSpPr>
          <p:cNvPr id="8" name="Text 6"/>
          <p:cNvSpPr/>
          <p:nvPr/>
        </p:nvSpPr>
        <p:spPr>
          <a:xfrm>
            <a:off x="731520" y="1508760"/>
            <a:ext cx="3566160" cy="274320"/>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6-DoF Table Surface Hit-Testing</a:t>
            </a:r>
            <a:endParaRPr lang="en-US" sz="1250" dirty="0"/>
          </a:p>
        </p:txBody>
      </p:sp>
      <p:sp>
        <p:nvSpPr>
          <p:cNvPr id="9" name="Text 7"/>
          <p:cNvSpPr/>
          <p:nvPr/>
        </p:nvSpPr>
        <p:spPr>
          <a:xfrm>
            <a:off x="731520" y="1828800"/>
            <a:ext cx="3566160" cy="822960"/>
          </a:xfrm>
          <a:prstGeom prst="rect">
            <a:avLst/>
          </a:prstGeom>
          <a:noFill/>
          <a:ln/>
        </p:spPr>
        <p:txBody>
          <a:bodyPr wrap="square" lIns="0" tIns="0" rIns="0" bIns="0" rtlCol="0" anchor="ctr"/>
          <a:lstStyle/>
          <a:p>
            <a:pPr indent="0" marL="0">
              <a:buNone/>
            </a:pPr>
            <a:r>
              <a:rPr lang="en-US" sz="950" dirty="0">
                <a:solidFill>
                  <a:srgbClr val="E2E8F0"/>
                </a:solidFill>
                <a:latin typeface="Calibri" pitchFamily="34" charset="0"/>
                <a:ea typeface="Calibri" pitchFamily="34" charset="-122"/>
                <a:cs typeface="Calibri" pitchFamily="34" charset="-120"/>
              </a:rPr>
              <a:t>Implemented native WebXR `requestHitTestSource()` to project continuous raycast rays onto physical table planes. Calculates the exact 3D spatial intersection (X, Y, Z) and surface normal, locking models to the table without marker drifting.</a:t>
            </a:r>
            <a:endParaRPr lang="en-US" sz="950" dirty="0"/>
          </a:p>
        </p:txBody>
      </p:sp>
      <p:sp>
        <p:nvSpPr>
          <p:cNvPr id="10" name="Shape 8"/>
          <p:cNvSpPr/>
          <p:nvPr/>
        </p:nvSpPr>
        <p:spPr>
          <a:xfrm>
            <a:off x="4663440" y="1188720"/>
            <a:ext cx="3931920" cy="1554480"/>
          </a:xfrm>
          <a:prstGeom prst="roundRect">
            <a:avLst>
              <a:gd name="adj" fmla="val 4706"/>
            </a:avLst>
          </a:prstGeom>
          <a:solidFill>
            <a:srgbClr val="1E293B"/>
          </a:solidFill>
          <a:ln w="12700">
            <a:solidFill>
              <a:srgbClr val="334155"/>
            </a:solidFill>
            <a:prstDash val="solid"/>
          </a:ln>
        </p:spPr>
      </p:sp>
      <p:sp>
        <p:nvSpPr>
          <p:cNvPr id="11" name="Text 9"/>
          <p:cNvSpPr/>
          <p:nvPr/>
        </p:nvSpPr>
        <p:spPr>
          <a:xfrm>
            <a:off x="4846320" y="1325880"/>
            <a:ext cx="3566160" cy="182880"/>
          </a:xfrm>
          <a:prstGeom prst="rect">
            <a:avLst/>
          </a:prstGeom>
          <a:noFill/>
          <a:ln/>
        </p:spPr>
        <p:txBody>
          <a:bodyPr wrap="square" lIns="0" tIns="0" rIns="0" bIns="0" rtlCol="0" anchor="ctr"/>
          <a:lstStyle/>
          <a:p>
            <a:pPr indent="0" marL="0">
              <a:buNone/>
            </a:pPr>
            <a:r>
              <a:rPr lang="en-US" sz="900" b="1" dirty="0">
                <a:solidFill>
                  <a:srgbClr val="F59E0B"/>
                </a:solidFill>
                <a:latin typeface="Calibri" pitchFamily="34" charset="0"/>
                <a:ea typeface="Calibri" pitchFamily="34" charset="-122"/>
                <a:cs typeface="Calibri" pitchFamily="34" charset="-120"/>
              </a:rPr>
              <a:t>GRAPHICS OPTIMIZATION</a:t>
            </a:r>
            <a:endParaRPr lang="en-US" sz="900" dirty="0"/>
          </a:p>
        </p:txBody>
      </p:sp>
      <p:sp>
        <p:nvSpPr>
          <p:cNvPr id="12" name="Text 10"/>
          <p:cNvSpPr/>
          <p:nvPr/>
        </p:nvSpPr>
        <p:spPr>
          <a:xfrm>
            <a:off x="4846320" y="1508760"/>
            <a:ext cx="3566160" cy="274320"/>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3D Mesh Quantization &amp; Texture Pipeline</a:t>
            </a:r>
            <a:endParaRPr lang="en-US" sz="1250" dirty="0"/>
          </a:p>
        </p:txBody>
      </p:sp>
      <p:sp>
        <p:nvSpPr>
          <p:cNvPr id="13" name="Text 11"/>
          <p:cNvSpPr/>
          <p:nvPr/>
        </p:nvSpPr>
        <p:spPr>
          <a:xfrm>
            <a:off x="4846320" y="1828800"/>
            <a:ext cx="3566160" cy="822960"/>
          </a:xfrm>
          <a:prstGeom prst="rect">
            <a:avLst/>
          </a:prstGeom>
          <a:noFill/>
          <a:ln/>
        </p:spPr>
        <p:txBody>
          <a:bodyPr wrap="square" lIns="0" tIns="0" rIns="0" bIns="0" rtlCol="0" anchor="ctr"/>
          <a:lstStyle/>
          <a:p>
            <a:pPr indent="0" marL="0">
              <a:buNone/>
            </a:pPr>
            <a:r>
              <a:rPr lang="en-US" sz="950" dirty="0">
                <a:solidFill>
                  <a:srgbClr val="E2E8F0"/>
                </a:solidFill>
                <a:latin typeface="Calibri" pitchFamily="34" charset="0"/>
                <a:ea typeface="Calibri" pitchFamily="34" charset="-122"/>
                <a:cs typeface="Calibri" pitchFamily="34" charset="-120"/>
              </a:rPr>
              <a:t>Overcame mobile browser memory limits by processing raw photogrammetry assets via `@gltf-transform`. Downscaled 8K uncompressed textures to 2K WebP and applied Draco mesh compression, shrinking `pizza.glb` from 46.8MB to 10.2MB (78% reduction).</a:t>
            </a:r>
            <a:endParaRPr lang="en-US" sz="950" dirty="0"/>
          </a:p>
        </p:txBody>
      </p:sp>
      <p:sp>
        <p:nvSpPr>
          <p:cNvPr id="14" name="Shape 12"/>
          <p:cNvSpPr/>
          <p:nvPr/>
        </p:nvSpPr>
        <p:spPr>
          <a:xfrm>
            <a:off x="548640" y="2880360"/>
            <a:ext cx="3931920" cy="1554480"/>
          </a:xfrm>
          <a:prstGeom prst="roundRect">
            <a:avLst>
              <a:gd name="adj" fmla="val 4706"/>
            </a:avLst>
          </a:prstGeom>
          <a:solidFill>
            <a:srgbClr val="1E293B"/>
          </a:solidFill>
          <a:ln w="12700">
            <a:solidFill>
              <a:srgbClr val="334155"/>
            </a:solidFill>
            <a:prstDash val="solid"/>
          </a:ln>
        </p:spPr>
      </p:sp>
      <p:sp>
        <p:nvSpPr>
          <p:cNvPr id="15" name="Text 13"/>
          <p:cNvSpPr/>
          <p:nvPr/>
        </p:nvSpPr>
        <p:spPr>
          <a:xfrm>
            <a:off x="731520" y="3017520"/>
            <a:ext cx="3566160" cy="182880"/>
          </a:xfrm>
          <a:prstGeom prst="rect">
            <a:avLst/>
          </a:prstGeom>
          <a:noFill/>
          <a:ln/>
        </p:spPr>
        <p:txBody>
          <a:bodyPr wrap="square" lIns="0" tIns="0" rIns="0" bIns="0" rtlCol="0" anchor="ctr"/>
          <a:lstStyle/>
          <a:p>
            <a:pPr indent="0" marL="0">
              <a:buNone/>
            </a:pPr>
            <a:r>
              <a:rPr lang="en-US" sz="900" b="1" dirty="0">
                <a:solidFill>
                  <a:srgbClr val="10B981"/>
                </a:solidFill>
                <a:latin typeface="Calibri" pitchFamily="34" charset="0"/>
                <a:ea typeface="Calibri" pitchFamily="34" charset="-122"/>
                <a:cs typeface="Calibri" pitchFamily="34" charset="-120"/>
              </a:rPr>
              <a:t>ADAPTIVE FALLBACK</a:t>
            </a:r>
            <a:endParaRPr lang="en-US" sz="900" dirty="0"/>
          </a:p>
        </p:txBody>
      </p:sp>
      <p:sp>
        <p:nvSpPr>
          <p:cNvPr id="16" name="Text 14"/>
          <p:cNvSpPr/>
          <p:nvPr/>
        </p:nvSpPr>
        <p:spPr>
          <a:xfrm>
            <a:off x="731520" y="3200400"/>
            <a:ext cx="3566160" cy="274320"/>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Multi-Tier Device Sniffing Engine</a:t>
            </a:r>
            <a:endParaRPr lang="en-US" sz="1250" dirty="0"/>
          </a:p>
        </p:txBody>
      </p:sp>
      <p:sp>
        <p:nvSpPr>
          <p:cNvPr id="17" name="Text 15"/>
          <p:cNvSpPr/>
          <p:nvPr/>
        </p:nvSpPr>
        <p:spPr>
          <a:xfrm>
            <a:off x="731520" y="3520440"/>
            <a:ext cx="3566160" cy="822960"/>
          </a:xfrm>
          <a:prstGeom prst="rect">
            <a:avLst/>
          </a:prstGeom>
          <a:noFill/>
          <a:ln/>
        </p:spPr>
        <p:txBody>
          <a:bodyPr wrap="square" lIns="0" tIns="0" rIns="0" bIns="0" rtlCol="0" anchor="ctr"/>
          <a:lstStyle/>
          <a:p>
            <a:pPr indent="0" marL="0">
              <a:buNone/>
            </a:pPr>
            <a:r>
              <a:rPr lang="en-US" sz="950" dirty="0">
                <a:solidFill>
                  <a:srgbClr val="E2E8F0"/>
                </a:solidFill>
                <a:latin typeface="Calibri" pitchFamily="34" charset="0"/>
                <a:ea typeface="Calibri" pitchFamily="34" charset="-122"/>
                <a:cs typeface="Calibri" pitchFamily="34" charset="-120"/>
              </a:rPr>
              <a:t>Engineered an automated runtime capability detector. If WebXR AR session creation fails due to browser restrictions, the system smoothly falls back to Google Scene Viewer Intent via Android ARCore, or Google Model-Viewer 3D Canvas.</a:t>
            </a:r>
            <a:endParaRPr lang="en-US" sz="950" dirty="0"/>
          </a:p>
        </p:txBody>
      </p:sp>
      <p:sp>
        <p:nvSpPr>
          <p:cNvPr id="18" name="Shape 16"/>
          <p:cNvSpPr/>
          <p:nvPr/>
        </p:nvSpPr>
        <p:spPr>
          <a:xfrm>
            <a:off x="4663440" y="2880360"/>
            <a:ext cx="3931920" cy="1554480"/>
          </a:xfrm>
          <a:prstGeom prst="roundRect">
            <a:avLst>
              <a:gd name="adj" fmla="val 4706"/>
            </a:avLst>
          </a:prstGeom>
          <a:solidFill>
            <a:srgbClr val="1E293B"/>
          </a:solidFill>
          <a:ln w="12700">
            <a:solidFill>
              <a:srgbClr val="334155"/>
            </a:solidFill>
            <a:prstDash val="solid"/>
          </a:ln>
        </p:spPr>
      </p:sp>
      <p:sp>
        <p:nvSpPr>
          <p:cNvPr id="19" name="Text 17"/>
          <p:cNvSpPr/>
          <p:nvPr/>
        </p:nvSpPr>
        <p:spPr>
          <a:xfrm>
            <a:off x="4846320" y="3017520"/>
            <a:ext cx="3566160" cy="182880"/>
          </a:xfrm>
          <a:prstGeom prst="rect">
            <a:avLst/>
          </a:prstGeom>
          <a:noFill/>
          <a:ln/>
        </p:spPr>
        <p:txBody>
          <a:bodyPr wrap="square" lIns="0" tIns="0" rIns="0" bIns="0" rtlCol="0" anchor="ctr"/>
          <a:lstStyle/>
          <a:p>
            <a:pPr indent="0" marL="0">
              <a:buNone/>
            </a:pPr>
            <a:r>
              <a:rPr lang="en-US" sz="900" b="1" dirty="0">
                <a:solidFill>
                  <a:srgbClr val="F43F5E"/>
                </a:solidFill>
                <a:latin typeface="Calibri" pitchFamily="34" charset="0"/>
                <a:ea typeface="Calibri" pitchFamily="34" charset="-122"/>
                <a:cs typeface="Calibri" pitchFamily="34" charset="-120"/>
              </a:rPr>
              <a:t>EDGE INFRASTRUCTURE</a:t>
            </a:r>
            <a:endParaRPr lang="en-US" sz="900" dirty="0"/>
          </a:p>
        </p:txBody>
      </p:sp>
      <p:sp>
        <p:nvSpPr>
          <p:cNvPr id="20" name="Text 18"/>
          <p:cNvSpPr/>
          <p:nvPr/>
        </p:nvSpPr>
        <p:spPr>
          <a:xfrm>
            <a:off x="4846320" y="3200400"/>
            <a:ext cx="3566160" cy="274320"/>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Cloud Edge MIME &amp; CORS Orchestration</a:t>
            </a:r>
            <a:endParaRPr lang="en-US" sz="1250" dirty="0"/>
          </a:p>
        </p:txBody>
      </p:sp>
      <p:sp>
        <p:nvSpPr>
          <p:cNvPr id="21" name="Text 19"/>
          <p:cNvSpPr/>
          <p:nvPr/>
        </p:nvSpPr>
        <p:spPr>
          <a:xfrm>
            <a:off x="4846320" y="3520440"/>
            <a:ext cx="3566160" cy="822960"/>
          </a:xfrm>
          <a:prstGeom prst="rect">
            <a:avLst/>
          </a:prstGeom>
          <a:noFill/>
          <a:ln/>
        </p:spPr>
        <p:txBody>
          <a:bodyPr wrap="square" lIns="0" tIns="0" rIns="0" bIns="0" rtlCol="0" anchor="ctr"/>
          <a:lstStyle/>
          <a:p>
            <a:pPr indent="0" marL="0">
              <a:buNone/>
            </a:pPr>
            <a:r>
              <a:rPr lang="en-US" sz="950" dirty="0">
                <a:solidFill>
                  <a:srgbClr val="E2E8F0"/>
                </a:solidFill>
                <a:latin typeface="Calibri" pitchFamily="34" charset="0"/>
                <a:ea typeface="Calibri" pitchFamily="34" charset="-122"/>
                <a:cs typeface="Calibri" pitchFamily="34" charset="-120"/>
              </a:rPr>
              <a:t>Resolved browser cross-origin asset blocking by configuring Vercel edge response headers (`vercel.json`) to enforce `Content-Type: model/gltf-binary` and `Access-Control-Allow-Origin: *`, enabling instant streaming to external AR viewers.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548640" y="365760"/>
            <a:ext cx="8046720" cy="228600"/>
          </a:xfrm>
          <a:prstGeom prst="rect">
            <a:avLst/>
          </a:prstGeom>
          <a:noFill/>
          <a:ln/>
        </p:spPr>
        <p:txBody>
          <a:bodyPr wrap="square" lIns="0" tIns="0" rIns="0" bIns="0" rtlCol="0" anchor="ctr"/>
          <a:lstStyle/>
          <a:p>
            <a:pPr indent="0" marL="0">
              <a:buNone/>
            </a:pPr>
            <a:r>
              <a:rPr lang="en-US" sz="1000" b="1" spc="150" kern="0" dirty="0">
                <a:solidFill>
                  <a:srgbClr val="38BDF8"/>
                </a:solidFill>
                <a:latin typeface="Calibri" pitchFamily="34" charset="0"/>
                <a:ea typeface="Calibri" pitchFamily="34" charset="-122"/>
                <a:cs typeface="Calibri" pitchFamily="34" charset="-120"/>
              </a:rPr>
              <a:t>SYSTEM DESIGN</a:t>
            </a:r>
            <a:endParaRPr lang="en-US" sz="1000" dirty="0"/>
          </a:p>
        </p:txBody>
      </p:sp>
      <p:sp>
        <p:nvSpPr>
          <p:cNvPr id="3" name="Text 1"/>
          <p:cNvSpPr/>
          <p:nvPr/>
        </p:nvSpPr>
        <p:spPr>
          <a:xfrm>
            <a:off x="548640" y="594360"/>
            <a:ext cx="8046720" cy="41148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End-to-End Multi-Tier System Architecture</a:t>
            </a:r>
            <a:endParaRPr lang="en-US" sz="2200" dirty="0"/>
          </a:p>
        </p:txBody>
      </p:sp>
      <p:sp>
        <p:nvSpPr>
          <p:cNvPr id="4" name="Text 2"/>
          <p:cNvSpPr/>
          <p:nvPr/>
        </p:nvSpPr>
        <p:spPr>
          <a:xfrm>
            <a:off x="548640" y="4800600"/>
            <a:ext cx="5943600" cy="228600"/>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5" name="Text 3"/>
          <p:cNvSpPr/>
          <p:nvPr/>
        </p:nvSpPr>
        <p:spPr>
          <a:xfrm>
            <a:off x="6583680" y="4800600"/>
            <a:ext cx="2011680" cy="228600"/>
          </a:xfrm>
          <a:prstGeom prst="rect">
            <a:avLst/>
          </a:prstGeom>
          <a:noFill/>
          <a:ln/>
        </p:spPr>
        <p:txBody>
          <a:bodyPr wrap="square" lIns="0" tIns="0" rIns="0" bIns="0" rtlCol="0" anchor="ctr"/>
          <a:lstStyle/>
          <a:p>
            <a:pPr algn="r" indent="0" marL="0">
              <a:buNone/>
            </a:pPr>
            <a:r>
              <a:rPr lang="en-US" sz="900" dirty="0">
                <a:solidFill>
                  <a:srgbClr val="38BDF8"/>
                </a:solidFill>
                <a:latin typeface="Calibri" pitchFamily="34" charset="0"/>
                <a:ea typeface="Calibri" pitchFamily="34" charset="-122"/>
                <a:cs typeface="Calibri" pitchFamily="34" charset="-120"/>
              </a:rPr>
              <a:t>https://smart-restaurant-2za8.vercel.app/</a:t>
            </a:r>
            <a:endParaRPr lang="en-US" sz="900" dirty="0"/>
          </a:p>
        </p:txBody>
      </p:sp>
      <p:sp>
        <p:nvSpPr>
          <p:cNvPr id="6" name="Shape 4"/>
          <p:cNvSpPr/>
          <p:nvPr/>
        </p:nvSpPr>
        <p:spPr>
          <a:xfrm>
            <a:off x="548640" y="1188720"/>
            <a:ext cx="8046720" cy="749808"/>
          </a:xfrm>
          <a:prstGeom prst="roundRect">
            <a:avLst>
              <a:gd name="adj" fmla="val 9756"/>
            </a:avLst>
          </a:prstGeom>
          <a:solidFill>
            <a:srgbClr val="1E293B"/>
          </a:solidFill>
          <a:ln w="12700">
            <a:solidFill>
              <a:srgbClr val="334155"/>
            </a:solidFill>
            <a:prstDash val="solid"/>
          </a:ln>
        </p:spPr>
      </p:sp>
      <p:sp>
        <p:nvSpPr>
          <p:cNvPr id="7" name="Text 5"/>
          <p:cNvSpPr/>
          <p:nvPr/>
        </p:nvSpPr>
        <p:spPr>
          <a:xfrm>
            <a:off x="731520" y="1280160"/>
            <a:ext cx="731520" cy="182880"/>
          </a:xfrm>
          <a:prstGeom prst="rect">
            <a:avLst/>
          </a:prstGeom>
          <a:noFill/>
          <a:ln/>
        </p:spPr>
        <p:txBody>
          <a:bodyPr wrap="square" lIns="0" tIns="0" rIns="0" bIns="0" rtlCol="0" anchor="ctr"/>
          <a:lstStyle/>
          <a:p>
            <a:pPr indent="0" marL="0">
              <a:buNone/>
            </a:pPr>
            <a:r>
              <a:rPr lang="en-US" sz="900" b="1" dirty="0">
                <a:solidFill>
                  <a:srgbClr val="38BDF8"/>
                </a:solidFill>
                <a:latin typeface="Calibri" pitchFamily="34" charset="0"/>
                <a:ea typeface="Calibri" pitchFamily="34" charset="-122"/>
                <a:cs typeface="Calibri" pitchFamily="34" charset="-120"/>
              </a:rPr>
              <a:t>TIER 1</a:t>
            </a:r>
            <a:endParaRPr lang="en-US" sz="900" dirty="0"/>
          </a:p>
        </p:txBody>
      </p:sp>
      <p:sp>
        <p:nvSpPr>
          <p:cNvPr id="8" name="Text 6"/>
          <p:cNvSpPr/>
          <p:nvPr/>
        </p:nvSpPr>
        <p:spPr>
          <a:xfrm>
            <a:off x="1463040" y="1261872"/>
            <a:ext cx="3200400" cy="256032"/>
          </a:xfrm>
          <a:prstGeom prst="rect">
            <a:avLst/>
          </a:prstGeom>
          <a:noFill/>
          <a:ln/>
        </p:spPr>
        <p:txBody>
          <a:bodyPr wrap="square" lIns="0" tIns="0" rIns="0" bIns="0" rtlCol="0" anchor="ctr"/>
          <a:lstStyle/>
          <a:p>
            <a:pPr indent="0" marL="0">
              <a:buNone/>
            </a:pPr>
            <a:r>
              <a:rPr lang="en-US" sz="1200" b="1" dirty="0">
                <a:solidFill>
                  <a:srgbClr val="FFFFFF"/>
                </a:solidFill>
                <a:latin typeface="Cambria" pitchFamily="34" charset="0"/>
                <a:ea typeface="Cambria" pitchFamily="34" charset="-122"/>
                <a:cs typeface="Cambria" pitchFamily="34" charset="-120"/>
              </a:rPr>
              <a:t>Client Presentation Layer</a:t>
            </a:r>
            <a:endParaRPr lang="en-US" sz="1200" dirty="0"/>
          </a:p>
        </p:txBody>
      </p:sp>
      <p:sp>
        <p:nvSpPr>
          <p:cNvPr id="9" name="Text 7"/>
          <p:cNvSpPr/>
          <p:nvPr/>
        </p:nvSpPr>
        <p:spPr>
          <a:xfrm>
            <a:off x="4754880" y="1261872"/>
            <a:ext cx="3657600" cy="228600"/>
          </a:xfrm>
          <a:prstGeom prst="rect">
            <a:avLst/>
          </a:prstGeom>
          <a:noFill/>
          <a:ln/>
        </p:spPr>
        <p:txBody>
          <a:bodyPr wrap="square" lIns="0" tIns="0" rIns="0" bIns="0" rtlCol="0" anchor="ctr"/>
          <a:lstStyle/>
          <a:p>
            <a:pPr algn="r" indent="0" marL="0">
              <a:buNone/>
            </a:pPr>
            <a:r>
              <a:rPr lang="en-US" sz="950" b="1" dirty="0">
                <a:solidFill>
                  <a:srgbClr val="38BDF8"/>
                </a:solidFill>
                <a:latin typeface="Calibri" pitchFamily="34" charset="0"/>
                <a:ea typeface="Calibri" pitchFamily="34" charset="-122"/>
                <a:cs typeface="Calibri" pitchFamily="34" charset="-120"/>
              </a:rPr>
              <a:t>React 18 | TypeScript | Vite | Tailwind CSS</a:t>
            </a:r>
            <a:endParaRPr lang="en-US" sz="950" dirty="0"/>
          </a:p>
        </p:txBody>
      </p:sp>
      <p:sp>
        <p:nvSpPr>
          <p:cNvPr id="10" name="Text 8"/>
          <p:cNvSpPr/>
          <p:nvPr/>
        </p:nvSpPr>
        <p:spPr>
          <a:xfrm>
            <a:off x="731520" y="1536192"/>
            <a:ext cx="7680960" cy="347472"/>
          </a:xfrm>
          <a:prstGeom prst="rect">
            <a:avLst/>
          </a:prstGeom>
          <a:noFill/>
          <a:ln/>
        </p:spPr>
        <p:txBody>
          <a:bodyPr wrap="square" lIns="0" tIns="0" rIns="0" bIns="0" rtlCol="0" anchor="ctr"/>
          <a:lstStyle/>
          <a:p>
            <a:pPr indent="0" marL="0">
              <a:buNone/>
            </a:pPr>
            <a:r>
              <a:rPr lang="en-US" sz="950" dirty="0">
                <a:solidFill>
                  <a:srgbClr val="E2E8F0"/>
                </a:solidFill>
                <a:latin typeface="Calibri" pitchFamily="34" charset="0"/>
                <a:ea typeface="Calibri" pitchFamily="34" charset="-122"/>
                <a:cs typeface="Calibri" pitchFamily="34" charset="-120"/>
              </a:rPr>
              <a:t>Responsive mobile PWA interface, table session parsing, category tab navigation, dish detail modals, shopping cart drawer, and dietary badge filters.</a:t>
            </a:r>
            <a:endParaRPr lang="en-US" sz="950" dirty="0"/>
          </a:p>
        </p:txBody>
      </p:sp>
      <p:sp>
        <p:nvSpPr>
          <p:cNvPr id="11" name="Shape 9"/>
          <p:cNvSpPr/>
          <p:nvPr/>
        </p:nvSpPr>
        <p:spPr>
          <a:xfrm>
            <a:off x="548640" y="2029968"/>
            <a:ext cx="8046720" cy="749808"/>
          </a:xfrm>
          <a:prstGeom prst="roundRect">
            <a:avLst>
              <a:gd name="adj" fmla="val 9756"/>
            </a:avLst>
          </a:prstGeom>
          <a:solidFill>
            <a:srgbClr val="1E293B"/>
          </a:solidFill>
          <a:ln w="12700">
            <a:solidFill>
              <a:srgbClr val="334155"/>
            </a:solidFill>
            <a:prstDash val="solid"/>
          </a:ln>
        </p:spPr>
      </p:sp>
      <p:sp>
        <p:nvSpPr>
          <p:cNvPr id="12" name="Text 10"/>
          <p:cNvSpPr/>
          <p:nvPr/>
        </p:nvSpPr>
        <p:spPr>
          <a:xfrm>
            <a:off x="731520" y="2121408"/>
            <a:ext cx="731520" cy="182880"/>
          </a:xfrm>
          <a:prstGeom prst="rect">
            <a:avLst/>
          </a:prstGeom>
          <a:noFill/>
          <a:ln/>
        </p:spPr>
        <p:txBody>
          <a:bodyPr wrap="square" lIns="0" tIns="0" rIns="0" bIns="0" rtlCol="0" anchor="ctr"/>
          <a:lstStyle/>
          <a:p>
            <a:pPr indent="0" marL="0">
              <a:buNone/>
            </a:pPr>
            <a:r>
              <a:rPr lang="en-US" sz="900" b="1" dirty="0">
                <a:solidFill>
                  <a:srgbClr val="F59E0B"/>
                </a:solidFill>
                <a:latin typeface="Calibri" pitchFamily="34" charset="0"/>
                <a:ea typeface="Calibri" pitchFamily="34" charset="-122"/>
                <a:cs typeface="Calibri" pitchFamily="34" charset="-120"/>
              </a:rPr>
              <a:t>TIER 2</a:t>
            </a:r>
            <a:endParaRPr lang="en-US" sz="900" dirty="0"/>
          </a:p>
        </p:txBody>
      </p:sp>
      <p:sp>
        <p:nvSpPr>
          <p:cNvPr id="13" name="Text 11"/>
          <p:cNvSpPr/>
          <p:nvPr/>
        </p:nvSpPr>
        <p:spPr>
          <a:xfrm>
            <a:off x="1463040" y="2103120"/>
            <a:ext cx="3200400" cy="256032"/>
          </a:xfrm>
          <a:prstGeom prst="rect">
            <a:avLst/>
          </a:prstGeom>
          <a:noFill/>
          <a:ln/>
        </p:spPr>
        <p:txBody>
          <a:bodyPr wrap="square" lIns="0" tIns="0" rIns="0" bIns="0" rtlCol="0" anchor="ctr"/>
          <a:lstStyle/>
          <a:p>
            <a:pPr indent="0" marL="0">
              <a:buNone/>
            </a:pPr>
            <a:r>
              <a:rPr lang="en-US" sz="1200" b="1" dirty="0">
                <a:solidFill>
                  <a:srgbClr val="FFFFFF"/>
                </a:solidFill>
                <a:latin typeface="Cambria" pitchFamily="34" charset="0"/>
                <a:ea typeface="Cambria" pitchFamily="34" charset="-122"/>
                <a:cs typeface="Cambria" pitchFamily="34" charset="-120"/>
              </a:rPr>
              <a:t>Spatial 3D / AR Subsystem</a:t>
            </a:r>
            <a:endParaRPr lang="en-US" sz="1200" dirty="0"/>
          </a:p>
        </p:txBody>
      </p:sp>
      <p:sp>
        <p:nvSpPr>
          <p:cNvPr id="14" name="Text 12"/>
          <p:cNvSpPr/>
          <p:nvPr/>
        </p:nvSpPr>
        <p:spPr>
          <a:xfrm>
            <a:off x="4754880" y="2103120"/>
            <a:ext cx="3657600" cy="228600"/>
          </a:xfrm>
          <a:prstGeom prst="rect">
            <a:avLst/>
          </a:prstGeom>
          <a:noFill/>
          <a:ln/>
        </p:spPr>
        <p:txBody>
          <a:bodyPr wrap="square" lIns="0" tIns="0" rIns="0" bIns="0" rtlCol="0" anchor="ctr"/>
          <a:lstStyle/>
          <a:p>
            <a:pPr algn="r" indent="0" marL="0">
              <a:buNone/>
            </a:pPr>
            <a:r>
              <a:rPr lang="en-US" sz="950" b="1" dirty="0">
                <a:solidFill>
                  <a:srgbClr val="F59E0B"/>
                </a:solidFill>
                <a:latin typeface="Calibri" pitchFamily="34" charset="0"/>
                <a:ea typeface="Calibri" pitchFamily="34" charset="-122"/>
                <a:cs typeface="Calibri" pitchFamily="34" charset="-120"/>
              </a:rPr>
              <a:t>Three.js | WebXR Device API | Model-Viewer</a:t>
            </a:r>
            <a:endParaRPr lang="en-US" sz="950" dirty="0"/>
          </a:p>
        </p:txBody>
      </p:sp>
      <p:sp>
        <p:nvSpPr>
          <p:cNvPr id="15" name="Text 13"/>
          <p:cNvSpPr/>
          <p:nvPr/>
        </p:nvSpPr>
        <p:spPr>
          <a:xfrm>
            <a:off x="731520" y="2377440"/>
            <a:ext cx="7680960" cy="347472"/>
          </a:xfrm>
          <a:prstGeom prst="rect">
            <a:avLst/>
          </a:prstGeom>
          <a:noFill/>
          <a:ln/>
        </p:spPr>
        <p:txBody>
          <a:bodyPr wrap="square" lIns="0" tIns="0" rIns="0" bIns="0" rtlCol="0" anchor="ctr"/>
          <a:lstStyle/>
          <a:p>
            <a:pPr indent="0" marL="0">
              <a:buNone/>
            </a:pPr>
            <a:r>
              <a:rPr lang="en-US" sz="950" dirty="0">
                <a:solidFill>
                  <a:srgbClr val="E2E8F0"/>
                </a:solidFill>
                <a:latin typeface="Calibri" pitchFamily="34" charset="0"/>
                <a:ea typeface="Calibri" pitchFamily="34" charset="-122"/>
                <a:cs typeface="Calibri" pitchFamily="34" charset="-120"/>
              </a:rPr>
              <a:t>6-DoF raycasting surface hit-testing, dynamic reticle tracking, 1:1 metric scale clamping, model rotation/zoom gestures, and Android Scene Viewer intent routing.</a:t>
            </a:r>
            <a:endParaRPr lang="en-US" sz="950" dirty="0"/>
          </a:p>
        </p:txBody>
      </p:sp>
      <p:sp>
        <p:nvSpPr>
          <p:cNvPr id="16" name="Shape 14"/>
          <p:cNvSpPr/>
          <p:nvPr/>
        </p:nvSpPr>
        <p:spPr>
          <a:xfrm>
            <a:off x="548640" y="2871216"/>
            <a:ext cx="8046720" cy="749808"/>
          </a:xfrm>
          <a:prstGeom prst="roundRect">
            <a:avLst>
              <a:gd name="adj" fmla="val 9756"/>
            </a:avLst>
          </a:prstGeom>
          <a:solidFill>
            <a:srgbClr val="1E293B"/>
          </a:solidFill>
          <a:ln w="12700">
            <a:solidFill>
              <a:srgbClr val="334155"/>
            </a:solidFill>
            <a:prstDash val="solid"/>
          </a:ln>
        </p:spPr>
      </p:sp>
      <p:sp>
        <p:nvSpPr>
          <p:cNvPr id="17" name="Text 15"/>
          <p:cNvSpPr/>
          <p:nvPr/>
        </p:nvSpPr>
        <p:spPr>
          <a:xfrm>
            <a:off x="731520" y="2962656"/>
            <a:ext cx="731520" cy="182880"/>
          </a:xfrm>
          <a:prstGeom prst="rect">
            <a:avLst/>
          </a:prstGeom>
          <a:noFill/>
          <a:ln/>
        </p:spPr>
        <p:txBody>
          <a:bodyPr wrap="square" lIns="0" tIns="0" rIns="0" bIns="0" rtlCol="0" anchor="ctr"/>
          <a:lstStyle/>
          <a:p>
            <a:pPr indent="0" marL="0">
              <a:buNone/>
            </a:pPr>
            <a:r>
              <a:rPr lang="en-US" sz="900" b="1" dirty="0">
                <a:solidFill>
                  <a:srgbClr val="10B981"/>
                </a:solidFill>
                <a:latin typeface="Calibri" pitchFamily="34" charset="0"/>
                <a:ea typeface="Calibri" pitchFamily="34" charset="-122"/>
                <a:cs typeface="Calibri" pitchFamily="34" charset="-120"/>
              </a:rPr>
              <a:t>TIER 3</a:t>
            </a:r>
            <a:endParaRPr lang="en-US" sz="900" dirty="0"/>
          </a:p>
        </p:txBody>
      </p:sp>
      <p:sp>
        <p:nvSpPr>
          <p:cNvPr id="18" name="Text 16"/>
          <p:cNvSpPr/>
          <p:nvPr/>
        </p:nvSpPr>
        <p:spPr>
          <a:xfrm>
            <a:off x="1463040" y="2944368"/>
            <a:ext cx="3200400" cy="256032"/>
          </a:xfrm>
          <a:prstGeom prst="rect">
            <a:avLst/>
          </a:prstGeom>
          <a:noFill/>
          <a:ln/>
        </p:spPr>
        <p:txBody>
          <a:bodyPr wrap="square" lIns="0" tIns="0" rIns="0" bIns="0" rtlCol="0" anchor="ctr"/>
          <a:lstStyle/>
          <a:p>
            <a:pPr indent="0" marL="0">
              <a:buNone/>
            </a:pPr>
            <a:r>
              <a:rPr lang="en-US" sz="1200" b="1" dirty="0">
                <a:solidFill>
                  <a:srgbClr val="FFFFFF"/>
                </a:solidFill>
                <a:latin typeface="Cambria" pitchFamily="34" charset="0"/>
                <a:ea typeface="Cambria" pitchFamily="34" charset="-122"/>
                <a:cs typeface="Cambria" pitchFamily="34" charset="-120"/>
              </a:rPr>
              <a:t>State &amp; Kitchen Operations</a:t>
            </a:r>
            <a:endParaRPr lang="en-US" sz="1200" dirty="0"/>
          </a:p>
        </p:txBody>
      </p:sp>
      <p:sp>
        <p:nvSpPr>
          <p:cNvPr id="19" name="Text 17"/>
          <p:cNvSpPr/>
          <p:nvPr/>
        </p:nvSpPr>
        <p:spPr>
          <a:xfrm>
            <a:off x="4754880" y="2944368"/>
            <a:ext cx="3657600" cy="228600"/>
          </a:xfrm>
          <a:prstGeom prst="rect">
            <a:avLst/>
          </a:prstGeom>
          <a:noFill/>
          <a:ln/>
        </p:spPr>
        <p:txBody>
          <a:bodyPr wrap="square" lIns="0" tIns="0" rIns="0" bIns="0" rtlCol="0" anchor="ctr"/>
          <a:lstStyle/>
          <a:p>
            <a:pPr algn="r" indent="0" marL="0">
              <a:buNone/>
            </a:pPr>
            <a:r>
              <a:rPr lang="en-US" sz="950" b="1" dirty="0">
                <a:solidFill>
                  <a:srgbClr val="10B981"/>
                </a:solidFill>
                <a:latin typeface="Calibri" pitchFamily="34" charset="0"/>
                <a:ea typeface="Calibri" pitchFamily="34" charset="-122"/>
                <a:cs typeface="Calibri" pitchFamily="34" charset="-120"/>
              </a:rPr>
              <a:t>Zustand Store | Web Audio API | KDS Kanban</a:t>
            </a:r>
            <a:endParaRPr lang="en-US" sz="950" dirty="0"/>
          </a:p>
        </p:txBody>
      </p:sp>
      <p:sp>
        <p:nvSpPr>
          <p:cNvPr id="20" name="Text 18"/>
          <p:cNvSpPr/>
          <p:nvPr/>
        </p:nvSpPr>
        <p:spPr>
          <a:xfrm>
            <a:off x="731520" y="3218688"/>
            <a:ext cx="7680960" cy="347472"/>
          </a:xfrm>
          <a:prstGeom prst="rect">
            <a:avLst/>
          </a:prstGeom>
          <a:noFill/>
          <a:ln/>
        </p:spPr>
        <p:txBody>
          <a:bodyPr wrap="square" lIns="0" tIns="0" rIns="0" bIns="0" rtlCol="0" anchor="ctr"/>
          <a:lstStyle/>
          <a:p>
            <a:pPr indent="0" marL="0">
              <a:buNone/>
            </a:pPr>
            <a:r>
              <a:rPr lang="en-US" sz="950" dirty="0">
                <a:solidFill>
                  <a:srgbClr val="E2E8F0"/>
                </a:solidFill>
                <a:latin typeface="Calibri" pitchFamily="34" charset="0"/>
                <a:ea typeface="Calibri" pitchFamily="34" charset="-122"/>
                <a:cs typeface="Calibri" pitchFamily="34" charset="-120"/>
              </a:rPr>
              <a:t>Bidirectional state management, table order queues, preparation time timers, acoustic chime alerts, and status state machine (Pending -&gt; Delivered).</a:t>
            </a:r>
            <a:endParaRPr lang="en-US" sz="950" dirty="0"/>
          </a:p>
        </p:txBody>
      </p:sp>
      <p:sp>
        <p:nvSpPr>
          <p:cNvPr id="21" name="Shape 19"/>
          <p:cNvSpPr/>
          <p:nvPr/>
        </p:nvSpPr>
        <p:spPr>
          <a:xfrm>
            <a:off x="548640" y="3712464"/>
            <a:ext cx="8046720" cy="749808"/>
          </a:xfrm>
          <a:prstGeom prst="roundRect">
            <a:avLst>
              <a:gd name="adj" fmla="val 9756"/>
            </a:avLst>
          </a:prstGeom>
          <a:solidFill>
            <a:srgbClr val="1E293B"/>
          </a:solidFill>
          <a:ln w="12700">
            <a:solidFill>
              <a:srgbClr val="334155"/>
            </a:solidFill>
            <a:prstDash val="solid"/>
          </a:ln>
        </p:spPr>
      </p:sp>
      <p:sp>
        <p:nvSpPr>
          <p:cNvPr id="22" name="Text 20"/>
          <p:cNvSpPr/>
          <p:nvPr/>
        </p:nvSpPr>
        <p:spPr>
          <a:xfrm>
            <a:off x="731520" y="3803904"/>
            <a:ext cx="731520" cy="182880"/>
          </a:xfrm>
          <a:prstGeom prst="rect">
            <a:avLst/>
          </a:prstGeom>
          <a:noFill/>
          <a:ln/>
        </p:spPr>
        <p:txBody>
          <a:bodyPr wrap="square" lIns="0" tIns="0" rIns="0" bIns="0" rtlCol="0" anchor="ctr"/>
          <a:lstStyle/>
          <a:p>
            <a:pPr indent="0" marL="0">
              <a:buNone/>
            </a:pPr>
            <a:r>
              <a:rPr lang="en-US" sz="900" b="1" dirty="0">
                <a:solidFill>
                  <a:srgbClr val="F43F5E"/>
                </a:solidFill>
                <a:latin typeface="Calibri" pitchFamily="34" charset="0"/>
                <a:ea typeface="Calibri" pitchFamily="34" charset="-122"/>
                <a:cs typeface="Calibri" pitchFamily="34" charset="-120"/>
              </a:rPr>
              <a:t>TIER 4</a:t>
            </a:r>
            <a:endParaRPr lang="en-US" sz="900" dirty="0"/>
          </a:p>
        </p:txBody>
      </p:sp>
      <p:sp>
        <p:nvSpPr>
          <p:cNvPr id="23" name="Text 21"/>
          <p:cNvSpPr/>
          <p:nvPr/>
        </p:nvSpPr>
        <p:spPr>
          <a:xfrm>
            <a:off x="1463040" y="3785616"/>
            <a:ext cx="3200400" cy="256032"/>
          </a:xfrm>
          <a:prstGeom prst="rect">
            <a:avLst/>
          </a:prstGeom>
          <a:noFill/>
          <a:ln/>
        </p:spPr>
        <p:txBody>
          <a:bodyPr wrap="square" lIns="0" tIns="0" rIns="0" bIns="0" rtlCol="0" anchor="ctr"/>
          <a:lstStyle/>
          <a:p>
            <a:pPr indent="0" marL="0">
              <a:buNone/>
            </a:pPr>
            <a:r>
              <a:rPr lang="en-US" sz="1200" b="1" dirty="0">
                <a:solidFill>
                  <a:srgbClr val="FFFFFF"/>
                </a:solidFill>
                <a:latin typeface="Cambria" pitchFamily="34" charset="0"/>
                <a:ea typeface="Cambria" pitchFamily="34" charset="-122"/>
                <a:cs typeface="Cambria" pitchFamily="34" charset="-120"/>
              </a:rPr>
              <a:t>Cloud Edge Infrastructure</a:t>
            </a:r>
            <a:endParaRPr lang="en-US" sz="1200" dirty="0"/>
          </a:p>
        </p:txBody>
      </p:sp>
      <p:sp>
        <p:nvSpPr>
          <p:cNvPr id="24" name="Text 22"/>
          <p:cNvSpPr/>
          <p:nvPr/>
        </p:nvSpPr>
        <p:spPr>
          <a:xfrm>
            <a:off x="4754880" y="3785616"/>
            <a:ext cx="3657600" cy="228600"/>
          </a:xfrm>
          <a:prstGeom prst="rect">
            <a:avLst/>
          </a:prstGeom>
          <a:noFill/>
          <a:ln/>
        </p:spPr>
        <p:txBody>
          <a:bodyPr wrap="square" lIns="0" tIns="0" rIns="0" bIns="0" rtlCol="0" anchor="ctr"/>
          <a:lstStyle/>
          <a:p>
            <a:pPr algn="r" indent="0" marL="0">
              <a:buNone/>
            </a:pPr>
            <a:r>
              <a:rPr lang="en-US" sz="950" b="1" dirty="0">
                <a:solidFill>
                  <a:srgbClr val="F43F5E"/>
                </a:solidFill>
                <a:latin typeface="Calibri" pitchFamily="34" charset="0"/>
                <a:ea typeface="Calibri" pitchFamily="34" charset="-122"/>
                <a:cs typeface="Calibri" pitchFamily="34" charset="-120"/>
              </a:rPr>
              <a:t>Vercel Edge Network | CDN | Git CI/CD</a:t>
            </a:r>
            <a:endParaRPr lang="en-US" sz="950" dirty="0"/>
          </a:p>
        </p:txBody>
      </p:sp>
      <p:sp>
        <p:nvSpPr>
          <p:cNvPr id="25" name="Text 23"/>
          <p:cNvSpPr/>
          <p:nvPr/>
        </p:nvSpPr>
        <p:spPr>
          <a:xfrm>
            <a:off x="731520" y="4059936"/>
            <a:ext cx="7680960" cy="347472"/>
          </a:xfrm>
          <a:prstGeom prst="rect">
            <a:avLst/>
          </a:prstGeom>
          <a:noFill/>
          <a:ln/>
        </p:spPr>
        <p:txBody>
          <a:bodyPr wrap="square" lIns="0" tIns="0" rIns="0" bIns="0" rtlCol="0" anchor="ctr"/>
          <a:lstStyle/>
          <a:p>
            <a:pPr indent="0" marL="0">
              <a:buNone/>
            </a:pPr>
            <a:r>
              <a:rPr lang="en-US" sz="950" dirty="0">
                <a:solidFill>
                  <a:srgbClr val="E2E8F0"/>
                </a:solidFill>
                <a:latin typeface="Calibri" pitchFamily="34" charset="0"/>
                <a:ea typeface="Calibri" pitchFamily="34" charset="-122"/>
                <a:cs typeface="Calibri" pitchFamily="34" charset="-120"/>
              </a:rPr>
              <a:t>Static serverless delivery, model asset caching, edge response header injection (`Content-Type: model/gltf-binary`), and GitHub automated build triggers.</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548640" y="365760"/>
            <a:ext cx="8046720" cy="228600"/>
          </a:xfrm>
          <a:prstGeom prst="rect">
            <a:avLst/>
          </a:prstGeom>
          <a:noFill/>
          <a:ln/>
        </p:spPr>
        <p:txBody>
          <a:bodyPr wrap="square" lIns="0" tIns="0" rIns="0" bIns="0" rtlCol="0" anchor="ctr"/>
          <a:lstStyle/>
          <a:p>
            <a:pPr indent="0" marL="0">
              <a:buNone/>
            </a:pPr>
            <a:r>
              <a:rPr lang="en-US" sz="1000" b="1" spc="150" kern="0" dirty="0">
                <a:solidFill>
                  <a:srgbClr val="38BDF8"/>
                </a:solidFill>
                <a:latin typeface="Calibri" pitchFamily="34" charset="0"/>
                <a:ea typeface="Calibri" pitchFamily="34" charset="-122"/>
                <a:cs typeface="Calibri" pitchFamily="34" charset="-120"/>
              </a:rPr>
              <a:t>ENGINEERING STACK</a:t>
            </a:r>
            <a:endParaRPr lang="en-US" sz="1000" dirty="0"/>
          </a:p>
        </p:txBody>
      </p:sp>
      <p:sp>
        <p:nvSpPr>
          <p:cNvPr id="3" name="Text 1"/>
          <p:cNvSpPr/>
          <p:nvPr/>
        </p:nvSpPr>
        <p:spPr>
          <a:xfrm>
            <a:off x="548640" y="594360"/>
            <a:ext cx="8046720" cy="41148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Comprehensive Technology Stack &amp; Tools Matrix</a:t>
            </a:r>
            <a:endParaRPr lang="en-US" sz="2200" dirty="0"/>
          </a:p>
        </p:txBody>
      </p:sp>
      <p:sp>
        <p:nvSpPr>
          <p:cNvPr id="4" name="Text 2"/>
          <p:cNvSpPr/>
          <p:nvPr/>
        </p:nvSpPr>
        <p:spPr>
          <a:xfrm>
            <a:off x="548640" y="4800600"/>
            <a:ext cx="5943600" cy="228600"/>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5" name="Text 3"/>
          <p:cNvSpPr/>
          <p:nvPr/>
        </p:nvSpPr>
        <p:spPr>
          <a:xfrm>
            <a:off x="6583680" y="4800600"/>
            <a:ext cx="2011680" cy="228600"/>
          </a:xfrm>
          <a:prstGeom prst="rect">
            <a:avLst/>
          </a:prstGeom>
          <a:noFill/>
          <a:ln/>
        </p:spPr>
        <p:txBody>
          <a:bodyPr wrap="square" lIns="0" tIns="0" rIns="0" bIns="0" rtlCol="0" anchor="ctr"/>
          <a:lstStyle/>
          <a:p>
            <a:pPr algn="r" indent="0" marL="0">
              <a:buNone/>
            </a:pPr>
            <a:r>
              <a:rPr lang="en-US" sz="900" dirty="0">
                <a:solidFill>
                  <a:srgbClr val="38BDF8"/>
                </a:solidFill>
                <a:latin typeface="Calibri" pitchFamily="34" charset="0"/>
                <a:ea typeface="Calibri" pitchFamily="34" charset="-122"/>
                <a:cs typeface="Calibri" pitchFamily="34" charset="-120"/>
              </a:rPr>
              <a:t>https://smart-restaurant-2za8.vercel.app/</a:t>
            </a:r>
            <a:endParaRPr lang="en-US" sz="900" dirty="0"/>
          </a:p>
        </p:txBody>
      </p:sp>
      <p:sp>
        <p:nvSpPr>
          <p:cNvPr id="6" name="Shape 4"/>
          <p:cNvSpPr/>
          <p:nvPr/>
        </p:nvSpPr>
        <p:spPr>
          <a:xfrm>
            <a:off x="548640" y="1188720"/>
            <a:ext cx="3931920" cy="1554480"/>
          </a:xfrm>
          <a:prstGeom prst="roundRect">
            <a:avLst>
              <a:gd name="adj" fmla="val 4706"/>
            </a:avLst>
          </a:prstGeom>
          <a:solidFill>
            <a:srgbClr val="1E293B"/>
          </a:solidFill>
          <a:ln w="12700">
            <a:solidFill>
              <a:srgbClr val="334155"/>
            </a:solidFill>
            <a:prstDash val="solid"/>
          </a:ln>
        </p:spPr>
      </p:sp>
      <p:sp>
        <p:nvSpPr>
          <p:cNvPr id="7" name="Text 5"/>
          <p:cNvSpPr/>
          <p:nvPr/>
        </p:nvSpPr>
        <p:spPr>
          <a:xfrm>
            <a:off x="731520" y="1298448"/>
            <a:ext cx="3566160" cy="228600"/>
          </a:xfrm>
          <a:prstGeom prst="rect">
            <a:avLst/>
          </a:prstGeom>
          <a:noFill/>
          <a:ln/>
        </p:spPr>
        <p:txBody>
          <a:bodyPr wrap="square" lIns="0" tIns="0" rIns="0" bIns="0" rtlCol="0" anchor="ctr"/>
          <a:lstStyle/>
          <a:p>
            <a:pPr indent="0" marL="0">
              <a:buNone/>
            </a:pPr>
            <a:r>
              <a:rPr lang="en-US" sz="1200" b="1" dirty="0">
                <a:solidFill>
                  <a:srgbClr val="38BDF8"/>
                </a:solidFill>
                <a:latin typeface="Cambria" pitchFamily="34" charset="0"/>
                <a:ea typeface="Cambria" pitchFamily="34" charset="-122"/>
                <a:cs typeface="Cambria" pitchFamily="34" charset="-120"/>
              </a:rPr>
              <a:t>Frontend &amp; UI Framework</a:t>
            </a:r>
            <a:endParaRPr lang="en-US" sz="1200" dirty="0"/>
          </a:p>
        </p:txBody>
      </p:sp>
      <p:sp>
        <p:nvSpPr>
          <p:cNvPr id="8" name="Text 6"/>
          <p:cNvSpPr/>
          <p:nvPr/>
        </p:nvSpPr>
        <p:spPr>
          <a:xfrm>
            <a:off x="731520" y="1536192"/>
            <a:ext cx="3566160" cy="201168"/>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React 18.3, TypeScript 5.2, Vite 5.4, Tailwind CSS 3.4, Lucide React Icons</a:t>
            </a:r>
            <a:endParaRPr lang="en-US" sz="900" dirty="0"/>
          </a:p>
        </p:txBody>
      </p:sp>
      <p:sp>
        <p:nvSpPr>
          <p:cNvPr id="9" name="Text 7"/>
          <p:cNvSpPr/>
          <p:nvPr/>
        </p:nvSpPr>
        <p:spPr>
          <a:xfrm>
            <a:off x="731520" y="1783080"/>
            <a:ext cx="3566160" cy="868680"/>
          </a:xfrm>
          <a:prstGeom prst="rect">
            <a:avLst/>
          </a:prstGeom>
          <a:noFill/>
          <a:ln/>
        </p:spPr>
        <p:txBody>
          <a:bodyPr wrap="square" lIns="0" tIns="0" rIns="0" bIns="0" rtlCol="0" anchor="ctr"/>
          <a:lstStyle/>
          <a:p>
            <a:pPr marL="342900" indent="-342900">
              <a:spcAft>
                <a:spcPts val="300"/>
              </a:spcAft>
              <a:buSzPct val="100000"/>
              <a:buChar char="•"/>
            </a:pPr>
            <a:r>
              <a:rPr lang="en-US" sz="950" dirty="0">
                <a:solidFill>
                  <a:srgbClr val="E2E8F0"/>
                </a:solidFill>
                <a:latin typeface="Calibri" pitchFamily="34" charset="0"/>
                <a:ea typeface="Calibri" pitchFamily="34" charset="-122"/>
                <a:cs typeface="Calibri" pitchFamily="34" charset="-120"/>
              </a:rPr>
              <a:t>React 18 concurrent rendering for fluid 60 FPS transitions.</a:t>
            </a:r>
            <a:endParaRPr lang="en-US" sz="950" dirty="0"/>
          </a:p>
          <a:p>
            <a:pPr marL="342900" indent="-342900">
              <a:spcAft>
                <a:spcPts val="300"/>
              </a:spcAft>
              <a:buSzPct val="100000"/>
              <a:buChar char="•"/>
            </a:pPr>
            <a:r>
              <a:rPr lang="en-US" sz="950" dirty="0">
                <a:solidFill>
                  <a:srgbClr val="E2E8F0"/>
                </a:solidFill>
                <a:latin typeface="Calibri" pitchFamily="34" charset="0"/>
                <a:ea typeface="Calibri" pitchFamily="34" charset="-122"/>
                <a:cs typeface="Calibri" pitchFamily="34" charset="-120"/>
              </a:rPr>
              <a:t>TypeScript for strict type safety across menu, cart, and order models.</a:t>
            </a:r>
            <a:endParaRPr lang="en-US" sz="950" dirty="0"/>
          </a:p>
          <a:p>
            <a:pPr marL="342900" indent="-342900">
              <a:spcAft>
                <a:spcPts val="300"/>
              </a:spcAft>
              <a:buSzPct val="100000"/>
              <a:buChar char="•"/>
            </a:pPr>
            <a:r>
              <a:rPr lang="en-US" sz="950" dirty="0">
                <a:solidFill>
                  <a:srgbClr val="E2E8F0"/>
                </a:solidFill>
                <a:latin typeface="Calibri" pitchFamily="34" charset="0"/>
                <a:ea typeface="Calibri" pitchFamily="34" charset="-122"/>
                <a:cs typeface="Calibri" pitchFamily="34" charset="-120"/>
              </a:rPr>
              <a:t>Vite for instantaneous HMR and optimized production tree-shaking.</a:t>
            </a:r>
            <a:endParaRPr lang="en-US" sz="950" dirty="0"/>
          </a:p>
        </p:txBody>
      </p:sp>
      <p:sp>
        <p:nvSpPr>
          <p:cNvPr id="10" name="Shape 8"/>
          <p:cNvSpPr/>
          <p:nvPr/>
        </p:nvSpPr>
        <p:spPr>
          <a:xfrm>
            <a:off x="4663440" y="1188720"/>
            <a:ext cx="3931920" cy="1554480"/>
          </a:xfrm>
          <a:prstGeom prst="roundRect">
            <a:avLst>
              <a:gd name="adj" fmla="val 4706"/>
            </a:avLst>
          </a:prstGeom>
          <a:solidFill>
            <a:srgbClr val="1E293B"/>
          </a:solidFill>
          <a:ln w="12700">
            <a:solidFill>
              <a:srgbClr val="334155"/>
            </a:solidFill>
            <a:prstDash val="solid"/>
          </a:ln>
        </p:spPr>
      </p:sp>
      <p:sp>
        <p:nvSpPr>
          <p:cNvPr id="11" name="Text 9"/>
          <p:cNvSpPr/>
          <p:nvPr/>
        </p:nvSpPr>
        <p:spPr>
          <a:xfrm>
            <a:off x="4846320" y="1298448"/>
            <a:ext cx="3566160" cy="228600"/>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Spatial AR &amp; 3D Graphics</a:t>
            </a:r>
            <a:endParaRPr lang="en-US" sz="1200" dirty="0"/>
          </a:p>
        </p:txBody>
      </p:sp>
      <p:sp>
        <p:nvSpPr>
          <p:cNvPr id="12" name="Text 10"/>
          <p:cNvSpPr/>
          <p:nvPr/>
        </p:nvSpPr>
        <p:spPr>
          <a:xfrm>
            <a:off x="4846320" y="1536192"/>
            <a:ext cx="3566160" cy="201168"/>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Three.js r128+, WebXR Device API, @google/model-viewer 4.0, glTF 2.0 Binary</a:t>
            </a:r>
            <a:endParaRPr lang="en-US" sz="900" dirty="0"/>
          </a:p>
        </p:txBody>
      </p:sp>
      <p:sp>
        <p:nvSpPr>
          <p:cNvPr id="13" name="Text 11"/>
          <p:cNvSpPr/>
          <p:nvPr/>
        </p:nvSpPr>
        <p:spPr>
          <a:xfrm>
            <a:off x="4846320" y="1783080"/>
            <a:ext cx="3566160" cy="868680"/>
          </a:xfrm>
          <a:prstGeom prst="rect">
            <a:avLst/>
          </a:prstGeom>
          <a:noFill/>
          <a:ln/>
        </p:spPr>
        <p:txBody>
          <a:bodyPr wrap="square" lIns="0" tIns="0" rIns="0" bIns="0" rtlCol="0" anchor="ctr"/>
          <a:lstStyle/>
          <a:p>
            <a:pPr marL="342900" indent="-342900">
              <a:spcAft>
                <a:spcPts val="300"/>
              </a:spcAft>
              <a:buSzPct val="100000"/>
              <a:buChar char="•"/>
            </a:pPr>
            <a:r>
              <a:rPr lang="en-US" sz="950" dirty="0">
                <a:solidFill>
                  <a:srgbClr val="E2E8F0"/>
                </a:solidFill>
                <a:latin typeface="Calibri" pitchFamily="34" charset="0"/>
                <a:ea typeface="Calibri" pitchFamily="34" charset="-122"/>
                <a:cs typeface="Calibri" pitchFamily="34" charset="-120"/>
              </a:rPr>
              <a:t>Three.js WebGL canvas for desktop interactive 3D inspection.</a:t>
            </a:r>
            <a:endParaRPr lang="en-US" sz="950" dirty="0"/>
          </a:p>
          <a:p>
            <a:pPr marL="342900" indent="-342900">
              <a:spcAft>
                <a:spcPts val="300"/>
              </a:spcAft>
              <a:buSzPct val="100000"/>
              <a:buChar char="•"/>
            </a:pPr>
            <a:r>
              <a:rPr lang="en-US" sz="950" dirty="0">
                <a:solidFill>
                  <a:srgbClr val="E2E8F0"/>
                </a:solidFill>
                <a:latin typeface="Calibri" pitchFamily="34" charset="0"/>
                <a:ea typeface="Calibri" pitchFamily="34" charset="-122"/>
                <a:cs typeface="Calibri" pitchFamily="34" charset="-120"/>
              </a:rPr>
              <a:t>Native WebXR hit-testing for 6-DoF table surface detection.</a:t>
            </a:r>
            <a:endParaRPr lang="en-US" sz="950" dirty="0"/>
          </a:p>
          <a:p>
            <a:pPr marL="342900" indent="-342900">
              <a:spcAft>
                <a:spcPts val="300"/>
              </a:spcAft>
              <a:buSzPct val="100000"/>
              <a:buChar char="•"/>
            </a:pPr>
            <a:r>
              <a:rPr lang="en-US" sz="950" dirty="0">
                <a:solidFill>
                  <a:srgbClr val="E2E8F0"/>
                </a:solidFill>
                <a:latin typeface="Calibri" pitchFamily="34" charset="0"/>
                <a:ea typeface="Calibri" pitchFamily="34" charset="-122"/>
                <a:cs typeface="Calibri" pitchFamily="34" charset="-120"/>
              </a:rPr>
              <a:t>Google Scene Viewer Intent fallback for universal Android coverage.</a:t>
            </a:r>
            <a:endParaRPr lang="en-US" sz="950" dirty="0"/>
          </a:p>
        </p:txBody>
      </p:sp>
      <p:sp>
        <p:nvSpPr>
          <p:cNvPr id="14" name="Shape 12"/>
          <p:cNvSpPr/>
          <p:nvPr/>
        </p:nvSpPr>
        <p:spPr>
          <a:xfrm>
            <a:off x="548640" y="2880360"/>
            <a:ext cx="3931920" cy="1554480"/>
          </a:xfrm>
          <a:prstGeom prst="roundRect">
            <a:avLst>
              <a:gd name="adj" fmla="val 4706"/>
            </a:avLst>
          </a:prstGeom>
          <a:solidFill>
            <a:srgbClr val="1E293B"/>
          </a:solidFill>
          <a:ln w="12700">
            <a:solidFill>
              <a:srgbClr val="334155"/>
            </a:solidFill>
            <a:prstDash val="solid"/>
          </a:ln>
        </p:spPr>
      </p:sp>
      <p:sp>
        <p:nvSpPr>
          <p:cNvPr id="15" name="Text 13"/>
          <p:cNvSpPr/>
          <p:nvPr/>
        </p:nvSpPr>
        <p:spPr>
          <a:xfrm>
            <a:off x="731520" y="2990088"/>
            <a:ext cx="3566160" cy="228600"/>
          </a:xfrm>
          <a:prstGeom prst="rect">
            <a:avLst/>
          </a:prstGeom>
          <a:noFill/>
          <a:ln/>
        </p:spPr>
        <p:txBody>
          <a:bodyPr wrap="square" lIns="0" tIns="0" rIns="0" bIns="0" rtlCol="0" anchor="ctr"/>
          <a:lstStyle/>
          <a:p>
            <a:pPr indent="0" marL="0">
              <a:buNone/>
            </a:pPr>
            <a:r>
              <a:rPr lang="en-US" sz="1200" b="1" dirty="0">
                <a:solidFill>
                  <a:srgbClr val="10B981"/>
                </a:solidFill>
                <a:latin typeface="Cambria" pitchFamily="34" charset="0"/>
                <a:ea typeface="Cambria" pitchFamily="34" charset="-122"/>
                <a:cs typeface="Cambria" pitchFamily="34" charset="-120"/>
              </a:rPr>
              <a:t>State &amp; Audio Systems</a:t>
            </a:r>
            <a:endParaRPr lang="en-US" sz="1200" dirty="0"/>
          </a:p>
        </p:txBody>
      </p:sp>
      <p:sp>
        <p:nvSpPr>
          <p:cNvPr id="16" name="Text 14"/>
          <p:cNvSpPr/>
          <p:nvPr/>
        </p:nvSpPr>
        <p:spPr>
          <a:xfrm>
            <a:off x="731520" y="3227832"/>
            <a:ext cx="3566160" cy="201168"/>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Zustand Global Store, React Hooks, HTML5 Web Audio API, QR Server API</a:t>
            </a:r>
            <a:endParaRPr lang="en-US" sz="900" dirty="0"/>
          </a:p>
        </p:txBody>
      </p:sp>
      <p:sp>
        <p:nvSpPr>
          <p:cNvPr id="17" name="Text 15"/>
          <p:cNvSpPr/>
          <p:nvPr/>
        </p:nvSpPr>
        <p:spPr>
          <a:xfrm>
            <a:off x="731520" y="3474720"/>
            <a:ext cx="3566160" cy="868680"/>
          </a:xfrm>
          <a:prstGeom prst="rect">
            <a:avLst/>
          </a:prstGeom>
          <a:noFill/>
          <a:ln/>
        </p:spPr>
        <p:txBody>
          <a:bodyPr wrap="square" lIns="0" tIns="0" rIns="0" bIns="0" rtlCol="0" anchor="ctr"/>
          <a:lstStyle/>
          <a:p>
            <a:pPr marL="342900" indent="-342900">
              <a:spcAft>
                <a:spcPts val="300"/>
              </a:spcAft>
              <a:buSzPct val="100000"/>
              <a:buChar char="•"/>
            </a:pPr>
            <a:r>
              <a:rPr lang="en-US" sz="950" dirty="0">
                <a:solidFill>
                  <a:srgbClr val="E2E8F0"/>
                </a:solidFill>
                <a:latin typeface="Calibri" pitchFamily="34" charset="0"/>
                <a:ea typeface="Calibri" pitchFamily="34" charset="-122"/>
                <a:cs typeface="Calibri" pitchFamily="34" charset="-120"/>
              </a:rPr>
              <a:t>Zustand lightweight state store for decoupled cart and KDS tickets.</a:t>
            </a:r>
            <a:endParaRPr lang="en-US" sz="950" dirty="0"/>
          </a:p>
          <a:p>
            <a:pPr marL="342900" indent="-342900">
              <a:spcAft>
                <a:spcPts val="300"/>
              </a:spcAft>
              <a:buSzPct val="100000"/>
              <a:buChar char="•"/>
            </a:pPr>
            <a:r>
              <a:rPr lang="en-US" sz="950" dirty="0">
                <a:solidFill>
                  <a:srgbClr val="E2E8F0"/>
                </a:solidFill>
                <a:latin typeface="Calibri" pitchFamily="34" charset="0"/>
                <a:ea typeface="Calibri" pitchFamily="34" charset="-122"/>
                <a:cs typeface="Calibri" pitchFamily="34" charset="-120"/>
              </a:rPr>
              <a:t>Synthesized audio chime alert for immediate kitchen order notification.</a:t>
            </a:r>
            <a:endParaRPr lang="en-US" sz="950" dirty="0"/>
          </a:p>
          <a:p>
            <a:pPr marL="342900" indent="-342900">
              <a:spcAft>
                <a:spcPts val="300"/>
              </a:spcAft>
              <a:buSzPct val="100000"/>
              <a:buChar char="•"/>
            </a:pPr>
            <a:r>
              <a:rPr lang="en-US" sz="950" dirty="0">
                <a:solidFill>
                  <a:srgbClr val="E2E8F0"/>
                </a:solidFill>
                <a:latin typeface="Calibri" pitchFamily="34" charset="0"/>
                <a:ea typeface="Calibri" pitchFamily="34" charset="-122"/>
                <a:cs typeface="Calibri" pitchFamily="34" charset="-120"/>
              </a:rPr>
              <a:t>Dynamic QR code generation for frictionless desktop-to-mobile handoff.</a:t>
            </a:r>
            <a:endParaRPr lang="en-US" sz="950" dirty="0"/>
          </a:p>
        </p:txBody>
      </p:sp>
      <p:sp>
        <p:nvSpPr>
          <p:cNvPr id="18" name="Shape 16"/>
          <p:cNvSpPr/>
          <p:nvPr/>
        </p:nvSpPr>
        <p:spPr>
          <a:xfrm>
            <a:off x="4663440" y="2880360"/>
            <a:ext cx="3931920" cy="1554480"/>
          </a:xfrm>
          <a:prstGeom prst="roundRect">
            <a:avLst>
              <a:gd name="adj" fmla="val 4706"/>
            </a:avLst>
          </a:prstGeom>
          <a:solidFill>
            <a:srgbClr val="1E293B"/>
          </a:solidFill>
          <a:ln w="12700">
            <a:solidFill>
              <a:srgbClr val="334155"/>
            </a:solidFill>
            <a:prstDash val="solid"/>
          </a:ln>
        </p:spPr>
      </p:sp>
      <p:sp>
        <p:nvSpPr>
          <p:cNvPr id="19" name="Text 17"/>
          <p:cNvSpPr/>
          <p:nvPr/>
        </p:nvSpPr>
        <p:spPr>
          <a:xfrm>
            <a:off x="4846320" y="2990088"/>
            <a:ext cx="3566160" cy="228600"/>
          </a:xfrm>
          <a:prstGeom prst="rect">
            <a:avLst/>
          </a:prstGeom>
          <a:noFill/>
          <a:ln/>
        </p:spPr>
        <p:txBody>
          <a:bodyPr wrap="square" lIns="0" tIns="0" rIns="0" bIns="0" rtlCol="0" anchor="ctr"/>
          <a:lstStyle/>
          <a:p>
            <a:pPr indent="0" marL="0">
              <a:buNone/>
            </a:pPr>
            <a:r>
              <a:rPr lang="en-US" sz="1200" b="1" dirty="0">
                <a:solidFill>
                  <a:srgbClr val="F43F5E"/>
                </a:solidFill>
                <a:latin typeface="Cambria" pitchFamily="34" charset="0"/>
                <a:ea typeface="Cambria" pitchFamily="34" charset="-122"/>
                <a:cs typeface="Cambria" pitchFamily="34" charset="-120"/>
              </a:rPr>
              <a:t>Tooling, Compression &amp; Cloud</a:t>
            </a:r>
            <a:endParaRPr lang="en-US" sz="1200" dirty="0"/>
          </a:p>
        </p:txBody>
      </p:sp>
      <p:sp>
        <p:nvSpPr>
          <p:cNvPr id="20" name="Text 18"/>
          <p:cNvSpPr/>
          <p:nvPr/>
        </p:nvSpPr>
        <p:spPr>
          <a:xfrm>
            <a:off x="4846320" y="3227832"/>
            <a:ext cx="3566160" cy="201168"/>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Node.js 20, @gltf-transform/cli, Vercel Edge Platform, Git/GitHub</a:t>
            </a:r>
            <a:endParaRPr lang="en-US" sz="900" dirty="0"/>
          </a:p>
        </p:txBody>
      </p:sp>
      <p:sp>
        <p:nvSpPr>
          <p:cNvPr id="21" name="Text 19"/>
          <p:cNvSpPr/>
          <p:nvPr/>
        </p:nvSpPr>
        <p:spPr>
          <a:xfrm>
            <a:off x="4846320" y="3474720"/>
            <a:ext cx="3566160" cy="868680"/>
          </a:xfrm>
          <a:prstGeom prst="rect">
            <a:avLst/>
          </a:prstGeom>
          <a:noFill/>
          <a:ln/>
        </p:spPr>
        <p:txBody>
          <a:bodyPr wrap="square" lIns="0" tIns="0" rIns="0" bIns="0" rtlCol="0" anchor="ctr"/>
          <a:lstStyle/>
          <a:p>
            <a:pPr marL="342900" indent="-342900">
              <a:spcAft>
                <a:spcPts val="300"/>
              </a:spcAft>
              <a:buSzPct val="100000"/>
              <a:buChar char="•"/>
            </a:pPr>
            <a:r>
              <a:rPr lang="en-US" sz="950" dirty="0">
                <a:solidFill>
                  <a:srgbClr val="E2E8F0"/>
                </a:solidFill>
                <a:latin typeface="Calibri" pitchFamily="34" charset="0"/>
                <a:ea typeface="Calibri" pitchFamily="34" charset="-122"/>
                <a:cs typeface="Calibri" pitchFamily="34" charset="-120"/>
              </a:rPr>
              <a:t>gltf-transform Draco mesh quantization and WebP texture compression.</a:t>
            </a:r>
            <a:endParaRPr lang="en-US" sz="950" dirty="0"/>
          </a:p>
          <a:p>
            <a:pPr marL="342900" indent="-342900">
              <a:spcAft>
                <a:spcPts val="300"/>
              </a:spcAft>
              <a:buSzPct val="100000"/>
              <a:buChar char="•"/>
            </a:pPr>
            <a:r>
              <a:rPr lang="en-US" sz="950" dirty="0">
                <a:solidFill>
                  <a:srgbClr val="E2E8F0"/>
                </a:solidFill>
                <a:latin typeface="Calibri" pitchFamily="34" charset="0"/>
                <a:ea typeface="Calibri" pitchFamily="34" charset="-122"/>
                <a:cs typeface="Calibri" pitchFamily="34" charset="-120"/>
              </a:rPr>
              <a:t>Vercel Edge Cloud platform with custom binary MIME headers.</a:t>
            </a:r>
            <a:endParaRPr lang="en-US" sz="950" dirty="0"/>
          </a:p>
          <a:p>
            <a:pPr marL="342900" indent="-342900">
              <a:spcAft>
                <a:spcPts val="300"/>
              </a:spcAft>
              <a:buSzPct val="100000"/>
              <a:buChar char="•"/>
            </a:pPr>
            <a:r>
              <a:rPr lang="en-US" sz="950" dirty="0">
                <a:solidFill>
                  <a:srgbClr val="E2E8F0"/>
                </a:solidFill>
                <a:latin typeface="Calibri" pitchFamily="34" charset="0"/>
                <a:ea typeface="Calibri" pitchFamily="34" charset="-122"/>
                <a:cs typeface="Calibri" pitchFamily="34" charset="-120"/>
              </a:rPr>
              <a:t>Automated CI/CD deployment pipeline synchronized with GitHub main branch.</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548640" y="365760"/>
            <a:ext cx="8046720" cy="228600"/>
          </a:xfrm>
          <a:prstGeom prst="rect">
            <a:avLst/>
          </a:prstGeom>
          <a:noFill/>
          <a:ln/>
        </p:spPr>
        <p:txBody>
          <a:bodyPr wrap="square" lIns="0" tIns="0" rIns="0" bIns="0" rtlCol="0" anchor="ctr"/>
          <a:lstStyle/>
          <a:p>
            <a:pPr indent="0" marL="0">
              <a:buNone/>
            </a:pPr>
            <a:r>
              <a:rPr lang="en-US" sz="1000" b="1" spc="150" kern="0" dirty="0">
                <a:solidFill>
                  <a:srgbClr val="38BDF8"/>
                </a:solidFill>
                <a:latin typeface="Calibri" pitchFamily="34" charset="0"/>
                <a:ea typeface="Calibri" pitchFamily="34" charset="-122"/>
                <a:cs typeface="Calibri" pitchFamily="34" charset="-120"/>
              </a:rPr>
              <a:t>RUBRIC CRITERION 4 (10 MARKS)</a:t>
            </a:r>
            <a:endParaRPr lang="en-US" sz="1000" dirty="0"/>
          </a:p>
        </p:txBody>
      </p:sp>
      <p:sp>
        <p:nvSpPr>
          <p:cNvPr id="3" name="Text 1"/>
          <p:cNvSpPr/>
          <p:nvPr/>
        </p:nvSpPr>
        <p:spPr>
          <a:xfrm>
            <a:off x="548640" y="594360"/>
            <a:ext cx="8046720" cy="41148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Project Management: Agile Methodology, Milestones &amp; Risk Analysis</a:t>
            </a:r>
            <a:endParaRPr lang="en-US" sz="2200" dirty="0"/>
          </a:p>
        </p:txBody>
      </p:sp>
      <p:sp>
        <p:nvSpPr>
          <p:cNvPr id="4" name="Text 2"/>
          <p:cNvSpPr/>
          <p:nvPr/>
        </p:nvSpPr>
        <p:spPr>
          <a:xfrm>
            <a:off x="548640" y="4800600"/>
            <a:ext cx="5943600" cy="228600"/>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5" name="Text 3"/>
          <p:cNvSpPr/>
          <p:nvPr/>
        </p:nvSpPr>
        <p:spPr>
          <a:xfrm>
            <a:off x="6583680" y="4800600"/>
            <a:ext cx="2011680" cy="228600"/>
          </a:xfrm>
          <a:prstGeom prst="rect">
            <a:avLst/>
          </a:prstGeom>
          <a:noFill/>
          <a:ln/>
        </p:spPr>
        <p:txBody>
          <a:bodyPr wrap="square" lIns="0" tIns="0" rIns="0" bIns="0" rtlCol="0" anchor="ctr"/>
          <a:lstStyle/>
          <a:p>
            <a:pPr algn="r" indent="0" marL="0">
              <a:buNone/>
            </a:pPr>
            <a:r>
              <a:rPr lang="en-US" sz="900" dirty="0">
                <a:solidFill>
                  <a:srgbClr val="38BDF8"/>
                </a:solidFill>
                <a:latin typeface="Calibri" pitchFamily="34" charset="0"/>
                <a:ea typeface="Calibri" pitchFamily="34" charset="-122"/>
                <a:cs typeface="Calibri" pitchFamily="34" charset="-120"/>
              </a:rPr>
              <a:t>https://smart-restaurant-2za8.vercel.app/</a:t>
            </a:r>
            <a:endParaRPr lang="en-US" sz="900" dirty="0"/>
          </a:p>
        </p:txBody>
      </p:sp>
      <p:sp>
        <p:nvSpPr>
          <p:cNvPr id="6" name="Shape 4"/>
          <p:cNvSpPr/>
          <p:nvPr/>
        </p:nvSpPr>
        <p:spPr>
          <a:xfrm>
            <a:off x="548640" y="1188720"/>
            <a:ext cx="3931920" cy="3429000"/>
          </a:xfrm>
          <a:prstGeom prst="roundRect">
            <a:avLst>
              <a:gd name="adj" fmla="val 2133"/>
            </a:avLst>
          </a:prstGeom>
          <a:solidFill>
            <a:srgbClr val="1E293B"/>
          </a:solidFill>
          <a:ln w="12700">
            <a:solidFill>
              <a:srgbClr val="334155"/>
            </a:solidFill>
            <a:prstDash val="solid"/>
          </a:ln>
        </p:spPr>
      </p:sp>
      <p:sp>
        <p:nvSpPr>
          <p:cNvPr id="7" name="Text 5"/>
          <p:cNvSpPr/>
          <p:nvPr/>
        </p:nvSpPr>
        <p:spPr>
          <a:xfrm>
            <a:off x="731520" y="1371600"/>
            <a:ext cx="3566160" cy="228600"/>
          </a:xfrm>
          <a:prstGeom prst="rect">
            <a:avLst/>
          </a:prstGeom>
          <a:noFill/>
          <a:ln/>
        </p:spPr>
        <p:txBody>
          <a:bodyPr wrap="square" lIns="0" tIns="0" rIns="0" bIns="0" rtlCol="0" anchor="ctr"/>
          <a:lstStyle/>
          <a:p>
            <a:pPr indent="0" marL="0">
              <a:buNone/>
            </a:pPr>
            <a:r>
              <a:rPr lang="en-US" sz="1200" b="1" dirty="0">
                <a:solidFill>
                  <a:srgbClr val="38BDF8"/>
                </a:solidFill>
                <a:latin typeface="Cambria" pitchFamily="34" charset="0"/>
                <a:ea typeface="Cambria" pitchFamily="34" charset="-122"/>
                <a:cs typeface="Cambria" pitchFamily="34" charset="-120"/>
              </a:rPr>
              <a:t>AGILE SPRINTS &amp; MILESTONE TIMELINE</a:t>
            </a:r>
            <a:endParaRPr lang="en-US" sz="1200" dirty="0"/>
          </a:p>
        </p:txBody>
      </p:sp>
      <p:sp>
        <p:nvSpPr>
          <p:cNvPr id="8" name="Text 6"/>
          <p:cNvSpPr/>
          <p:nvPr/>
        </p:nvSpPr>
        <p:spPr>
          <a:xfrm>
            <a:off x="731520" y="1691640"/>
            <a:ext cx="3566160" cy="2743200"/>
          </a:xfrm>
          <a:prstGeom prst="rect">
            <a:avLst/>
          </a:prstGeom>
          <a:noFill/>
          <a:ln/>
        </p:spPr>
        <p:txBody>
          <a:bodyPr wrap="square" lIns="0" tIns="0" rIns="0" bIns="0" rtlCol="0" anchor="ctr"/>
          <a:lstStyle/>
          <a:p>
            <a:pPr marL="342900" indent="-342900">
              <a:spcAft>
                <a:spcPts val="500"/>
              </a:spcAft>
              <a:buSzPct val="100000"/>
              <a:buChar char="•"/>
            </a:pPr>
            <a:r>
              <a:rPr lang="en-US" sz="950" dirty="0">
                <a:solidFill>
                  <a:srgbClr val="E2E8F0"/>
                </a:solidFill>
                <a:latin typeface="Calibri" pitchFamily="34" charset="0"/>
                <a:ea typeface="Calibri" pitchFamily="34" charset="-122"/>
                <a:cs typeface="Calibri" pitchFamily="34" charset="-120"/>
              </a:rPr>
              <a:t>Sprint 1-2 (Phase 1): Requirement gathering, UX wireframing, and 3D photogrammetry food asset sourcing (Completed).</a:t>
            </a:r>
            <a:endParaRPr lang="en-US" sz="950" dirty="0"/>
          </a:p>
          <a:p>
            <a:pPr marL="342900" indent="-342900">
              <a:spcAft>
                <a:spcPts val="500"/>
              </a:spcAft>
              <a:buSzPct val="100000"/>
              <a:buChar char="•"/>
            </a:pPr>
            <a:r>
              <a:rPr lang="en-US" sz="950" dirty="0">
                <a:solidFill>
                  <a:srgbClr val="E2E8F0"/>
                </a:solidFill>
                <a:latin typeface="Calibri" pitchFamily="34" charset="0"/>
                <a:ea typeface="Calibri" pitchFamily="34" charset="-122"/>
                <a:cs typeface="Calibri" pitchFamily="34" charset="-120"/>
              </a:rPr>
              <a:t>Sprint 3-4 (Phase 2): Responsive menu development, TypeScript data schema, and dietary filtering engine (Completed).</a:t>
            </a:r>
            <a:endParaRPr lang="en-US" sz="950" dirty="0"/>
          </a:p>
          <a:p>
            <a:pPr marL="342900" indent="-342900">
              <a:spcAft>
                <a:spcPts val="500"/>
              </a:spcAft>
              <a:buSzPct val="100000"/>
              <a:buChar char="•"/>
            </a:pPr>
            <a:r>
              <a:rPr lang="en-US" sz="950" dirty="0">
                <a:solidFill>
                  <a:srgbClr val="E2E8F0"/>
                </a:solidFill>
                <a:latin typeface="Calibri" pitchFamily="34" charset="0"/>
                <a:ea typeface="Calibri" pitchFamily="34" charset="-122"/>
                <a:cs typeface="Calibri" pitchFamily="34" charset="-120"/>
              </a:rPr>
              <a:t>Sprint 5-6 (Phase 3): WebXR surface hit-testing engine and 3D model compression with Draco/WebP (Completed).</a:t>
            </a:r>
            <a:endParaRPr lang="en-US" sz="950" dirty="0"/>
          </a:p>
          <a:p>
            <a:pPr marL="342900" indent="-342900">
              <a:spcAft>
                <a:spcPts val="500"/>
              </a:spcAft>
              <a:buSzPct val="100000"/>
              <a:buChar char="•"/>
            </a:pPr>
            <a:r>
              <a:rPr lang="en-US" sz="950" dirty="0">
                <a:solidFill>
                  <a:srgbClr val="E2E8F0"/>
                </a:solidFill>
                <a:latin typeface="Calibri" pitchFamily="34" charset="0"/>
                <a:ea typeface="Calibri" pitchFamily="34" charset="-122"/>
                <a:cs typeface="Calibri" pitchFamily="34" charset="-120"/>
              </a:rPr>
              <a:t>Sprint 7-8 (Phase 4): Real-time Kitchen Display System, audio notifications, and Scene Viewer fallback (Completed).</a:t>
            </a:r>
            <a:endParaRPr lang="en-US" sz="950" dirty="0"/>
          </a:p>
          <a:p>
            <a:pPr marL="342900" indent="-342900">
              <a:spcAft>
                <a:spcPts val="500"/>
              </a:spcAft>
              <a:buSzPct val="100000"/>
              <a:buChar char="•"/>
            </a:pPr>
            <a:r>
              <a:rPr lang="en-US" sz="950" dirty="0">
                <a:solidFill>
                  <a:srgbClr val="E2E8F0"/>
                </a:solidFill>
                <a:latin typeface="Calibri" pitchFamily="34" charset="0"/>
                <a:ea typeface="Calibri" pitchFamily="34" charset="-122"/>
                <a:cs typeface="Calibri" pitchFamily="34" charset="-120"/>
              </a:rPr>
              <a:t>Sprint 9-10 (Phase 5): Cross-device testing, Vercel edge deployment, and research paper completion (Completed).</a:t>
            </a:r>
            <a:endParaRPr lang="en-US" sz="950" dirty="0"/>
          </a:p>
        </p:txBody>
      </p:sp>
      <p:sp>
        <p:nvSpPr>
          <p:cNvPr id="9" name="Shape 7"/>
          <p:cNvSpPr/>
          <p:nvPr/>
        </p:nvSpPr>
        <p:spPr>
          <a:xfrm>
            <a:off x="4663440" y="1188720"/>
            <a:ext cx="3931920" cy="3429000"/>
          </a:xfrm>
          <a:prstGeom prst="roundRect">
            <a:avLst>
              <a:gd name="adj" fmla="val 2133"/>
            </a:avLst>
          </a:prstGeom>
          <a:solidFill>
            <a:srgbClr val="1E293B"/>
          </a:solidFill>
          <a:ln w="12700">
            <a:solidFill>
              <a:srgbClr val="334155"/>
            </a:solidFill>
            <a:prstDash val="solid"/>
          </a:ln>
        </p:spPr>
      </p:sp>
      <p:sp>
        <p:nvSpPr>
          <p:cNvPr id="10" name="Text 8"/>
          <p:cNvSpPr/>
          <p:nvPr/>
        </p:nvSpPr>
        <p:spPr>
          <a:xfrm>
            <a:off x="4846320" y="1371600"/>
            <a:ext cx="3566160" cy="228600"/>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STRUCTURED RISK MANAGEMENT MATRIX</a:t>
            </a:r>
            <a:endParaRPr lang="en-US" sz="1200" dirty="0"/>
          </a:p>
        </p:txBody>
      </p:sp>
      <p:sp>
        <p:nvSpPr>
          <p:cNvPr id="11" name="Text 9"/>
          <p:cNvSpPr/>
          <p:nvPr/>
        </p:nvSpPr>
        <p:spPr>
          <a:xfrm>
            <a:off x="4846320" y="1691640"/>
            <a:ext cx="3566160" cy="2743200"/>
          </a:xfrm>
          <a:prstGeom prst="rect">
            <a:avLst/>
          </a:prstGeom>
          <a:noFill/>
          <a:ln/>
        </p:spPr>
        <p:txBody>
          <a:bodyPr wrap="square" lIns="0" tIns="0" rIns="0" bIns="0" rtlCol="0" anchor="ctr"/>
          <a:lstStyle/>
          <a:p>
            <a:pPr marL="342900" indent="-342900">
              <a:spcAft>
                <a:spcPts val="600"/>
              </a:spcAft>
              <a:buSzPct val="100000"/>
              <a:buChar char="•"/>
            </a:pPr>
            <a:r>
              <a:rPr lang="en-US" sz="950" dirty="0">
                <a:solidFill>
                  <a:srgbClr val="E2E8F0"/>
                </a:solidFill>
                <a:latin typeface="Calibri" pitchFamily="34" charset="0"/>
                <a:ea typeface="Calibri" pitchFamily="34" charset="-122"/>
                <a:cs typeface="Calibri" pitchFamily="34" charset="-120"/>
              </a:rPr>
              <a:t>Risk 1: 3D model downloads causing mobile browser timeouts &amp; OOM crashes.</a:t>
            </a:r>
            <a:endParaRPr lang="en-US" sz="950" dirty="0"/>
          </a:p>
          <a:p>
            <a:pPr marL="342900" indent="-342900">
              <a:spcAft>
                <a:spcPts val="600"/>
              </a:spcAft>
              <a:buSzPct val="100000"/>
              <a:buChar char="•"/>
            </a:pPr>
            <a:r>
              <a:rPr lang="en-US" sz="950" dirty="0">
                <a:solidFill>
                  <a:srgbClr val="E2E8F0"/>
                </a:solidFill>
                <a:latin typeface="Calibri" pitchFamily="34" charset="0"/>
                <a:ea typeface="Calibri" pitchFamily="34" charset="-122"/>
                <a:cs typeface="Calibri" pitchFamily="34" charset="-120"/>
              </a:rPr>
              <a:t>Mitigation: Deployed gltf-transform pipeline downscaling 8K textures to 2K WebP, cutting payloads by up to 78%.</a:t>
            </a:r>
            <a:endParaRPr lang="en-US" sz="950" dirty="0"/>
          </a:p>
          <a:p>
            <a:pPr marL="342900" indent="-342900">
              <a:spcAft>
                <a:spcPts val="600"/>
              </a:spcAft>
              <a:buSzPct val="100000"/>
              <a:buChar char="•"/>
            </a:pPr>
            <a:r>
              <a:rPr lang="en-US" sz="950" dirty="0">
                <a:solidFill>
                  <a:srgbClr val="E2E8F0"/>
                </a:solidFill>
                <a:latin typeface="Calibri" pitchFamily="34" charset="0"/>
                <a:ea typeface="Calibri" pitchFamily="34" charset="-122"/>
                <a:cs typeface="Calibri" pitchFamily="34" charset="-120"/>
              </a:rPr>
              <a:t>Risk 2: WebXR hardware/browser fragmentation across older Android &amp; iOS phones.</a:t>
            </a:r>
            <a:endParaRPr lang="en-US" sz="950" dirty="0"/>
          </a:p>
          <a:p>
            <a:pPr marL="342900" indent="-342900">
              <a:spcAft>
                <a:spcPts val="600"/>
              </a:spcAft>
              <a:buSzPct val="100000"/>
              <a:buChar char="•"/>
            </a:pPr>
            <a:r>
              <a:rPr lang="en-US" sz="950" dirty="0">
                <a:solidFill>
                  <a:srgbClr val="E2E8F0"/>
                </a:solidFill>
                <a:latin typeface="Calibri" pitchFamily="34" charset="0"/>
                <a:ea typeface="Calibri" pitchFamily="34" charset="-122"/>
                <a:cs typeface="Calibri" pitchFamily="34" charset="-120"/>
              </a:rPr>
              <a:t>Mitigation: Engineered dual-engine fallback: automatic redirect to Google Scene Viewer Intent via ARCore.</a:t>
            </a:r>
            <a:endParaRPr lang="en-US" sz="950" dirty="0"/>
          </a:p>
          <a:p>
            <a:pPr marL="342900" indent="-342900">
              <a:spcAft>
                <a:spcPts val="600"/>
              </a:spcAft>
              <a:buSzPct val="100000"/>
              <a:buChar char="•"/>
            </a:pPr>
            <a:r>
              <a:rPr lang="en-US" sz="950" dirty="0">
                <a:solidFill>
                  <a:srgbClr val="E2E8F0"/>
                </a:solidFill>
                <a:latin typeface="Calibri" pitchFamily="34" charset="0"/>
                <a:ea typeface="Calibri" pitchFamily="34" charset="-122"/>
                <a:cs typeface="Calibri" pitchFamily="34" charset="-120"/>
              </a:rPr>
              <a:t>Risk 3: Cross-Origin CORS and wrong MIME blocking GLB loading in external viewers.</a:t>
            </a:r>
            <a:endParaRPr lang="en-US" sz="950" dirty="0"/>
          </a:p>
          <a:p>
            <a:pPr marL="342900" indent="-342900">
              <a:spcAft>
                <a:spcPts val="600"/>
              </a:spcAft>
              <a:buSzPct val="100000"/>
              <a:buChar char="•"/>
            </a:pPr>
            <a:r>
              <a:rPr lang="en-US" sz="950" dirty="0">
                <a:solidFill>
                  <a:srgbClr val="E2E8F0"/>
                </a:solidFill>
                <a:latin typeface="Calibri" pitchFamily="34" charset="0"/>
                <a:ea typeface="Calibri" pitchFamily="34" charset="-122"/>
                <a:cs typeface="Calibri" pitchFamily="34" charset="-120"/>
              </a:rPr>
              <a:t>Mitigation: Configured vercel.json edge rules enforcing model/gltf-binary and CORS wildcard headers.</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548640" y="365760"/>
            <a:ext cx="8046720" cy="228600"/>
          </a:xfrm>
          <a:prstGeom prst="rect">
            <a:avLst/>
          </a:prstGeom>
          <a:noFill/>
          <a:ln/>
        </p:spPr>
        <p:txBody>
          <a:bodyPr wrap="square" lIns="0" tIns="0" rIns="0" bIns="0" rtlCol="0" anchor="ctr"/>
          <a:lstStyle/>
          <a:p>
            <a:pPr indent="0" marL="0">
              <a:buNone/>
            </a:pPr>
            <a:r>
              <a:rPr lang="en-US" sz="1000" b="1" spc="150" kern="0" dirty="0">
                <a:solidFill>
                  <a:srgbClr val="38BDF8"/>
                </a:solidFill>
                <a:latin typeface="Calibri" pitchFamily="34" charset="0"/>
                <a:ea typeface="Calibri" pitchFamily="34" charset="-122"/>
                <a:cs typeface="Calibri" pitchFamily="34" charset="-120"/>
              </a:rPr>
              <a:t>RUBRIC CRITERION 5 (10 MARKS)</a:t>
            </a:r>
            <a:endParaRPr lang="en-US" sz="1000" dirty="0"/>
          </a:p>
        </p:txBody>
      </p:sp>
      <p:sp>
        <p:nvSpPr>
          <p:cNvPr id="3" name="Text 1"/>
          <p:cNvSpPr/>
          <p:nvPr/>
        </p:nvSpPr>
        <p:spPr>
          <a:xfrm>
            <a:off x="548640" y="594360"/>
            <a:ext cx="8046720" cy="41148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Teamwork, Task Allocation &amp; Collaborative Practices</a:t>
            </a:r>
            <a:endParaRPr lang="en-US" sz="2200" dirty="0"/>
          </a:p>
        </p:txBody>
      </p:sp>
      <p:sp>
        <p:nvSpPr>
          <p:cNvPr id="4" name="Text 2"/>
          <p:cNvSpPr/>
          <p:nvPr/>
        </p:nvSpPr>
        <p:spPr>
          <a:xfrm>
            <a:off x="548640" y="4800600"/>
            <a:ext cx="5943600" cy="228600"/>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5" name="Text 3"/>
          <p:cNvSpPr/>
          <p:nvPr/>
        </p:nvSpPr>
        <p:spPr>
          <a:xfrm>
            <a:off x="6583680" y="4800600"/>
            <a:ext cx="2011680" cy="228600"/>
          </a:xfrm>
          <a:prstGeom prst="rect">
            <a:avLst/>
          </a:prstGeom>
          <a:noFill/>
          <a:ln/>
        </p:spPr>
        <p:txBody>
          <a:bodyPr wrap="square" lIns="0" tIns="0" rIns="0" bIns="0" rtlCol="0" anchor="ctr"/>
          <a:lstStyle/>
          <a:p>
            <a:pPr algn="r" indent="0" marL="0">
              <a:buNone/>
            </a:pPr>
            <a:r>
              <a:rPr lang="en-US" sz="900" dirty="0">
                <a:solidFill>
                  <a:srgbClr val="38BDF8"/>
                </a:solidFill>
                <a:latin typeface="Calibri" pitchFamily="34" charset="0"/>
                <a:ea typeface="Calibri" pitchFamily="34" charset="-122"/>
                <a:cs typeface="Calibri" pitchFamily="34" charset="-120"/>
              </a:rPr>
              <a:t>https://smart-restaurant-2za8.vercel.app/</a:t>
            </a:r>
            <a:endParaRPr lang="en-US" sz="900" dirty="0"/>
          </a:p>
        </p:txBody>
      </p:sp>
      <p:sp>
        <p:nvSpPr>
          <p:cNvPr id="6" name="Shape 4"/>
          <p:cNvSpPr/>
          <p:nvPr/>
        </p:nvSpPr>
        <p:spPr>
          <a:xfrm>
            <a:off x="548640" y="1188720"/>
            <a:ext cx="2560320" cy="2377440"/>
          </a:xfrm>
          <a:prstGeom prst="roundRect">
            <a:avLst>
              <a:gd name="adj" fmla="val 3077"/>
            </a:avLst>
          </a:prstGeom>
          <a:solidFill>
            <a:srgbClr val="1E293B"/>
          </a:solidFill>
          <a:ln w="12700">
            <a:solidFill>
              <a:srgbClr val="334155"/>
            </a:solidFill>
            <a:prstDash val="solid"/>
          </a:ln>
        </p:spPr>
      </p:sp>
      <p:sp>
        <p:nvSpPr>
          <p:cNvPr id="7" name="Text 5"/>
          <p:cNvSpPr/>
          <p:nvPr/>
        </p:nvSpPr>
        <p:spPr>
          <a:xfrm>
            <a:off x="731520" y="1371600"/>
            <a:ext cx="2194560" cy="27432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Manav Singh</a:t>
            </a:r>
            <a:endParaRPr lang="en-US" sz="1300" dirty="0"/>
          </a:p>
        </p:txBody>
      </p:sp>
      <p:sp>
        <p:nvSpPr>
          <p:cNvPr id="8" name="Text 6"/>
          <p:cNvSpPr/>
          <p:nvPr/>
        </p:nvSpPr>
        <p:spPr>
          <a:xfrm>
            <a:off x="731520" y="1645920"/>
            <a:ext cx="2194560" cy="228600"/>
          </a:xfrm>
          <a:prstGeom prst="rect">
            <a:avLst/>
          </a:prstGeom>
          <a:noFill/>
          <a:ln/>
        </p:spPr>
        <p:txBody>
          <a:bodyPr wrap="square" lIns="0" tIns="0" rIns="0" bIns="0" rtlCol="0" anchor="ctr"/>
          <a:lstStyle/>
          <a:p>
            <a:pPr indent="0" marL="0">
              <a:buNone/>
            </a:pPr>
            <a:r>
              <a:rPr lang="en-US" sz="950" b="1" dirty="0">
                <a:solidFill>
                  <a:srgbClr val="38BDF8"/>
                </a:solidFill>
                <a:latin typeface="Calibri" pitchFamily="34" charset="0"/>
                <a:ea typeface="Calibri" pitchFamily="34" charset="-122"/>
                <a:cs typeface="Calibri" pitchFamily="34" charset="-120"/>
              </a:rPr>
              <a:t>Lead Full-Stack &amp; Spatial AR Engineer</a:t>
            </a:r>
            <a:endParaRPr lang="en-US" sz="950" dirty="0"/>
          </a:p>
        </p:txBody>
      </p:sp>
      <p:sp>
        <p:nvSpPr>
          <p:cNvPr id="9" name="Text 7"/>
          <p:cNvSpPr/>
          <p:nvPr/>
        </p:nvSpPr>
        <p:spPr>
          <a:xfrm>
            <a:off x="731520" y="1920240"/>
            <a:ext cx="2194560" cy="1554480"/>
          </a:xfrm>
          <a:prstGeom prst="rect">
            <a:avLst/>
          </a:prstGeom>
          <a:noFill/>
          <a:ln/>
        </p:spPr>
        <p:txBody>
          <a:bodyPr wrap="square" lIns="0" tIns="0" rIns="0" bIns="0" rtlCol="0" anchor="ctr"/>
          <a:lstStyle/>
          <a:p>
            <a:pPr marL="342900" indent="-342900">
              <a:spcAft>
                <a:spcPts val="400"/>
              </a:spcAft>
              <a:buSzPct val="100000"/>
              <a:buChar char="•"/>
            </a:pPr>
            <a:r>
              <a:rPr lang="en-US" sz="900" dirty="0">
                <a:solidFill>
                  <a:srgbClr val="E2E8F0"/>
                </a:solidFill>
                <a:latin typeface="Calibri" pitchFamily="34" charset="0"/>
                <a:ea typeface="Calibri" pitchFamily="34" charset="-122"/>
                <a:cs typeface="Calibri" pitchFamily="34" charset="-120"/>
              </a:rPr>
              <a:t>Engineered WebXR Device API hit-testing reticle &amp; table plane detection.</a:t>
            </a:r>
            <a:endParaRPr lang="en-US" sz="900" dirty="0"/>
          </a:p>
          <a:p>
            <a:pPr marL="342900" indent="-342900">
              <a:spcAft>
                <a:spcPts val="400"/>
              </a:spcAft>
              <a:buSzPct val="100000"/>
              <a:buChar char="•"/>
            </a:pPr>
            <a:r>
              <a:rPr lang="en-US" sz="900" dirty="0">
                <a:solidFill>
                  <a:srgbClr val="E2E8F0"/>
                </a:solidFill>
                <a:latin typeface="Calibri" pitchFamily="34" charset="0"/>
                <a:ea typeface="Calibri" pitchFamily="34" charset="-122"/>
                <a:cs typeface="Calibri" pitchFamily="34" charset="-120"/>
              </a:rPr>
              <a:t>Built Google Scene Viewer Android Intent fallback and mobile QR handoff.</a:t>
            </a:r>
            <a:endParaRPr lang="en-US" sz="900" dirty="0"/>
          </a:p>
          <a:p>
            <a:pPr marL="342900" indent="-342900">
              <a:spcAft>
                <a:spcPts val="400"/>
              </a:spcAft>
              <a:buSzPct val="100000"/>
              <a:buChar char="•"/>
            </a:pPr>
            <a:r>
              <a:rPr lang="en-US" sz="900" dirty="0">
                <a:solidFill>
                  <a:srgbClr val="E2E8F0"/>
                </a:solidFill>
                <a:latin typeface="Calibri" pitchFamily="34" charset="0"/>
                <a:ea typeface="Calibri" pitchFamily="34" charset="-122"/>
                <a:cs typeface="Calibri" pitchFamily="34" charset="-120"/>
              </a:rPr>
              <a:t>Executed 3D asset compression pipeline with Draco &amp; WebP textures.</a:t>
            </a:r>
            <a:endParaRPr lang="en-US" sz="900" dirty="0"/>
          </a:p>
          <a:p>
            <a:pPr marL="342900" indent="-342900">
              <a:spcAft>
                <a:spcPts val="400"/>
              </a:spcAft>
              <a:buSzPct val="100000"/>
              <a:buChar char="•"/>
            </a:pPr>
            <a:r>
              <a:rPr lang="en-US" sz="900" dirty="0">
                <a:solidFill>
                  <a:srgbClr val="E2E8F0"/>
                </a:solidFill>
                <a:latin typeface="Calibri" pitchFamily="34" charset="0"/>
                <a:ea typeface="Calibri" pitchFamily="34" charset="-122"/>
                <a:cs typeface="Calibri" pitchFamily="34" charset="-120"/>
              </a:rPr>
              <a:t>Configured Vercel edge deployment, custom MIME types &amp; CORS rules.</a:t>
            </a:r>
            <a:endParaRPr lang="en-US" sz="900" dirty="0"/>
          </a:p>
        </p:txBody>
      </p:sp>
      <p:sp>
        <p:nvSpPr>
          <p:cNvPr id="10" name="Shape 8"/>
          <p:cNvSpPr/>
          <p:nvPr/>
        </p:nvSpPr>
        <p:spPr>
          <a:xfrm>
            <a:off x="3291840" y="1188720"/>
            <a:ext cx="2560320" cy="2377440"/>
          </a:xfrm>
          <a:prstGeom prst="roundRect">
            <a:avLst>
              <a:gd name="adj" fmla="val 3077"/>
            </a:avLst>
          </a:prstGeom>
          <a:solidFill>
            <a:srgbClr val="1E293B"/>
          </a:solidFill>
          <a:ln w="12700">
            <a:solidFill>
              <a:srgbClr val="334155"/>
            </a:solidFill>
            <a:prstDash val="solid"/>
          </a:ln>
        </p:spPr>
      </p:sp>
      <p:sp>
        <p:nvSpPr>
          <p:cNvPr id="11" name="Text 9"/>
          <p:cNvSpPr/>
          <p:nvPr/>
        </p:nvSpPr>
        <p:spPr>
          <a:xfrm>
            <a:off x="3474720" y="1371600"/>
            <a:ext cx="2194560" cy="27432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Sanskar Suryavanshi</a:t>
            </a:r>
            <a:endParaRPr lang="en-US" sz="1300" dirty="0"/>
          </a:p>
        </p:txBody>
      </p:sp>
      <p:sp>
        <p:nvSpPr>
          <p:cNvPr id="12" name="Text 10"/>
          <p:cNvSpPr/>
          <p:nvPr/>
        </p:nvSpPr>
        <p:spPr>
          <a:xfrm>
            <a:off x="3474720" y="1645920"/>
            <a:ext cx="2194560" cy="228600"/>
          </a:xfrm>
          <a:prstGeom prst="rect">
            <a:avLst/>
          </a:prstGeom>
          <a:noFill/>
          <a:ln/>
        </p:spPr>
        <p:txBody>
          <a:bodyPr wrap="square" lIns="0" tIns="0" rIns="0" bIns="0" rtlCol="0" anchor="ctr"/>
          <a:lstStyle/>
          <a:p>
            <a:pPr indent="0" marL="0">
              <a:buNone/>
            </a:pPr>
            <a:r>
              <a:rPr lang="en-US" sz="950" b="1" dirty="0">
                <a:solidFill>
                  <a:srgbClr val="F59E0B"/>
                </a:solidFill>
                <a:latin typeface="Calibri" pitchFamily="34" charset="0"/>
                <a:ea typeface="Calibri" pitchFamily="34" charset="-122"/>
                <a:cs typeface="Calibri" pitchFamily="34" charset="-120"/>
              </a:rPr>
              <a:t>Frontend Architect &amp; UI/UX Specialist</a:t>
            </a:r>
            <a:endParaRPr lang="en-US" sz="950" dirty="0"/>
          </a:p>
        </p:txBody>
      </p:sp>
      <p:sp>
        <p:nvSpPr>
          <p:cNvPr id="13" name="Text 11"/>
          <p:cNvSpPr/>
          <p:nvPr/>
        </p:nvSpPr>
        <p:spPr>
          <a:xfrm>
            <a:off x="3474720" y="1920240"/>
            <a:ext cx="2194560" cy="1554480"/>
          </a:xfrm>
          <a:prstGeom prst="rect">
            <a:avLst/>
          </a:prstGeom>
          <a:noFill/>
          <a:ln/>
        </p:spPr>
        <p:txBody>
          <a:bodyPr wrap="square" lIns="0" tIns="0" rIns="0" bIns="0" rtlCol="0" anchor="ctr"/>
          <a:lstStyle/>
          <a:p>
            <a:pPr marL="342900" indent="-342900">
              <a:spcAft>
                <a:spcPts val="400"/>
              </a:spcAft>
              <a:buSzPct val="100000"/>
              <a:buChar char="•"/>
            </a:pPr>
            <a:r>
              <a:rPr lang="en-US" sz="900" dirty="0">
                <a:solidFill>
                  <a:srgbClr val="E2E8F0"/>
                </a:solidFill>
                <a:latin typeface="Calibri" pitchFamily="34" charset="0"/>
                <a:ea typeface="Calibri" pitchFamily="34" charset="-122"/>
                <a:cs typeface="Calibri" pitchFamily="34" charset="-120"/>
              </a:rPr>
              <a:t>Architected responsive customer menu portal with Tailwind CSS.</a:t>
            </a:r>
            <a:endParaRPr lang="en-US" sz="900" dirty="0"/>
          </a:p>
          <a:p>
            <a:pPr marL="342900" indent="-342900">
              <a:spcAft>
                <a:spcPts val="400"/>
              </a:spcAft>
              <a:buSzPct val="100000"/>
              <a:buChar char="•"/>
            </a:pPr>
            <a:r>
              <a:rPr lang="en-US" sz="900" dirty="0">
                <a:solidFill>
                  <a:srgbClr val="E2E8F0"/>
                </a:solidFill>
                <a:latin typeface="Calibri" pitchFamily="34" charset="0"/>
                <a:ea typeface="Calibri" pitchFamily="34" charset="-122"/>
                <a:cs typeface="Calibri" pitchFamily="34" charset="-120"/>
              </a:rPr>
              <a:t>Designed interactive Dish Detail Modal, allergen badges &amp; calorie counters.</a:t>
            </a:r>
            <a:endParaRPr lang="en-US" sz="900" dirty="0"/>
          </a:p>
          <a:p>
            <a:pPr marL="342900" indent="-342900">
              <a:spcAft>
                <a:spcPts val="400"/>
              </a:spcAft>
              <a:buSzPct val="100000"/>
              <a:buChar char="•"/>
            </a:pPr>
            <a:r>
              <a:rPr lang="en-US" sz="900" dirty="0">
                <a:solidFill>
                  <a:srgbClr val="E2E8F0"/>
                </a:solidFill>
                <a:latin typeface="Calibri" pitchFamily="34" charset="0"/>
                <a:ea typeface="Calibri" pitchFamily="34" charset="-122"/>
                <a:cs typeface="Calibri" pitchFamily="34" charset="-120"/>
              </a:rPr>
              <a:t>Implemented category filtering, dynamic search &amp; cart drawer UI.</a:t>
            </a:r>
            <a:endParaRPr lang="en-US" sz="900" dirty="0"/>
          </a:p>
          <a:p>
            <a:pPr marL="342900" indent="-342900">
              <a:spcAft>
                <a:spcPts val="400"/>
              </a:spcAft>
              <a:buSzPct val="100000"/>
              <a:buChar char="•"/>
            </a:pPr>
            <a:r>
              <a:rPr lang="en-US" sz="900" dirty="0">
                <a:solidFill>
                  <a:srgbClr val="E2E8F0"/>
                </a:solidFill>
                <a:latin typeface="Calibri" pitchFamily="34" charset="0"/>
                <a:ea typeface="Calibri" pitchFamily="34" charset="-122"/>
                <a:cs typeface="Calibri" pitchFamily="34" charset="-120"/>
              </a:rPr>
              <a:t>Ensured responsive design and touch-friendly mobile ergonomics.</a:t>
            </a:r>
            <a:endParaRPr lang="en-US" sz="900" dirty="0"/>
          </a:p>
        </p:txBody>
      </p:sp>
      <p:sp>
        <p:nvSpPr>
          <p:cNvPr id="14" name="Shape 12"/>
          <p:cNvSpPr/>
          <p:nvPr/>
        </p:nvSpPr>
        <p:spPr>
          <a:xfrm>
            <a:off x="6035040" y="1188720"/>
            <a:ext cx="2560320" cy="2377440"/>
          </a:xfrm>
          <a:prstGeom prst="roundRect">
            <a:avLst>
              <a:gd name="adj" fmla="val 3077"/>
            </a:avLst>
          </a:prstGeom>
          <a:solidFill>
            <a:srgbClr val="1E293B"/>
          </a:solidFill>
          <a:ln w="12700">
            <a:solidFill>
              <a:srgbClr val="334155"/>
            </a:solidFill>
            <a:prstDash val="solid"/>
          </a:ln>
        </p:spPr>
      </p:sp>
      <p:sp>
        <p:nvSpPr>
          <p:cNvPr id="15" name="Text 13"/>
          <p:cNvSpPr/>
          <p:nvPr/>
        </p:nvSpPr>
        <p:spPr>
          <a:xfrm>
            <a:off x="6217920" y="1371600"/>
            <a:ext cx="2194560" cy="27432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Kesar Singh</a:t>
            </a:r>
            <a:endParaRPr lang="en-US" sz="1300" dirty="0"/>
          </a:p>
        </p:txBody>
      </p:sp>
      <p:sp>
        <p:nvSpPr>
          <p:cNvPr id="16" name="Text 14"/>
          <p:cNvSpPr/>
          <p:nvPr/>
        </p:nvSpPr>
        <p:spPr>
          <a:xfrm>
            <a:off x="6217920" y="1645920"/>
            <a:ext cx="2194560" cy="228600"/>
          </a:xfrm>
          <a:prstGeom prst="rect">
            <a:avLst/>
          </a:prstGeom>
          <a:noFill/>
          <a:ln/>
        </p:spPr>
        <p:txBody>
          <a:bodyPr wrap="square" lIns="0" tIns="0" rIns="0" bIns="0" rtlCol="0" anchor="ctr"/>
          <a:lstStyle/>
          <a:p>
            <a:pPr indent="0" marL="0">
              <a:buNone/>
            </a:pPr>
            <a:r>
              <a:rPr lang="en-US" sz="950" b="1" dirty="0">
                <a:solidFill>
                  <a:srgbClr val="10B981"/>
                </a:solidFill>
                <a:latin typeface="Calibri" pitchFamily="34" charset="0"/>
                <a:ea typeface="Calibri" pitchFamily="34" charset="-122"/>
                <a:cs typeface="Calibri" pitchFamily="34" charset="-120"/>
              </a:rPr>
              <a:t>Systems Integration &amp; QA Lead</a:t>
            </a:r>
            <a:endParaRPr lang="en-US" sz="950" dirty="0"/>
          </a:p>
        </p:txBody>
      </p:sp>
      <p:sp>
        <p:nvSpPr>
          <p:cNvPr id="17" name="Text 15"/>
          <p:cNvSpPr/>
          <p:nvPr/>
        </p:nvSpPr>
        <p:spPr>
          <a:xfrm>
            <a:off x="6217920" y="1920240"/>
            <a:ext cx="2194560" cy="1554480"/>
          </a:xfrm>
          <a:prstGeom prst="rect">
            <a:avLst/>
          </a:prstGeom>
          <a:noFill/>
          <a:ln/>
        </p:spPr>
        <p:txBody>
          <a:bodyPr wrap="square" lIns="0" tIns="0" rIns="0" bIns="0" rtlCol="0" anchor="ctr"/>
          <a:lstStyle/>
          <a:p>
            <a:pPr marL="342900" indent="-342900">
              <a:spcAft>
                <a:spcPts val="400"/>
              </a:spcAft>
              <a:buSzPct val="100000"/>
              <a:buChar char="•"/>
            </a:pPr>
            <a:r>
              <a:rPr lang="en-US" sz="900" dirty="0">
                <a:solidFill>
                  <a:srgbClr val="E2E8F0"/>
                </a:solidFill>
                <a:latin typeface="Calibri" pitchFamily="34" charset="0"/>
                <a:ea typeface="Calibri" pitchFamily="34" charset="-122"/>
                <a:cs typeface="Calibri" pitchFamily="34" charset="-120"/>
              </a:rPr>
              <a:t>Developed real-time Kitchen Display System (KDS) Kanban board.</a:t>
            </a:r>
            <a:endParaRPr lang="en-US" sz="900" dirty="0"/>
          </a:p>
          <a:p>
            <a:pPr marL="342900" indent="-342900">
              <a:spcAft>
                <a:spcPts val="400"/>
              </a:spcAft>
              <a:buSzPct val="100000"/>
              <a:buChar char="•"/>
            </a:pPr>
            <a:r>
              <a:rPr lang="en-US" sz="900" dirty="0">
                <a:solidFill>
                  <a:srgbClr val="E2E8F0"/>
                </a:solidFill>
                <a:latin typeface="Calibri" pitchFamily="34" charset="0"/>
                <a:ea typeface="Calibri" pitchFamily="34" charset="-122"/>
                <a:cs typeface="Calibri" pitchFamily="34" charset="-120"/>
              </a:rPr>
              <a:t>Integrated Web Audio API sound dispatch for instant order alerts.</a:t>
            </a:r>
            <a:endParaRPr lang="en-US" sz="900" dirty="0"/>
          </a:p>
          <a:p>
            <a:pPr marL="342900" indent="-342900">
              <a:spcAft>
                <a:spcPts val="400"/>
              </a:spcAft>
              <a:buSzPct val="100000"/>
              <a:buChar char="•"/>
            </a:pPr>
            <a:r>
              <a:rPr lang="en-US" sz="900" dirty="0">
                <a:solidFill>
                  <a:srgbClr val="E2E8F0"/>
                </a:solidFill>
                <a:latin typeface="Calibri" pitchFamily="34" charset="0"/>
                <a:ea typeface="Calibri" pitchFamily="34" charset="-122"/>
                <a:cs typeface="Calibri" pitchFamily="34" charset="-120"/>
              </a:rPr>
              <a:t>Designed and executed comprehensive cross-device test case matrix.</a:t>
            </a:r>
            <a:endParaRPr lang="en-US" sz="900" dirty="0"/>
          </a:p>
          <a:p>
            <a:pPr marL="342900" indent="-342900">
              <a:spcAft>
                <a:spcPts val="400"/>
              </a:spcAft>
              <a:buSzPct val="100000"/>
              <a:buChar char="•"/>
            </a:pPr>
            <a:r>
              <a:rPr lang="en-US" sz="900" dirty="0">
                <a:solidFill>
                  <a:srgbClr val="E2E8F0"/>
                </a:solidFill>
                <a:latin typeface="Calibri" pitchFamily="34" charset="0"/>
                <a:ea typeface="Calibri" pitchFamily="34" charset="-122"/>
                <a:cs typeface="Calibri" pitchFamily="34" charset="-120"/>
              </a:rPr>
              <a:t>Conducted performance benchmarking, latency profiling &amp; paper validation.</a:t>
            </a:r>
            <a:endParaRPr lang="en-US" sz="900" dirty="0"/>
          </a:p>
        </p:txBody>
      </p:sp>
      <p:sp>
        <p:nvSpPr>
          <p:cNvPr id="18" name="Shape 16"/>
          <p:cNvSpPr/>
          <p:nvPr/>
        </p:nvSpPr>
        <p:spPr>
          <a:xfrm>
            <a:off x="548640" y="3749040"/>
            <a:ext cx="8046720" cy="914400"/>
          </a:xfrm>
          <a:prstGeom prst="roundRect">
            <a:avLst>
              <a:gd name="adj" fmla="val 8000"/>
            </a:avLst>
          </a:prstGeom>
          <a:solidFill>
            <a:srgbClr val="172554"/>
          </a:solidFill>
          <a:ln w="12700">
            <a:solidFill>
              <a:srgbClr val="38BDF8"/>
            </a:solidFill>
            <a:prstDash val="solid"/>
          </a:ln>
        </p:spPr>
      </p:sp>
      <p:sp>
        <p:nvSpPr>
          <p:cNvPr id="19" name="Text 17"/>
          <p:cNvSpPr/>
          <p:nvPr/>
        </p:nvSpPr>
        <p:spPr>
          <a:xfrm>
            <a:off x="731520" y="3840480"/>
            <a:ext cx="7680960" cy="228600"/>
          </a:xfrm>
          <a:prstGeom prst="rect">
            <a:avLst/>
          </a:prstGeom>
          <a:noFill/>
          <a:ln/>
        </p:spPr>
        <p:txBody>
          <a:bodyPr wrap="square" lIns="0" tIns="0" rIns="0" bIns="0" rtlCol="0" anchor="ctr"/>
          <a:lstStyle/>
          <a:p>
            <a:pPr indent="0" marL="0">
              <a:buNone/>
            </a:pPr>
            <a:r>
              <a:rPr lang="en-US" sz="1000" b="1" dirty="0">
                <a:solidFill>
                  <a:srgbClr val="38BDF8"/>
                </a:solidFill>
                <a:latin typeface="Calibri" pitchFamily="34" charset="0"/>
                <a:ea typeface="Calibri" pitchFamily="34" charset="-122"/>
                <a:cs typeface="Calibri" pitchFamily="34" charset="-120"/>
              </a:rPr>
              <a:t>COLLABORATIVE METHODOLOGY &amp; REPOSITORY GOVERNANCE</a:t>
            </a:r>
            <a:endParaRPr lang="en-US" sz="1000" dirty="0"/>
          </a:p>
        </p:txBody>
      </p:sp>
      <p:sp>
        <p:nvSpPr>
          <p:cNvPr id="20" name="Text 18"/>
          <p:cNvSpPr/>
          <p:nvPr/>
        </p:nvSpPr>
        <p:spPr>
          <a:xfrm>
            <a:off x="731520" y="4069080"/>
            <a:ext cx="7680960" cy="502920"/>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FFFFFF"/>
                </a:solidFill>
                <a:latin typeface="Calibri" pitchFamily="34" charset="0"/>
                <a:ea typeface="Calibri" pitchFamily="34" charset="-122"/>
                <a:cs typeface="Calibri" pitchFamily="34" charset="-120"/>
              </a:rPr>
              <a:t>Git Feature-Branch Workflow: Protected main branch on GitHub (MANAV0060/Smart-Restaurant) with mandatory pull request code reviews.</a:t>
            </a:r>
            <a:endParaRPr lang="en-US" sz="900" dirty="0"/>
          </a:p>
          <a:p>
            <a:pPr marL="342900" indent="-342900">
              <a:spcAft>
                <a:spcPts val="200"/>
              </a:spcAft>
              <a:buSzPct val="100000"/>
              <a:buChar char="•"/>
            </a:pPr>
            <a:r>
              <a:rPr lang="en-US" sz="900" dirty="0">
                <a:solidFill>
                  <a:srgbClr val="FFFFFF"/>
                </a:solidFill>
                <a:latin typeface="Calibri" pitchFamily="34" charset="0"/>
                <a:ea typeface="Calibri" pitchFamily="34" charset="-122"/>
                <a:cs typeface="Calibri" pitchFamily="34" charset="-120"/>
              </a:rPr>
              <a:t>Daily Standups &amp; Sprint Demos: Bi-weekly milestone reviews with mentor Prof. Vinitta Sunish to ensure alignment with TCET academic standards.</a:t>
            </a:r>
            <a:endParaRPr lang="en-US" sz="900" dirty="0"/>
          </a:p>
          <a:p>
            <a:pPr marL="342900" indent="-342900">
              <a:spcAft>
                <a:spcPts val="200"/>
              </a:spcAft>
              <a:buSzPct val="100000"/>
              <a:buChar char="•"/>
            </a:pPr>
            <a:r>
              <a:rPr lang="en-US" sz="900" dirty="0">
                <a:solidFill>
                  <a:srgbClr val="FFFFFF"/>
                </a:solidFill>
                <a:latin typeface="Calibri" pitchFamily="34" charset="0"/>
                <a:ea typeface="Calibri" pitchFamily="34" charset="-122"/>
                <a:cs typeface="Calibri" pitchFamily="34" charset="-120"/>
              </a:rPr>
              <a:t>Shared Testing Matrix: Collaborative device lab testing spanning Android (Samsung, Pixel) and iOS (Safari) hardware.</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548640" y="365760"/>
            <a:ext cx="8046720" cy="228600"/>
          </a:xfrm>
          <a:prstGeom prst="rect">
            <a:avLst/>
          </a:prstGeom>
          <a:noFill/>
          <a:ln/>
        </p:spPr>
        <p:txBody>
          <a:bodyPr wrap="square" lIns="0" tIns="0" rIns="0" bIns="0" rtlCol="0" anchor="ctr"/>
          <a:lstStyle/>
          <a:p>
            <a:pPr indent="0" marL="0">
              <a:buNone/>
            </a:pPr>
            <a:r>
              <a:rPr lang="en-US" sz="1000" b="1" spc="150" kern="0" dirty="0">
                <a:solidFill>
                  <a:srgbClr val="38BDF8"/>
                </a:solidFill>
                <a:latin typeface="Calibri" pitchFamily="34" charset="0"/>
                <a:ea typeface="Calibri" pitchFamily="34" charset="-122"/>
                <a:cs typeface="Calibri" pitchFamily="34" charset="-120"/>
              </a:rPr>
              <a:t>RUBRIC CRITERION 3 (5 MARKS)</a:t>
            </a:r>
            <a:endParaRPr lang="en-US" sz="1000" dirty="0"/>
          </a:p>
        </p:txBody>
      </p:sp>
      <p:sp>
        <p:nvSpPr>
          <p:cNvPr id="3" name="Text 1"/>
          <p:cNvSpPr/>
          <p:nvPr/>
        </p:nvSpPr>
        <p:spPr>
          <a:xfrm>
            <a:off x="548640" y="594360"/>
            <a:ext cx="8046720" cy="41148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Cost Analysis, Budgeting &amp; Practical Feasibility</a:t>
            </a:r>
            <a:endParaRPr lang="en-US" sz="2200" dirty="0"/>
          </a:p>
        </p:txBody>
      </p:sp>
      <p:sp>
        <p:nvSpPr>
          <p:cNvPr id="4" name="Text 2"/>
          <p:cNvSpPr/>
          <p:nvPr/>
        </p:nvSpPr>
        <p:spPr>
          <a:xfrm>
            <a:off x="548640" y="4800600"/>
            <a:ext cx="5943600" cy="228600"/>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5" name="Text 3"/>
          <p:cNvSpPr/>
          <p:nvPr/>
        </p:nvSpPr>
        <p:spPr>
          <a:xfrm>
            <a:off x="6583680" y="4800600"/>
            <a:ext cx="2011680" cy="228600"/>
          </a:xfrm>
          <a:prstGeom prst="rect">
            <a:avLst/>
          </a:prstGeom>
          <a:noFill/>
          <a:ln/>
        </p:spPr>
        <p:txBody>
          <a:bodyPr wrap="square" lIns="0" tIns="0" rIns="0" bIns="0" rtlCol="0" anchor="ctr"/>
          <a:lstStyle/>
          <a:p>
            <a:pPr algn="r" indent="0" marL="0">
              <a:buNone/>
            </a:pPr>
            <a:r>
              <a:rPr lang="en-US" sz="900" dirty="0">
                <a:solidFill>
                  <a:srgbClr val="38BDF8"/>
                </a:solidFill>
                <a:latin typeface="Calibri" pitchFamily="34" charset="0"/>
                <a:ea typeface="Calibri" pitchFamily="34" charset="-122"/>
                <a:cs typeface="Calibri" pitchFamily="34" charset="-120"/>
              </a:rPr>
              <a:t>https://smart-restaurant-2za8.vercel.app/</a:t>
            </a:r>
            <a:endParaRPr lang="en-US" sz="900" dirty="0"/>
          </a:p>
        </p:txBody>
      </p:sp>
      <p:sp>
        <p:nvSpPr>
          <p:cNvPr id="6" name="Shape 4"/>
          <p:cNvSpPr/>
          <p:nvPr/>
        </p:nvSpPr>
        <p:spPr>
          <a:xfrm>
            <a:off x="548640" y="1188720"/>
            <a:ext cx="4389120" cy="3429000"/>
          </a:xfrm>
          <a:prstGeom prst="roundRect">
            <a:avLst>
              <a:gd name="adj" fmla="val 2133"/>
            </a:avLst>
          </a:prstGeom>
          <a:solidFill>
            <a:srgbClr val="1E293B"/>
          </a:solidFill>
          <a:ln w="12700">
            <a:solidFill>
              <a:srgbClr val="334155"/>
            </a:solidFill>
            <a:prstDash val="solid"/>
          </a:ln>
        </p:spPr>
      </p:sp>
      <p:sp>
        <p:nvSpPr>
          <p:cNvPr id="7" name="Text 5"/>
          <p:cNvSpPr/>
          <p:nvPr/>
        </p:nvSpPr>
        <p:spPr>
          <a:xfrm>
            <a:off x="731520" y="1371600"/>
            <a:ext cx="4023360" cy="228600"/>
          </a:xfrm>
          <a:prstGeom prst="rect">
            <a:avLst/>
          </a:prstGeom>
          <a:noFill/>
          <a:ln/>
        </p:spPr>
        <p:txBody>
          <a:bodyPr wrap="square" lIns="0" tIns="0" rIns="0" bIns="0" rtlCol="0" anchor="ctr"/>
          <a:lstStyle/>
          <a:p>
            <a:pPr indent="0" marL="0">
              <a:buNone/>
            </a:pPr>
            <a:r>
              <a:rPr lang="en-US" sz="1100" b="1" dirty="0">
                <a:solidFill>
                  <a:srgbClr val="38BDF8"/>
                </a:solidFill>
                <a:latin typeface="Cambria" pitchFamily="34" charset="0"/>
                <a:ea typeface="Cambria" pitchFamily="34" charset="-122"/>
                <a:cs typeface="Cambria" pitchFamily="34" charset="-120"/>
              </a:rPr>
              <a:t>3-YEAR TOTAL COST OF OWNERSHIP (10-TABLE BISTRO)</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31520" y="1691640"/>
          <a:ext cx="4023360" cy="2651760"/>
        </p:xfrm>
        <a:graphic>
          <a:graphicData uri="http://schemas.openxmlformats.org/drawingml/2006/table">
            <a:tbl>
              <a:tblPr/>
              <a:tblGrid>
                <a:gridCol w="1341120"/>
                <a:gridCol w="1341120"/>
                <a:gridCol w="1341120"/>
              </a:tblGrid>
              <a:tr h="441960">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Expenditure Item</a:t>
                      </a:r>
                      <a:endParaRPr lang="en-US" sz="90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solidFill>
                      <a:srgbClr val="1E293B"/>
                    </a:solidFill>
                  </a:tcPr>
                </a:tc>
                <a:tc>
                  <a:txBody>
                    <a:bodyPr/>
                    <a:lstStyle/>
                    <a:p>
                      <a:pPr algn="ctr" indent="0" marL="0">
                        <a:buNone/>
                      </a:pPr>
                      <a:r>
                        <a:rPr lang="en-US" sz="900" b="1" dirty="0">
                          <a:solidFill>
                            <a:srgbClr val="F43F5E"/>
                          </a:solidFill>
                          <a:latin typeface="Calibri" pitchFamily="34" charset="0"/>
                          <a:ea typeface="Calibri" pitchFamily="34" charset="-122"/>
                          <a:cs typeface="Calibri" pitchFamily="34" charset="-120"/>
                        </a:rPr>
                        <a:t>Hardware POS Tablets</a:t>
                      </a:r>
                      <a:endParaRPr lang="en-US" sz="90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solidFill>
                      <a:srgbClr val="1E293B"/>
                    </a:solidFill>
                  </a:tcPr>
                </a:tc>
                <a:tc>
                  <a:txBody>
                    <a:bodyPr/>
                    <a:lstStyle/>
                    <a:p>
                      <a:pPr algn="ctr" indent="0" marL="0">
                        <a:buNone/>
                      </a:pPr>
                      <a:r>
                        <a:rPr lang="en-US" sz="900" b="1" dirty="0">
                          <a:solidFill>
                            <a:srgbClr val="10B981"/>
                          </a:solidFill>
                          <a:latin typeface="Calibri" pitchFamily="34" charset="0"/>
                          <a:ea typeface="Calibri" pitchFamily="34" charset="-122"/>
                          <a:cs typeface="Calibri" pitchFamily="34" charset="-120"/>
                        </a:rPr>
                        <a:t>Smart Restaurant (Ours)</a:t>
                      </a:r>
                      <a:endParaRPr lang="en-US" sz="90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solidFill>
                      <a:srgbClr val="1E293B"/>
                    </a:solidFill>
                  </a:tcPr>
                </a:tc>
              </a:tr>
              <a:tr h="441960">
                <a:tc>
                  <a:txBody>
                    <a:bodyPr/>
                    <a:lstStyle/>
                    <a:p>
                      <a:pPr algn="ctr" indent="0" marL="0">
                        <a:buNone/>
                      </a:pPr>
                      <a:r>
                        <a:rPr lang="en-US" sz="900" dirty="0">
                          <a:solidFill>
                            <a:srgbClr val="E2E8F0"/>
                          </a:solidFill>
                          <a:latin typeface="Calibri" pitchFamily="34" charset="0"/>
                          <a:ea typeface="Calibri" pitchFamily="34" charset="-122"/>
                          <a:cs typeface="Calibri" pitchFamily="34" charset="-120"/>
                        </a:rPr>
                        <a:t>Hardware Devices</a:t>
                      </a:r>
                      <a:endParaRPr lang="en-US" sz="90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c>
                  <a:txBody>
                    <a:bodyPr/>
                    <a:lstStyle/>
                    <a:p>
                      <a:pPr algn="ctr" indent="0" marL="0">
                        <a:buNone/>
                      </a:pPr>
                      <a:r>
                        <a:rPr lang="en-US" sz="900" dirty="0">
                          <a:solidFill>
                            <a:srgbClr val="F43F5E"/>
                          </a:solidFill>
                          <a:latin typeface="Calibri" pitchFamily="34" charset="0"/>
                          <a:ea typeface="Calibri" pitchFamily="34" charset="-122"/>
                          <a:cs typeface="Calibri" pitchFamily="34" charset="-120"/>
                        </a:rPr>
                        <a:t>₹3,50,000 (10 Tablets)</a:t>
                      </a:r>
                      <a:endParaRPr lang="en-US" sz="90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c>
                  <a:txBody>
                    <a:bodyPr/>
                    <a:lstStyle/>
                    <a:p>
                      <a:pPr algn="ctr" indent="0" marL="0">
                        <a:buNone/>
                      </a:pPr>
                      <a:r>
                        <a:rPr lang="en-US" sz="900" b="1" dirty="0">
                          <a:solidFill>
                            <a:srgbClr val="10B981"/>
                          </a:solidFill>
                          <a:latin typeface="Calibri" pitchFamily="34" charset="0"/>
                          <a:ea typeface="Calibri" pitchFamily="34" charset="-122"/>
                          <a:cs typeface="Calibri" pitchFamily="34" charset="-120"/>
                        </a:rPr>
                        <a:t>₹0 (Patron Phones)</a:t>
                      </a:r>
                      <a:endParaRPr lang="en-US" sz="90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r>
              <a:tr h="441960">
                <a:tc>
                  <a:txBody>
                    <a:bodyPr/>
                    <a:lstStyle/>
                    <a:p>
                      <a:pPr algn="ctr" indent="0" marL="0">
                        <a:buNone/>
                      </a:pPr>
                      <a:r>
                        <a:rPr lang="en-US" sz="900" dirty="0">
                          <a:solidFill>
                            <a:srgbClr val="E2E8F0"/>
                          </a:solidFill>
                          <a:latin typeface="Calibri" pitchFamily="34" charset="0"/>
                          <a:ea typeface="Calibri" pitchFamily="34" charset="-122"/>
                          <a:cs typeface="Calibri" pitchFamily="34" charset="-120"/>
                        </a:rPr>
                        <a:t>Software Licensing</a:t>
                      </a:r>
                      <a:endParaRPr lang="en-US" sz="90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c>
                  <a:txBody>
                    <a:bodyPr/>
                    <a:lstStyle/>
                    <a:p>
                      <a:pPr algn="ctr" indent="0" marL="0">
                        <a:buNone/>
                      </a:pPr>
                      <a:r>
                        <a:rPr lang="en-US" sz="900" dirty="0">
                          <a:solidFill>
                            <a:srgbClr val="F43F5E"/>
                          </a:solidFill>
                          <a:latin typeface="Calibri" pitchFamily="34" charset="0"/>
                          <a:ea typeface="Calibri" pitchFamily="34" charset="-122"/>
                          <a:cs typeface="Calibri" pitchFamily="34" charset="-120"/>
                        </a:rPr>
                        <a:t>₹80,000 / year</a:t>
                      </a:r>
                      <a:endParaRPr lang="en-US" sz="90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c>
                  <a:txBody>
                    <a:bodyPr/>
                    <a:lstStyle/>
                    <a:p>
                      <a:pPr algn="ctr" indent="0" marL="0">
                        <a:buNone/>
                      </a:pPr>
                      <a:r>
                        <a:rPr lang="en-US" sz="900" b="1" dirty="0">
                          <a:solidFill>
                            <a:srgbClr val="10B981"/>
                          </a:solidFill>
                          <a:latin typeface="Calibri" pitchFamily="34" charset="0"/>
                          <a:ea typeface="Calibri" pitchFamily="34" charset="-122"/>
                          <a:cs typeface="Calibri" pitchFamily="34" charset="-120"/>
                        </a:rPr>
                        <a:t>₹0 (Open Source Stack)</a:t>
                      </a:r>
                      <a:endParaRPr lang="en-US" sz="90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r>
              <a:tr h="441960">
                <a:tc>
                  <a:txBody>
                    <a:bodyPr/>
                    <a:lstStyle/>
                    <a:p>
                      <a:pPr algn="ctr" indent="0" marL="0">
                        <a:buNone/>
                      </a:pPr>
                      <a:r>
                        <a:rPr lang="en-US" sz="900" dirty="0">
                          <a:solidFill>
                            <a:srgbClr val="E2E8F0"/>
                          </a:solidFill>
                          <a:latin typeface="Calibri" pitchFamily="34" charset="0"/>
                          <a:ea typeface="Calibri" pitchFamily="34" charset="-122"/>
                          <a:cs typeface="Calibri" pitchFamily="34" charset="-120"/>
                        </a:rPr>
                        <a:t>Hardware Maintenance</a:t>
                      </a:r>
                      <a:endParaRPr lang="en-US" sz="90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c>
                  <a:txBody>
                    <a:bodyPr/>
                    <a:lstStyle/>
                    <a:p>
                      <a:pPr algn="ctr" indent="0" marL="0">
                        <a:buNone/>
                      </a:pPr>
                      <a:r>
                        <a:rPr lang="en-US" sz="900" dirty="0">
                          <a:solidFill>
                            <a:srgbClr val="F43F5E"/>
                          </a:solidFill>
                          <a:latin typeface="Calibri" pitchFamily="34" charset="0"/>
                          <a:ea typeface="Calibri" pitchFamily="34" charset="-122"/>
                          <a:cs typeface="Calibri" pitchFamily="34" charset="-120"/>
                        </a:rPr>
                        <a:t>₹40,000 / year</a:t>
                      </a:r>
                      <a:endParaRPr lang="en-US" sz="90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c>
                  <a:txBody>
                    <a:bodyPr/>
                    <a:lstStyle/>
                    <a:p>
                      <a:pPr algn="ctr" indent="0" marL="0">
                        <a:buNone/>
                      </a:pPr>
                      <a:r>
                        <a:rPr lang="en-US" sz="900" b="1" dirty="0">
                          <a:solidFill>
                            <a:srgbClr val="10B981"/>
                          </a:solidFill>
                          <a:latin typeface="Calibri" pitchFamily="34" charset="0"/>
                          <a:ea typeface="Calibri" pitchFamily="34" charset="-122"/>
                          <a:cs typeface="Calibri" pitchFamily="34" charset="-120"/>
                        </a:rPr>
                        <a:t>₹0 (No Table Hardware)</a:t>
                      </a:r>
                      <a:endParaRPr lang="en-US" sz="90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r>
              <a:tr h="441960">
                <a:tc>
                  <a:txBody>
                    <a:bodyPr/>
                    <a:lstStyle/>
                    <a:p>
                      <a:pPr algn="ctr" indent="0" marL="0">
                        <a:buNone/>
                      </a:pPr>
                      <a:r>
                        <a:rPr lang="en-US" sz="900" dirty="0">
                          <a:solidFill>
                            <a:srgbClr val="E2E8F0"/>
                          </a:solidFill>
                          <a:latin typeface="Calibri" pitchFamily="34" charset="0"/>
                          <a:ea typeface="Calibri" pitchFamily="34" charset="-122"/>
                          <a:cs typeface="Calibri" pitchFamily="34" charset="-120"/>
                        </a:rPr>
                        <a:t>Cloud Edge Hosting</a:t>
                      </a:r>
                      <a:endParaRPr lang="en-US" sz="90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c>
                  <a:txBody>
                    <a:bodyPr/>
                    <a:lstStyle/>
                    <a:p>
                      <a:pPr algn="ctr" indent="0" marL="0">
                        <a:buNone/>
                      </a:pPr>
                      <a:r>
                        <a:rPr lang="en-US" sz="900" dirty="0">
                          <a:solidFill>
                            <a:srgbClr val="E2E8F0"/>
                          </a:solidFill>
                          <a:latin typeface="Calibri" pitchFamily="34" charset="0"/>
                          <a:ea typeface="Calibri" pitchFamily="34" charset="-122"/>
                          <a:cs typeface="Calibri" pitchFamily="34" charset="-120"/>
                        </a:rPr>
                        <a:t>₹30,000 / year</a:t>
                      </a:r>
                      <a:endParaRPr lang="en-US" sz="90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c>
                  <a:txBody>
                    <a:bodyPr/>
                    <a:lstStyle/>
                    <a:p>
                      <a:pPr algn="ctr" indent="0" marL="0">
                        <a:buNone/>
                      </a:pPr>
                      <a:r>
                        <a:rPr lang="en-US" sz="900" b="1" dirty="0">
                          <a:solidFill>
                            <a:srgbClr val="10B981"/>
                          </a:solidFill>
                          <a:latin typeface="Calibri" pitchFamily="34" charset="0"/>
                          <a:ea typeface="Calibri" pitchFamily="34" charset="-122"/>
                          <a:cs typeface="Calibri" pitchFamily="34" charset="-120"/>
                        </a:rPr>
                        <a:t>₹15,000 / yr (Vercel)</a:t>
                      </a:r>
                      <a:endParaRPr lang="en-US" sz="90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r>
              <a:tr h="441960">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3-Year Total Cost</a:t>
                      </a:r>
                      <a:endParaRPr lang="en-US" sz="90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c>
                  <a:txBody>
                    <a:bodyPr/>
                    <a:lstStyle/>
                    <a:p>
                      <a:pPr algn="ctr" indent="0" marL="0">
                        <a:buNone/>
                      </a:pPr>
                      <a:r>
                        <a:rPr lang="en-US" sz="900" b="1" dirty="0">
                          <a:solidFill>
                            <a:srgbClr val="F43F5E"/>
                          </a:solidFill>
                          <a:latin typeface="Calibri" pitchFamily="34" charset="0"/>
                          <a:ea typeface="Calibri" pitchFamily="34" charset="-122"/>
                          <a:cs typeface="Calibri" pitchFamily="34" charset="-120"/>
                        </a:rPr>
                        <a:t>₹7,10,000</a:t>
                      </a:r>
                      <a:endParaRPr lang="en-US" sz="90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c>
                  <a:txBody>
                    <a:bodyPr/>
                    <a:lstStyle/>
                    <a:p>
                      <a:pPr algn="ctr" indent="0" marL="0">
                        <a:buNone/>
                      </a:pPr>
                      <a:r>
                        <a:rPr lang="en-US" sz="900" b="1" dirty="0">
                          <a:solidFill>
                            <a:srgbClr val="10B981"/>
                          </a:solidFill>
                          <a:latin typeface="Calibri" pitchFamily="34" charset="0"/>
                          <a:ea typeface="Calibri" pitchFamily="34" charset="-122"/>
                          <a:cs typeface="Calibri" pitchFamily="34" charset="-120"/>
                        </a:rPr>
                        <a:t>₹45,000 (93.7% Savings!)</a:t>
                      </a:r>
                      <a:endParaRPr lang="en-US" sz="90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solidFill>
                      <a:srgbClr val="172554"/>
                    </a:solidFill>
                  </a:tcPr>
                </a:tc>
              </a:tr>
            </a:tbl>
          </a:graphicData>
        </a:graphic>
      </p:graphicFrame>
      <p:sp>
        <p:nvSpPr>
          <p:cNvPr id="9" name="Shape 6"/>
          <p:cNvSpPr/>
          <p:nvPr/>
        </p:nvSpPr>
        <p:spPr>
          <a:xfrm>
            <a:off x="5120640" y="1188720"/>
            <a:ext cx="3474720" cy="3429000"/>
          </a:xfrm>
          <a:prstGeom prst="roundRect">
            <a:avLst>
              <a:gd name="adj" fmla="val 2133"/>
            </a:avLst>
          </a:prstGeom>
          <a:solidFill>
            <a:srgbClr val="1E293B"/>
          </a:solidFill>
          <a:ln w="12700">
            <a:solidFill>
              <a:srgbClr val="334155"/>
            </a:solidFill>
            <a:prstDash val="solid"/>
          </a:ln>
        </p:spPr>
      </p:sp>
      <p:sp>
        <p:nvSpPr>
          <p:cNvPr id="10" name="Text 7"/>
          <p:cNvSpPr/>
          <p:nvPr/>
        </p:nvSpPr>
        <p:spPr>
          <a:xfrm>
            <a:off x="5303520" y="1371600"/>
            <a:ext cx="3108960" cy="228600"/>
          </a:xfrm>
          <a:prstGeom prst="rect">
            <a:avLst/>
          </a:prstGeom>
          <a:noFill/>
          <a:ln/>
        </p:spPr>
        <p:txBody>
          <a:bodyPr wrap="square" lIns="0" tIns="0" rIns="0" bIns="0" rtlCol="0" anchor="ctr"/>
          <a:lstStyle/>
          <a:p>
            <a:pPr indent="0" marL="0">
              <a:buNone/>
            </a:pPr>
            <a:r>
              <a:rPr lang="en-US" sz="1100" b="1" dirty="0">
                <a:solidFill>
                  <a:srgbClr val="F59E0B"/>
                </a:solidFill>
                <a:latin typeface="Cambria" pitchFamily="34" charset="0"/>
                <a:ea typeface="Cambria" pitchFamily="34" charset="-122"/>
                <a:cs typeface="Cambria" pitchFamily="34" charset="-120"/>
              </a:rPr>
              <a:t>TECHNICAL &amp; OPERATIONAL FEASIBILITY</a:t>
            </a:r>
            <a:endParaRPr lang="en-US" sz="1100" dirty="0"/>
          </a:p>
        </p:txBody>
      </p:sp>
      <p:sp>
        <p:nvSpPr>
          <p:cNvPr id="11" name="Text 8"/>
          <p:cNvSpPr/>
          <p:nvPr/>
        </p:nvSpPr>
        <p:spPr>
          <a:xfrm>
            <a:off x="5303520" y="1691640"/>
            <a:ext cx="3108960" cy="2743200"/>
          </a:xfrm>
          <a:prstGeom prst="rect">
            <a:avLst/>
          </a:prstGeom>
          <a:noFill/>
          <a:ln/>
        </p:spPr>
        <p:txBody>
          <a:bodyPr wrap="square" lIns="0" tIns="0" rIns="0" bIns="0" rtlCol="0" anchor="ctr"/>
          <a:lstStyle/>
          <a:p>
            <a:pPr marL="342900" indent="-342900">
              <a:spcAft>
                <a:spcPts val="800"/>
              </a:spcAft>
              <a:buSzPct val="100000"/>
              <a:buChar char="•"/>
            </a:pPr>
            <a:r>
              <a:rPr lang="en-US" sz="950" dirty="0">
                <a:solidFill>
                  <a:srgbClr val="E2E8F0"/>
                </a:solidFill>
                <a:latin typeface="Calibri" pitchFamily="34" charset="0"/>
                <a:ea typeface="Calibri" pitchFamily="34" charset="-122"/>
                <a:cs typeface="Calibri" pitchFamily="34" charset="-120"/>
              </a:rPr>
              <a:t>Economic Feasibility: Exceptional ROI</a:t>
            </a:r>
            <a:endParaRPr lang="en-US" sz="950" dirty="0"/>
          </a:p>
          <a:p>
            <a:pPr marL="342900" indent="-342900">
              <a:spcAft>
                <a:spcPts val="800"/>
              </a:spcAft>
              <a:buSzPct val="100000"/>
              <a:buChar char="•"/>
            </a:pPr>
            <a:r>
              <a:rPr lang="en-US" sz="950" dirty="0">
                <a:solidFill>
                  <a:srgbClr val="E2E8F0"/>
                </a:solidFill>
                <a:latin typeface="Calibri" pitchFamily="34" charset="0"/>
                <a:ea typeface="Calibri" pitchFamily="34" charset="-122"/>
                <a:cs typeface="Calibri" pitchFamily="34" charset="-120"/>
              </a:rPr>
              <a:t>Eliminates hardware procurement entirely. A 10-table restaurant saves over ₹6.6 Lakhs ($8,000+) over 3 years, achieving instant ROI in Month 1.</a:t>
            </a:r>
            <a:endParaRPr lang="en-US" sz="950" dirty="0"/>
          </a:p>
          <a:p>
            <a:pPr marL="342900" indent="-342900">
              <a:spcAft>
                <a:spcPts val="800"/>
              </a:spcAft>
              <a:buSzPct val="100000"/>
              <a:buChar char="•"/>
            </a:pPr>
            <a:r>
              <a:rPr lang="en-US" sz="950" dirty="0">
                <a:solidFill>
                  <a:srgbClr val="E2E8F0"/>
                </a:solidFill>
                <a:latin typeface="Calibri" pitchFamily="34" charset="0"/>
                <a:ea typeface="Calibri" pitchFamily="34" charset="-122"/>
                <a:cs typeface="Calibri" pitchFamily="34" charset="-120"/>
              </a:rPr>
              <a:t>Technical Feasibility: Web Standards</a:t>
            </a:r>
            <a:endParaRPr lang="en-US" sz="950" dirty="0"/>
          </a:p>
          <a:p>
            <a:pPr marL="342900" indent="-342900">
              <a:spcAft>
                <a:spcPts val="800"/>
              </a:spcAft>
              <a:buSzPct val="100000"/>
              <a:buChar char="•"/>
            </a:pPr>
            <a:r>
              <a:rPr lang="en-US" sz="950" dirty="0">
                <a:solidFill>
                  <a:srgbClr val="E2E8F0"/>
                </a:solidFill>
                <a:latin typeface="Calibri" pitchFamily="34" charset="0"/>
                <a:ea typeface="Calibri" pitchFamily="34" charset="-122"/>
                <a:cs typeface="Calibri" pitchFamily="34" charset="-120"/>
              </a:rPr>
              <a:t>Utilizes standardized W3C WebXR and WebGL APIs natively supported in Chrome, Edge, and Safari without proprietary SDK royalties.</a:t>
            </a:r>
            <a:endParaRPr lang="en-US" sz="950" dirty="0"/>
          </a:p>
          <a:p>
            <a:pPr marL="342900" indent="-342900">
              <a:spcAft>
                <a:spcPts val="800"/>
              </a:spcAft>
              <a:buSzPct val="100000"/>
              <a:buChar char="•"/>
            </a:pPr>
            <a:r>
              <a:rPr lang="en-US" sz="950" dirty="0">
                <a:solidFill>
                  <a:srgbClr val="E2E8F0"/>
                </a:solidFill>
                <a:latin typeface="Calibri" pitchFamily="34" charset="0"/>
                <a:ea typeface="Calibri" pitchFamily="34" charset="-122"/>
                <a:cs typeface="Calibri" pitchFamily="34" charset="-120"/>
              </a:rPr>
              <a:t>Operational Feasibility: Zero Friction</a:t>
            </a:r>
            <a:endParaRPr lang="en-US" sz="950" dirty="0"/>
          </a:p>
          <a:p>
            <a:pPr marL="342900" indent="-342900">
              <a:spcAft>
                <a:spcPts val="800"/>
              </a:spcAft>
              <a:buSzPct val="100000"/>
              <a:buChar char="•"/>
            </a:pPr>
            <a:r>
              <a:rPr lang="en-US" sz="950" dirty="0">
                <a:solidFill>
                  <a:srgbClr val="E2E8F0"/>
                </a:solidFill>
                <a:latin typeface="Calibri" pitchFamily="34" charset="0"/>
                <a:ea typeface="Calibri" pitchFamily="34" charset="-122"/>
                <a:cs typeface="Calibri" pitchFamily="34" charset="-120"/>
              </a:rPr>
              <a:t>Diners scan and order without downloading apps; restaurant staff operate the KDS on any existing kitchen tablet or PC screen.</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548640" y="365760"/>
            <a:ext cx="8046720" cy="228600"/>
          </a:xfrm>
          <a:prstGeom prst="rect">
            <a:avLst/>
          </a:prstGeom>
          <a:noFill/>
          <a:ln/>
        </p:spPr>
        <p:txBody>
          <a:bodyPr wrap="square" lIns="0" tIns="0" rIns="0" bIns="0" rtlCol="0" anchor="ctr"/>
          <a:lstStyle/>
          <a:p>
            <a:pPr indent="0" marL="0">
              <a:buNone/>
            </a:pPr>
            <a:r>
              <a:rPr lang="en-US" sz="1000" b="1" spc="150" kern="0" dirty="0">
                <a:solidFill>
                  <a:srgbClr val="38BDF8"/>
                </a:solidFill>
                <a:latin typeface="Calibri" pitchFamily="34" charset="0"/>
                <a:ea typeface="Calibri" pitchFamily="34" charset="-122"/>
                <a:cs typeface="Calibri" pitchFamily="34" charset="-120"/>
              </a:rPr>
              <a:t>RUBRIC CRITERION 7 (30 MARKS)</a:t>
            </a:r>
            <a:endParaRPr lang="en-US" sz="1000" dirty="0"/>
          </a:p>
        </p:txBody>
      </p:sp>
      <p:sp>
        <p:nvSpPr>
          <p:cNvPr id="3" name="Text 1"/>
          <p:cNvSpPr/>
          <p:nvPr/>
        </p:nvSpPr>
        <p:spPr>
          <a:xfrm>
            <a:off x="548640" y="594360"/>
            <a:ext cx="8046720" cy="41148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100% Implementation: Working Modules &amp; Live Deployment Verification</a:t>
            </a:r>
            <a:endParaRPr lang="en-US" sz="2200" dirty="0"/>
          </a:p>
        </p:txBody>
      </p:sp>
      <p:sp>
        <p:nvSpPr>
          <p:cNvPr id="4" name="Text 2"/>
          <p:cNvSpPr/>
          <p:nvPr/>
        </p:nvSpPr>
        <p:spPr>
          <a:xfrm>
            <a:off x="548640" y="4800600"/>
            <a:ext cx="5943600" cy="228600"/>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5" name="Text 3"/>
          <p:cNvSpPr/>
          <p:nvPr/>
        </p:nvSpPr>
        <p:spPr>
          <a:xfrm>
            <a:off x="6583680" y="4800600"/>
            <a:ext cx="2011680" cy="228600"/>
          </a:xfrm>
          <a:prstGeom prst="rect">
            <a:avLst/>
          </a:prstGeom>
          <a:noFill/>
          <a:ln/>
        </p:spPr>
        <p:txBody>
          <a:bodyPr wrap="square" lIns="0" tIns="0" rIns="0" bIns="0" rtlCol="0" anchor="ctr"/>
          <a:lstStyle/>
          <a:p>
            <a:pPr algn="r" indent="0" marL="0">
              <a:buNone/>
            </a:pPr>
            <a:r>
              <a:rPr lang="en-US" sz="900" dirty="0">
                <a:solidFill>
                  <a:srgbClr val="38BDF8"/>
                </a:solidFill>
                <a:latin typeface="Calibri" pitchFamily="34" charset="0"/>
                <a:ea typeface="Calibri" pitchFamily="34" charset="-122"/>
                <a:cs typeface="Calibri" pitchFamily="34" charset="-120"/>
              </a:rPr>
              <a:t>https://smart-restaurant-2za8.vercel.app/</a:t>
            </a:r>
            <a:endParaRPr lang="en-US" sz="900" dirty="0"/>
          </a:p>
        </p:txBody>
      </p:sp>
      <p:pic>
        <p:nvPicPr>
          <p:cNvPr id="6" name="Image 0" descr="d:\resrtorant\presentation_assets\back_to_menu_1790013320137.png">    </p:cNvPr>
          <p:cNvPicPr>
            <a:picLocks noChangeAspect="1"/>
          </p:cNvPicPr>
          <p:nvPr/>
        </p:nvPicPr>
        <p:blipFill>
          <a:blip r:embed="rId1"/>
          <a:stretch>
            <a:fillRect/>
          </a:stretch>
        </p:blipFill>
        <p:spPr>
          <a:xfrm>
            <a:off x="548640" y="1188720"/>
            <a:ext cx="3291840" cy="2194560"/>
          </a:xfrm>
          <a:prstGeom prst="rect">
            <a:avLst/>
          </a:prstGeom>
        </p:spPr>
      </p:pic>
      <p:pic>
        <p:nvPicPr>
          <p:cNvPr id="7" name="Image 1" descr="d:\resrtorant\presentation_assets\dish_anchored_placed_1790012727681.png">    </p:cNvPr>
          <p:cNvPicPr>
            <a:picLocks noChangeAspect="1"/>
          </p:cNvPicPr>
          <p:nvPr/>
        </p:nvPicPr>
        <p:blipFill>
          <a:blip r:embed="rId2"/>
          <a:stretch>
            <a:fillRect/>
          </a:stretch>
        </p:blipFill>
        <p:spPr>
          <a:xfrm>
            <a:off x="4023360" y="1188720"/>
            <a:ext cx="4572000" cy="2194560"/>
          </a:xfrm>
          <a:prstGeom prst="rect">
            <a:avLst/>
          </a:prstGeom>
        </p:spPr>
      </p:pic>
      <p:sp>
        <p:nvSpPr>
          <p:cNvPr id="8" name="Shape 4"/>
          <p:cNvSpPr/>
          <p:nvPr/>
        </p:nvSpPr>
        <p:spPr>
          <a:xfrm>
            <a:off x="548640" y="3520440"/>
            <a:ext cx="8046720" cy="1143000"/>
          </a:xfrm>
          <a:prstGeom prst="roundRect">
            <a:avLst>
              <a:gd name="adj" fmla="val 6400"/>
            </a:avLst>
          </a:prstGeom>
          <a:solidFill>
            <a:srgbClr val="1E293B"/>
          </a:solidFill>
          <a:ln w="12700">
            <a:solidFill>
              <a:srgbClr val="10B981"/>
            </a:solidFill>
            <a:prstDash val="solid"/>
          </a:ln>
        </p:spPr>
      </p:sp>
      <p:sp>
        <p:nvSpPr>
          <p:cNvPr id="9" name="Text 5"/>
          <p:cNvSpPr/>
          <p:nvPr/>
        </p:nvSpPr>
        <p:spPr>
          <a:xfrm>
            <a:off x="731520" y="3611880"/>
            <a:ext cx="7680960" cy="182880"/>
          </a:xfrm>
          <a:prstGeom prst="rect">
            <a:avLst/>
          </a:prstGeom>
          <a:noFill/>
          <a:ln/>
        </p:spPr>
        <p:txBody>
          <a:bodyPr wrap="square" lIns="0" tIns="0" rIns="0" bIns="0" rtlCol="0" anchor="ctr"/>
          <a:lstStyle/>
          <a:p>
            <a:pPr indent="0" marL="0">
              <a:buNone/>
            </a:pPr>
            <a:r>
              <a:rPr lang="en-US" sz="950" b="1" dirty="0">
                <a:solidFill>
                  <a:srgbClr val="10B981"/>
                </a:solidFill>
                <a:latin typeface="Calibri" pitchFamily="34" charset="0"/>
                <a:ea typeface="Calibri" pitchFamily="34" charset="-122"/>
                <a:cs typeface="Calibri" pitchFamily="34" charset="-120"/>
              </a:rPr>
              <a:t>100% COMPLETED MODULES &amp; VERIFIABLE PROOF (30 MARKS)</a:t>
            </a:r>
            <a:endParaRPr lang="en-US" sz="950" dirty="0"/>
          </a:p>
        </p:txBody>
      </p:sp>
      <p:sp>
        <p:nvSpPr>
          <p:cNvPr id="10" name="Text 6"/>
          <p:cNvSpPr/>
          <p:nvPr/>
        </p:nvSpPr>
        <p:spPr>
          <a:xfrm>
            <a:off x="731520" y="3840480"/>
            <a:ext cx="7680960" cy="731520"/>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FFFFFF"/>
                </a:solidFill>
                <a:latin typeface="Calibri" pitchFamily="34" charset="0"/>
                <a:ea typeface="Calibri" pitchFamily="34" charset="-122"/>
                <a:cs typeface="Calibri" pitchFamily="34" charset="-120"/>
              </a:rPr>
              <a:t>[COMPLETED] Interactive Menu: 12+ gourmet dishes with dietary tags, preparation times, and calorie metrics.</a:t>
            </a:r>
            <a:endParaRPr lang="en-US" sz="900" dirty="0"/>
          </a:p>
          <a:p>
            <a:pPr marL="342900" indent="-342900">
              <a:spcAft>
                <a:spcPts val="200"/>
              </a:spcAft>
              <a:buSzPct val="100000"/>
              <a:buChar char="•"/>
            </a:pPr>
            <a:r>
              <a:rPr lang="en-US" sz="900" dirty="0">
                <a:solidFill>
                  <a:srgbClr val="FFFFFF"/>
                </a:solidFill>
                <a:latin typeface="Calibri" pitchFamily="34" charset="0"/>
                <a:ea typeface="Calibri" pitchFamily="34" charset="-122"/>
                <a:cs typeface="Calibri" pitchFamily="34" charset="-120"/>
              </a:rPr>
              <a:t>[COMPLETED] 6-DoF WebXR Surface Tracker: Table plane hit-testing, dynamic reticle, and model rotation gestures.</a:t>
            </a:r>
            <a:endParaRPr lang="en-US" sz="900" dirty="0"/>
          </a:p>
          <a:p>
            <a:pPr marL="342900" indent="-342900">
              <a:spcAft>
                <a:spcPts val="200"/>
              </a:spcAft>
              <a:buSzPct val="100000"/>
              <a:buChar char="•"/>
            </a:pPr>
            <a:r>
              <a:rPr lang="en-US" sz="900" dirty="0">
                <a:solidFill>
                  <a:srgbClr val="FFFFFF"/>
                </a:solidFill>
                <a:latin typeface="Calibri" pitchFamily="34" charset="0"/>
                <a:ea typeface="Calibri" pitchFamily="34" charset="-122"/>
                <a:cs typeface="Calibri" pitchFamily="34" charset="-120"/>
              </a:rPr>
              <a:t>[COMPLETED] Google Scene Viewer Fallback: Automated Android intent dispatch for non-WebXR devices.</a:t>
            </a:r>
            <a:endParaRPr lang="en-US" sz="900" dirty="0"/>
          </a:p>
          <a:p>
            <a:pPr marL="342900" indent="-342900">
              <a:spcAft>
                <a:spcPts val="200"/>
              </a:spcAft>
              <a:buSzPct val="100000"/>
              <a:buChar char="•"/>
            </a:pPr>
            <a:r>
              <a:rPr lang="en-US" sz="900" dirty="0">
                <a:solidFill>
                  <a:srgbClr val="FFFFFF"/>
                </a:solidFill>
                <a:latin typeface="Calibri" pitchFamily="34" charset="0"/>
                <a:ea typeface="Calibri" pitchFamily="34" charset="-122"/>
                <a:cs typeface="Calibri" pitchFamily="34" charset="-120"/>
              </a:rPr>
              <a:t>[COMPLETED] Real-Time Kitchen Display: Live order queue with state transitions and acoustic alerts.</a:t>
            </a:r>
            <a:endParaRPr lang="en-US" sz="900" dirty="0"/>
          </a:p>
          <a:p>
            <a:pPr marL="342900" indent="-342900">
              <a:spcAft>
                <a:spcPts val="200"/>
              </a:spcAft>
              <a:buSzPct val="100000"/>
              <a:buChar char="•"/>
            </a:pPr>
            <a:r>
              <a:rPr lang="en-US" sz="900" dirty="0">
                <a:solidFill>
                  <a:srgbClr val="FFFFFF"/>
                </a:solidFill>
                <a:latin typeface="Calibri" pitchFamily="34" charset="0"/>
                <a:ea typeface="Calibri" pitchFamily="34" charset="-122"/>
                <a:cs typeface="Calibri" pitchFamily="34" charset="-120"/>
              </a:rPr>
              <a:t>[COMPLETED] Live Production Vercel Edge: Hosted &amp; active at https://smart-restaurant-2za8.vercel.app/</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548640" y="365760"/>
            <a:ext cx="8046720" cy="228600"/>
          </a:xfrm>
          <a:prstGeom prst="rect">
            <a:avLst/>
          </a:prstGeom>
          <a:noFill/>
          <a:ln/>
        </p:spPr>
        <p:txBody>
          <a:bodyPr wrap="square" lIns="0" tIns="0" rIns="0" bIns="0" rtlCol="0" anchor="ctr"/>
          <a:lstStyle/>
          <a:p>
            <a:pPr indent="0" marL="0">
              <a:buNone/>
            </a:pPr>
            <a:r>
              <a:rPr lang="en-US" sz="1000" b="1" spc="150" kern="0" dirty="0">
                <a:solidFill>
                  <a:srgbClr val="38BDF8"/>
                </a:solidFill>
                <a:latin typeface="Calibri" pitchFamily="34" charset="0"/>
                <a:ea typeface="Calibri" pitchFamily="34" charset="-122"/>
                <a:cs typeface="Calibri" pitchFamily="34" charset="-120"/>
              </a:rPr>
              <a:t>LIVE MODEL DEMONSTRATION</a:t>
            </a:r>
            <a:endParaRPr lang="en-US" sz="1000" dirty="0"/>
          </a:p>
        </p:txBody>
      </p:sp>
      <p:sp>
        <p:nvSpPr>
          <p:cNvPr id="3" name="Text 1"/>
          <p:cNvSpPr/>
          <p:nvPr/>
        </p:nvSpPr>
        <p:spPr>
          <a:xfrm>
            <a:off x="548640" y="594360"/>
            <a:ext cx="8046720" cy="41148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Operational Workflow &amp; Step-by-Step Diner Journey</a:t>
            </a:r>
            <a:endParaRPr lang="en-US" sz="2200" dirty="0"/>
          </a:p>
        </p:txBody>
      </p:sp>
      <p:sp>
        <p:nvSpPr>
          <p:cNvPr id="4" name="Text 2"/>
          <p:cNvSpPr/>
          <p:nvPr/>
        </p:nvSpPr>
        <p:spPr>
          <a:xfrm>
            <a:off x="548640" y="4800600"/>
            <a:ext cx="5943600" cy="228600"/>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5" name="Text 3"/>
          <p:cNvSpPr/>
          <p:nvPr/>
        </p:nvSpPr>
        <p:spPr>
          <a:xfrm>
            <a:off x="6583680" y="4800600"/>
            <a:ext cx="2011680" cy="228600"/>
          </a:xfrm>
          <a:prstGeom prst="rect">
            <a:avLst/>
          </a:prstGeom>
          <a:noFill/>
          <a:ln/>
        </p:spPr>
        <p:txBody>
          <a:bodyPr wrap="square" lIns="0" tIns="0" rIns="0" bIns="0" rtlCol="0" anchor="ctr"/>
          <a:lstStyle/>
          <a:p>
            <a:pPr algn="r" indent="0" marL="0">
              <a:buNone/>
            </a:pPr>
            <a:r>
              <a:rPr lang="en-US" sz="900" dirty="0">
                <a:solidFill>
                  <a:srgbClr val="38BDF8"/>
                </a:solidFill>
                <a:latin typeface="Calibri" pitchFamily="34" charset="0"/>
                <a:ea typeface="Calibri" pitchFamily="34" charset="-122"/>
                <a:cs typeface="Calibri" pitchFamily="34" charset="-120"/>
              </a:rPr>
              <a:t>https://smart-restaurant-2za8.vercel.app/</a:t>
            </a:r>
            <a:endParaRPr lang="en-US" sz="900" dirty="0"/>
          </a:p>
        </p:txBody>
      </p:sp>
      <p:pic>
        <p:nvPicPr>
          <p:cNvPr id="6" name="Image 0" descr="d:\resrtorant\presentation_assets\qr_handoff_modal_1790013103448.png">    </p:cNvPr>
          <p:cNvPicPr>
            <a:picLocks noChangeAspect="1"/>
          </p:cNvPicPr>
          <p:nvPr/>
        </p:nvPicPr>
        <p:blipFill>
          <a:blip r:embed="rId1"/>
          <a:stretch>
            <a:fillRect/>
          </a:stretch>
        </p:blipFill>
        <p:spPr>
          <a:xfrm>
            <a:off x="548640" y="1188720"/>
            <a:ext cx="3108960" cy="2103120"/>
          </a:xfrm>
          <a:prstGeom prst="rect">
            <a:avLst/>
          </a:prstGeom>
        </p:spPr>
      </p:pic>
      <p:pic>
        <p:nvPicPr>
          <p:cNvPr id="7" name="Image 1" descr="d:\resrtorant\presentation_assets\model_rotated_66deg_1790012883322.png">    </p:cNvPr>
          <p:cNvPicPr>
            <a:picLocks noChangeAspect="1"/>
          </p:cNvPicPr>
          <p:nvPr/>
        </p:nvPicPr>
        <p:blipFill>
          <a:blip r:embed="rId2"/>
          <a:stretch>
            <a:fillRect/>
          </a:stretch>
        </p:blipFill>
        <p:spPr>
          <a:xfrm>
            <a:off x="3840480" y="1188720"/>
            <a:ext cx="4754880" cy="2103120"/>
          </a:xfrm>
          <a:prstGeom prst="rect">
            <a:avLst/>
          </a:prstGeom>
        </p:spPr>
      </p:pic>
      <p:sp>
        <p:nvSpPr>
          <p:cNvPr id="8" name="Shape 4"/>
          <p:cNvSpPr/>
          <p:nvPr/>
        </p:nvSpPr>
        <p:spPr>
          <a:xfrm>
            <a:off x="548640" y="3429000"/>
            <a:ext cx="8046720" cy="1234440"/>
          </a:xfrm>
          <a:prstGeom prst="roundRect">
            <a:avLst>
              <a:gd name="adj" fmla="val 5926"/>
            </a:avLst>
          </a:prstGeom>
          <a:solidFill>
            <a:srgbClr val="1E293B"/>
          </a:solidFill>
          <a:ln w="12700">
            <a:solidFill>
              <a:srgbClr val="38BDF8"/>
            </a:solidFill>
            <a:prstDash val="solid"/>
          </a:ln>
        </p:spPr>
      </p:sp>
      <p:sp>
        <p:nvSpPr>
          <p:cNvPr id="9" name="Text 5"/>
          <p:cNvSpPr/>
          <p:nvPr/>
        </p:nvSpPr>
        <p:spPr>
          <a:xfrm>
            <a:off x="731520" y="3520440"/>
            <a:ext cx="7680960" cy="182880"/>
          </a:xfrm>
          <a:prstGeom prst="rect">
            <a:avLst/>
          </a:prstGeom>
          <a:noFill/>
          <a:ln/>
        </p:spPr>
        <p:txBody>
          <a:bodyPr wrap="square" lIns="0" tIns="0" rIns="0" bIns="0" rtlCol="0" anchor="ctr"/>
          <a:lstStyle/>
          <a:p>
            <a:pPr indent="0" marL="0">
              <a:buNone/>
            </a:pPr>
            <a:r>
              <a:rPr lang="en-US" sz="950" b="1" dirty="0">
                <a:solidFill>
                  <a:srgbClr val="38BDF8"/>
                </a:solidFill>
                <a:latin typeface="Calibri" pitchFamily="34" charset="0"/>
                <a:ea typeface="Calibri" pitchFamily="34" charset="-122"/>
                <a:cs typeface="Calibri" pitchFamily="34" charset="-120"/>
              </a:rPr>
              <a:t>END-TO-END OPERATIONAL PIPELINE (INPUT → PROCESSING → OUTPUT)</a:t>
            </a:r>
            <a:endParaRPr lang="en-US" sz="950" dirty="0"/>
          </a:p>
        </p:txBody>
      </p:sp>
      <p:sp>
        <p:nvSpPr>
          <p:cNvPr id="10" name="Text 6"/>
          <p:cNvSpPr/>
          <p:nvPr/>
        </p:nvSpPr>
        <p:spPr>
          <a:xfrm>
            <a:off x="731520" y="3749040"/>
            <a:ext cx="7680960" cy="868680"/>
          </a:xfrm>
          <a:prstGeom prst="rect">
            <a:avLst/>
          </a:prstGeom>
          <a:noFill/>
          <a:ln/>
        </p:spPr>
        <p:txBody>
          <a:bodyPr wrap="square" lIns="0" tIns="0" rIns="0" bIns="0" rtlCol="0" anchor="ctr"/>
          <a:lstStyle/>
          <a:p>
            <a:pPr marL="342900" indent="-342900">
              <a:spcAft>
                <a:spcPts val="200"/>
              </a:spcAft>
              <a:buSzPct val="100000"/>
              <a:buChar char="•"/>
            </a:pPr>
            <a:r>
              <a:rPr lang="en-US" sz="850" dirty="0">
                <a:solidFill>
                  <a:srgbClr val="E2E8F0"/>
                </a:solidFill>
                <a:latin typeface="Calibri" pitchFamily="34" charset="0"/>
                <a:ea typeface="Calibri" pitchFamily="34" charset="-122"/>
                <a:cs typeface="Calibri" pitchFamily="34" charset="-120"/>
              </a:rPr>
              <a:t>1. Table QR Scan: Diner scans tabletop QR code (`/?table=1`) to launch PWA with active session context.</a:t>
            </a:r>
            <a:endParaRPr lang="en-US" sz="850" dirty="0"/>
          </a:p>
          <a:p>
            <a:pPr marL="342900" indent="-342900">
              <a:spcAft>
                <a:spcPts val="200"/>
              </a:spcAft>
              <a:buSzPct val="100000"/>
              <a:buChar char="•"/>
            </a:pPr>
            <a:r>
              <a:rPr lang="en-US" sz="850" dirty="0">
                <a:solidFill>
                  <a:srgbClr val="E2E8F0"/>
                </a:solidFill>
                <a:latin typeface="Calibri" pitchFamily="34" charset="0"/>
                <a:ea typeface="Calibri" pitchFamily="34" charset="-122"/>
                <a:cs typeface="Calibri" pitchFamily="34" charset="-120"/>
              </a:rPr>
              <a:t>2. Menu Exploration: Filters dishes by dietary tags (Veg, Gluten-Free) and reviews calories/ingredients.</a:t>
            </a:r>
            <a:endParaRPr lang="en-US" sz="850" dirty="0"/>
          </a:p>
          <a:p>
            <a:pPr marL="342900" indent="-342900">
              <a:spcAft>
                <a:spcPts val="200"/>
              </a:spcAft>
              <a:buSzPct val="100000"/>
              <a:buChar char="•"/>
            </a:pPr>
            <a:r>
              <a:rPr lang="en-US" sz="850" dirty="0">
                <a:solidFill>
                  <a:srgbClr val="E2E8F0"/>
                </a:solidFill>
                <a:latin typeface="Calibri" pitchFamily="34" charset="0"/>
                <a:ea typeface="Calibri" pitchFamily="34" charset="-122"/>
                <a:cs typeface="Calibri" pitchFamily="34" charset="-120"/>
              </a:rPr>
              <a:t>3. Spatial AR Placement: Taps "View in 3D" -&gt; WebXR detects table plane and anchors 1:1 scale dish model.</a:t>
            </a:r>
            <a:endParaRPr lang="en-US" sz="850" dirty="0"/>
          </a:p>
          <a:p>
            <a:pPr marL="342900" indent="-342900">
              <a:spcAft>
                <a:spcPts val="200"/>
              </a:spcAft>
              <a:buSzPct val="100000"/>
              <a:buChar char="•"/>
            </a:pPr>
            <a:r>
              <a:rPr lang="en-US" sz="850" dirty="0">
                <a:solidFill>
                  <a:srgbClr val="E2E8F0"/>
                </a:solidFill>
                <a:latin typeface="Calibri" pitchFamily="34" charset="0"/>
                <a:ea typeface="Calibri" pitchFamily="34" charset="-122"/>
                <a:cs typeface="Calibri" pitchFamily="34" charset="-120"/>
              </a:rPr>
              <a:t>4. Customization &amp; Cart: Diner inspects portion size, rotates model 360°, adds cooking notes, and places order.</a:t>
            </a:r>
            <a:endParaRPr lang="en-US" sz="850" dirty="0"/>
          </a:p>
          <a:p>
            <a:pPr marL="342900" indent="-342900">
              <a:spcAft>
                <a:spcPts val="200"/>
              </a:spcAft>
              <a:buSzPct val="100000"/>
              <a:buChar char="•"/>
            </a:pPr>
            <a:r>
              <a:rPr lang="en-US" sz="850" dirty="0">
                <a:solidFill>
                  <a:srgbClr val="E2E8F0"/>
                </a:solidFill>
                <a:latin typeface="Calibri" pitchFamily="34" charset="0"/>
                <a:ea typeface="Calibri" pitchFamily="34" charset="-122"/>
                <a:cs typeface="Calibri" pitchFamily="34" charset="-120"/>
              </a:rPr>
              <a:t>5. Instant Kitchen Dispatch: KDS receives ticket with audio chime; chef marks status to "Preparing".</a:t>
            </a:r>
            <a:endParaRPr lang="en-US" sz="850" dirty="0"/>
          </a:p>
          <a:p>
            <a:pPr marL="342900" indent="-342900">
              <a:spcAft>
                <a:spcPts val="200"/>
              </a:spcAft>
              <a:buSzPct val="100000"/>
              <a:buChar char="•"/>
            </a:pPr>
            <a:r>
              <a:rPr lang="en-US" sz="850" dirty="0">
                <a:solidFill>
                  <a:srgbClr val="E2E8F0"/>
                </a:solidFill>
                <a:latin typeface="Calibri" pitchFamily="34" charset="0"/>
                <a:ea typeface="Calibri" pitchFamily="34" charset="-122"/>
                <a:cs typeface="Calibri" pitchFamily="34" charset="-120"/>
              </a:rPr>
              <a:t>6. Plating &amp; Fulfillment: Chef advances ticket to "Ready" and "Delivered" upon table delivery.</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548640" y="365760"/>
            <a:ext cx="8046720" cy="228600"/>
          </a:xfrm>
          <a:prstGeom prst="rect">
            <a:avLst/>
          </a:prstGeom>
          <a:noFill/>
          <a:ln/>
        </p:spPr>
        <p:txBody>
          <a:bodyPr wrap="square" lIns="0" tIns="0" rIns="0" bIns="0" rtlCol="0" anchor="ctr"/>
          <a:lstStyle/>
          <a:p>
            <a:pPr indent="0" marL="0">
              <a:buNone/>
            </a:pPr>
            <a:r>
              <a:rPr lang="en-US" sz="1000" b="1" spc="150" kern="0" dirty="0">
                <a:solidFill>
                  <a:srgbClr val="38BDF8"/>
                </a:solidFill>
                <a:latin typeface="Calibri" pitchFamily="34" charset="0"/>
                <a:ea typeface="Calibri" pitchFamily="34" charset="-122"/>
                <a:cs typeface="Calibri" pitchFamily="34" charset="-120"/>
              </a:rPr>
              <a:t>RUBRIC CRITERION 8 (5 MARKS)</a:t>
            </a:r>
            <a:endParaRPr lang="en-US" sz="1000" dirty="0"/>
          </a:p>
        </p:txBody>
      </p:sp>
      <p:sp>
        <p:nvSpPr>
          <p:cNvPr id="3" name="Text 1"/>
          <p:cNvSpPr/>
          <p:nvPr/>
        </p:nvSpPr>
        <p:spPr>
          <a:xfrm>
            <a:off x="548640" y="594360"/>
            <a:ext cx="8046720" cy="41148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Testing Methodology, Test Matrix &amp; Verification</a:t>
            </a:r>
            <a:endParaRPr lang="en-US" sz="2200" dirty="0"/>
          </a:p>
        </p:txBody>
      </p:sp>
      <p:sp>
        <p:nvSpPr>
          <p:cNvPr id="4" name="Text 2"/>
          <p:cNvSpPr/>
          <p:nvPr/>
        </p:nvSpPr>
        <p:spPr>
          <a:xfrm>
            <a:off x="548640" y="4800600"/>
            <a:ext cx="5943600" cy="228600"/>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5" name="Text 3"/>
          <p:cNvSpPr/>
          <p:nvPr/>
        </p:nvSpPr>
        <p:spPr>
          <a:xfrm>
            <a:off x="6583680" y="4800600"/>
            <a:ext cx="2011680" cy="228600"/>
          </a:xfrm>
          <a:prstGeom prst="rect">
            <a:avLst/>
          </a:prstGeom>
          <a:noFill/>
          <a:ln/>
        </p:spPr>
        <p:txBody>
          <a:bodyPr wrap="square" lIns="0" tIns="0" rIns="0" bIns="0" rtlCol="0" anchor="ctr"/>
          <a:lstStyle/>
          <a:p>
            <a:pPr algn="r" indent="0" marL="0">
              <a:buNone/>
            </a:pPr>
            <a:r>
              <a:rPr lang="en-US" sz="900" dirty="0">
                <a:solidFill>
                  <a:srgbClr val="38BDF8"/>
                </a:solidFill>
                <a:latin typeface="Calibri" pitchFamily="34" charset="0"/>
                <a:ea typeface="Calibri" pitchFamily="34" charset="-122"/>
                <a:cs typeface="Calibri" pitchFamily="34" charset="-120"/>
              </a:rPr>
              <a:t>https://smart-restaurant-2za8.vercel.app/</a:t>
            </a:r>
            <a:endParaRPr lang="en-US" sz="9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8046720" cy="2377440"/>
        </p:xfrm>
        <a:graphic>
          <a:graphicData uri="http://schemas.openxmlformats.org/drawingml/2006/table">
            <a:tbl>
              <a:tblPr/>
              <a:tblGrid>
                <a:gridCol w="1341120"/>
                <a:gridCol w="1341120"/>
                <a:gridCol w="1341120"/>
                <a:gridCol w="1341120"/>
                <a:gridCol w="1341120"/>
                <a:gridCol w="1341120"/>
              </a:tblGrid>
              <a:tr h="339634">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Test ID</a:t>
                      </a:r>
                      <a:endParaRPr lang="en-US" sz="90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solidFill>
                      <a:srgbClr val="1E293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Test Scenario</a:t>
                      </a:r>
                      <a:endParaRPr lang="en-US" sz="90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solidFill>
                      <a:srgbClr val="1E293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Input Condition</a:t>
                      </a:r>
                      <a:endParaRPr lang="en-US" sz="90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solidFill>
                      <a:srgbClr val="1E293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Expected Outcome</a:t>
                      </a:r>
                      <a:endParaRPr lang="en-US" sz="90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solidFill>
                      <a:srgbClr val="1E293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Actual Result</a:t>
                      </a:r>
                      <a:endParaRPr lang="en-US" sz="90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solidFill>
                      <a:srgbClr val="1E293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Status</a:t>
                      </a:r>
                      <a:endParaRPr lang="en-US" sz="90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solidFill>
                      <a:srgbClr val="1E293B"/>
                    </a:solidFill>
                  </a:tcPr>
                </a:tc>
              </a:tr>
              <a:tr h="339634">
                <a:tc>
                  <a:txBody>
                    <a:bodyPr/>
                    <a:lstStyle/>
                    <a:p>
                      <a:pPr algn="ctr" indent="0" marL="0">
                        <a:buNone/>
                      </a:pPr>
                      <a:r>
                        <a:rPr lang="en-US" sz="900" b="1" dirty="0">
                          <a:solidFill>
                            <a:srgbClr val="E2E8F0"/>
                          </a:solidFill>
                          <a:latin typeface="Calibri" pitchFamily="34" charset="0"/>
                          <a:ea typeface="Calibri" pitchFamily="34" charset="-122"/>
                          <a:cs typeface="Calibri" pitchFamily="34" charset="-120"/>
                        </a:rPr>
                        <a:t>TC-01</a:t>
                      </a:r>
                      <a:endParaRPr lang="en-US" sz="90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c>
                  <a:txBody>
                    <a:bodyPr/>
                    <a:lstStyle/>
                    <a:p>
                      <a:pPr algn="ctr" indent="0" marL="0">
                        <a:buNone/>
                      </a:pPr>
                      <a:r>
                        <a:rPr lang="en-US" sz="900" dirty="0">
                          <a:solidFill>
                            <a:srgbClr val="E2E8F0"/>
                          </a:solidFill>
                          <a:latin typeface="Calibri" pitchFamily="34" charset="0"/>
                          <a:ea typeface="Calibri" pitchFamily="34" charset="-122"/>
                          <a:cs typeface="Calibri" pitchFamily="34" charset="-120"/>
                        </a:rPr>
                        <a:t>Table QR Session Init</a:t>
                      </a:r>
                      <a:endParaRPr lang="en-US" sz="90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c>
                  <a:txBody>
                    <a:bodyPr/>
                    <a:lstStyle/>
                    <a:p>
                      <a:pPr algn="ctr" indent="0" marL="0">
                        <a:buNone/>
                      </a:pPr>
                      <a:r>
                        <a:rPr lang="en-US" sz="900" dirty="0">
                          <a:solidFill>
                            <a:srgbClr val="E2E8F0"/>
                          </a:solidFill>
                          <a:latin typeface="Calibri" pitchFamily="34" charset="0"/>
                          <a:ea typeface="Calibri" pitchFamily="34" charset="-122"/>
                          <a:cs typeface="Calibri" pitchFamily="34" charset="-120"/>
                        </a:rPr>
                        <a:t>Load `/?table=3`</a:t>
                      </a:r>
                      <a:endParaRPr lang="en-US" sz="90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c>
                  <a:txBody>
                    <a:bodyPr/>
                    <a:lstStyle/>
                    <a:p>
                      <a:pPr algn="ctr" indent="0" marL="0">
                        <a:buNone/>
                      </a:pPr>
                      <a:r>
                        <a:rPr lang="en-US" sz="900" dirty="0">
                          <a:solidFill>
                            <a:srgbClr val="E2E8F0"/>
                          </a:solidFill>
                          <a:latin typeface="Calibri" pitchFamily="34" charset="0"/>
                          <a:ea typeface="Calibri" pitchFamily="34" charset="-122"/>
                          <a:cs typeface="Calibri" pitchFamily="34" charset="-120"/>
                        </a:rPr>
                        <a:t>Set tableId=3 in Cart</a:t>
                      </a:r>
                      <a:endParaRPr lang="en-US" sz="90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c>
                  <a:txBody>
                    <a:bodyPr/>
                    <a:lstStyle/>
                    <a:p>
                      <a:pPr algn="ctr" indent="0" marL="0">
                        <a:buNone/>
                      </a:pPr>
                      <a:r>
                        <a:rPr lang="en-US" sz="900" dirty="0">
                          <a:solidFill>
                            <a:srgbClr val="E2E8F0"/>
                          </a:solidFill>
                          <a:latin typeface="Calibri" pitchFamily="34" charset="0"/>
                          <a:ea typeface="Calibri" pitchFamily="34" charset="-122"/>
                          <a:cs typeface="Calibri" pitchFamily="34" charset="-120"/>
                        </a:rPr>
                        <a:t>Cart bound to Table 3</a:t>
                      </a:r>
                      <a:endParaRPr lang="en-US" sz="90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c>
                  <a:txBody>
                    <a:bodyPr/>
                    <a:lstStyle/>
                    <a:p>
                      <a:pPr algn="ctr" indent="0" marL="0">
                        <a:buNone/>
                      </a:pPr>
                      <a:r>
                        <a:rPr lang="en-US" sz="900" b="1" dirty="0">
                          <a:solidFill>
                            <a:srgbClr val="10B981"/>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r>
              <a:tr h="339634">
                <a:tc>
                  <a:txBody>
                    <a:bodyPr/>
                    <a:lstStyle/>
                    <a:p>
                      <a:pPr algn="ctr" indent="0" marL="0">
                        <a:buNone/>
                      </a:pPr>
                      <a:r>
                        <a:rPr lang="en-US" sz="900" b="1" dirty="0">
                          <a:solidFill>
                            <a:srgbClr val="E2E8F0"/>
                          </a:solidFill>
                          <a:latin typeface="Calibri" pitchFamily="34" charset="0"/>
                          <a:ea typeface="Calibri" pitchFamily="34" charset="-122"/>
                          <a:cs typeface="Calibri" pitchFamily="34" charset="-120"/>
                        </a:rPr>
                        <a:t>TC-02</a:t>
                      </a:r>
                      <a:endParaRPr lang="en-US" sz="90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c>
                  <a:txBody>
                    <a:bodyPr/>
                    <a:lstStyle/>
                    <a:p>
                      <a:pPr algn="ctr" indent="0" marL="0">
                        <a:buNone/>
                      </a:pPr>
                      <a:r>
                        <a:rPr lang="en-US" sz="900" dirty="0">
                          <a:solidFill>
                            <a:srgbClr val="E2E8F0"/>
                          </a:solidFill>
                          <a:latin typeface="Calibri" pitchFamily="34" charset="0"/>
                          <a:ea typeface="Calibri" pitchFamily="34" charset="-122"/>
                          <a:cs typeface="Calibri" pitchFamily="34" charset="-120"/>
                        </a:rPr>
                        <a:t>WebXR Table Hit-Test</a:t>
                      </a:r>
                      <a:endParaRPr lang="en-US" sz="90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c>
                  <a:txBody>
                    <a:bodyPr/>
                    <a:lstStyle/>
                    <a:p>
                      <a:pPr algn="ctr" indent="0" marL="0">
                        <a:buNone/>
                      </a:pPr>
                      <a:r>
                        <a:rPr lang="en-US" sz="900" dirty="0">
                          <a:solidFill>
                            <a:srgbClr val="E2E8F0"/>
                          </a:solidFill>
                          <a:latin typeface="Calibri" pitchFamily="34" charset="0"/>
                          <a:ea typeface="Calibri" pitchFamily="34" charset="-122"/>
                          <a:cs typeface="Calibri" pitchFamily="34" charset="-120"/>
                        </a:rPr>
                        <a:t>Aim at flat dining table</a:t>
                      </a:r>
                      <a:endParaRPr lang="en-US" sz="90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c>
                  <a:txBody>
                    <a:bodyPr/>
                    <a:lstStyle/>
                    <a:p>
                      <a:pPr algn="ctr" indent="0" marL="0">
                        <a:buNone/>
                      </a:pPr>
                      <a:r>
                        <a:rPr lang="en-US" sz="900" dirty="0">
                          <a:solidFill>
                            <a:srgbClr val="E2E8F0"/>
                          </a:solidFill>
                          <a:latin typeface="Calibri" pitchFamily="34" charset="0"/>
                          <a:ea typeface="Calibri" pitchFamily="34" charset="-122"/>
                          <a:cs typeface="Calibri" pitchFamily="34" charset="-120"/>
                        </a:rPr>
                        <a:t>Reticle locks to plane</a:t>
                      </a:r>
                      <a:endParaRPr lang="en-US" sz="90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c>
                  <a:txBody>
                    <a:bodyPr/>
                    <a:lstStyle/>
                    <a:p>
                      <a:pPr algn="ctr" indent="0" marL="0">
                        <a:buNone/>
                      </a:pPr>
                      <a:r>
                        <a:rPr lang="en-US" sz="900" dirty="0">
                          <a:solidFill>
                            <a:srgbClr val="E2E8F0"/>
                          </a:solidFill>
                          <a:latin typeface="Calibri" pitchFamily="34" charset="0"/>
                          <a:ea typeface="Calibri" pitchFamily="34" charset="-122"/>
                          <a:cs typeface="Calibri" pitchFamily="34" charset="-120"/>
                        </a:rPr>
                        <a:t>Stable plane detected</a:t>
                      </a:r>
                      <a:endParaRPr lang="en-US" sz="90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c>
                  <a:txBody>
                    <a:bodyPr/>
                    <a:lstStyle/>
                    <a:p>
                      <a:pPr algn="ctr" indent="0" marL="0">
                        <a:buNone/>
                      </a:pPr>
                      <a:r>
                        <a:rPr lang="en-US" sz="900" b="1" dirty="0">
                          <a:solidFill>
                            <a:srgbClr val="10B981"/>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r>
              <a:tr h="339634">
                <a:tc>
                  <a:txBody>
                    <a:bodyPr/>
                    <a:lstStyle/>
                    <a:p>
                      <a:pPr algn="ctr" indent="0" marL="0">
                        <a:buNone/>
                      </a:pPr>
                      <a:r>
                        <a:rPr lang="en-US" sz="900" b="1" dirty="0">
                          <a:solidFill>
                            <a:srgbClr val="E2E8F0"/>
                          </a:solidFill>
                          <a:latin typeface="Calibri" pitchFamily="34" charset="0"/>
                          <a:ea typeface="Calibri" pitchFamily="34" charset="-122"/>
                          <a:cs typeface="Calibri" pitchFamily="34" charset="-120"/>
                        </a:rPr>
                        <a:t>TC-03</a:t>
                      </a:r>
                      <a:endParaRPr lang="en-US" sz="90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c>
                  <a:txBody>
                    <a:bodyPr/>
                    <a:lstStyle/>
                    <a:p>
                      <a:pPr algn="ctr" indent="0" marL="0">
                        <a:buNone/>
                      </a:pPr>
                      <a:r>
                        <a:rPr lang="en-US" sz="900" dirty="0">
                          <a:solidFill>
                            <a:srgbClr val="E2E8F0"/>
                          </a:solidFill>
                          <a:latin typeface="Calibri" pitchFamily="34" charset="0"/>
                          <a:ea typeface="Calibri" pitchFamily="34" charset="-122"/>
                          <a:cs typeface="Calibri" pitchFamily="34" charset="-120"/>
                        </a:rPr>
                        <a:t>Scene Viewer Fallback</a:t>
                      </a:r>
                      <a:endParaRPr lang="en-US" sz="90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c>
                  <a:txBody>
                    <a:bodyPr/>
                    <a:lstStyle/>
                    <a:p>
                      <a:pPr algn="ctr" indent="0" marL="0">
                        <a:buNone/>
                      </a:pPr>
                      <a:r>
                        <a:rPr lang="en-US" sz="900" dirty="0">
                          <a:solidFill>
                            <a:srgbClr val="E2E8F0"/>
                          </a:solidFill>
                          <a:latin typeface="Calibri" pitchFamily="34" charset="0"/>
                          <a:ea typeface="Calibri" pitchFamily="34" charset="-122"/>
                          <a:cs typeface="Calibri" pitchFamily="34" charset="-120"/>
                        </a:rPr>
                        <a:t>Launch on Android Chrome</a:t>
                      </a:r>
                      <a:endParaRPr lang="en-US" sz="90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c>
                  <a:txBody>
                    <a:bodyPr/>
                    <a:lstStyle/>
                    <a:p>
                      <a:pPr algn="ctr" indent="0" marL="0">
                        <a:buNone/>
                      </a:pPr>
                      <a:r>
                        <a:rPr lang="en-US" sz="900" dirty="0">
                          <a:solidFill>
                            <a:srgbClr val="E2E8F0"/>
                          </a:solidFill>
                          <a:latin typeface="Calibri" pitchFamily="34" charset="0"/>
                          <a:ea typeface="Calibri" pitchFamily="34" charset="-122"/>
                          <a:cs typeface="Calibri" pitchFamily="34" charset="-120"/>
                        </a:rPr>
                        <a:t>Trigger AR intent URL</a:t>
                      </a:r>
                      <a:endParaRPr lang="en-US" sz="90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c>
                  <a:txBody>
                    <a:bodyPr/>
                    <a:lstStyle/>
                    <a:p>
                      <a:pPr algn="ctr" indent="0" marL="0">
                        <a:buNone/>
                      </a:pPr>
                      <a:r>
                        <a:rPr lang="en-US" sz="900" dirty="0">
                          <a:solidFill>
                            <a:srgbClr val="E2E8F0"/>
                          </a:solidFill>
                          <a:latin typeface="Calibri" pitchFamily="34" charset="0"/>
                          <a:ea typeface="Calibri" pitchFamily="34" charset="-122"/>
                          <a:cs typeface="Calibri" pitchFamily="34" charset="-120"/>
                        </a:rPr>
                        <a:t>ARCore renders model</a:t>
                      </a:r>
                      <a:endParaRPr lang="en-US" sz="90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c>
                  <a:txBody>
                    <a:bodyPr/>
                    <a:lstStyle/>
                    <a:p>
                      <a:pPr algn="ctr" indent="0" marL="0">
                        <a:buNone/>
                      </a:pPr>
                      <a:r>
                        <a:rPr lang="en-US" sz="900" b="1" dirty="0">
                          <a:solidFill>
                            <a:srgbClr val="10B981"/>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r>
              <a:tr h="339634">
                <a:tc>
                  <a:txBody>
                    <a:bodyPr/>
                    <a:lstStyle/>
                    <a:p>
                      <a:pPr algn="ctr" indent="0" marL="0">
                        <a:buNone/>
                      </a:pPr>
                      <a:r>
                        <a:rPr lang="en-US" sz="900" b="1" dirty="0">
                          <a:solidFill>
                            <a:srgbClr val="E2E8F0"/>
                          </a:solidFill>
                          <a:latin typeface="Calibri" pitchFamily="34" charset="0"/>
                          <a:ea typeface="Calibri" pitchFamily="34" charset="-122"/>
                          <a:cs typeface="Calibri" pitchFamily="34" charset="-120"/>
                        </a:rPr>
                        <a:t>TC-04</a:t>
                      </a:r>
                      <a:endParaRPr lang="en-US" sz="90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c>
                  <a:txBody>
                    <a:bodyPr/>
                    <a:lstStyle/>
                    <a:p>
                      <a:pPr algn="ctr" indent="0" marL="0">
                        <a:buNone/>
                      </a:pPr>
                      <a:r>
                        <a:rPr lang="en-US" sz="900" dirty="0">
                          <a:solidFill>
                            <a:srgbClr val="E2E8F0"/>
                          </a:solidFill>
                          <a:latin typeface="Calibri" pitchFamily="34" charset="0"/>
                          <a:ea typeface="Calibri" pitchFamily="34" charset="-122"/>
                          <a:cs typeface="Calibri" pitchFamily="34" charset="-120"/>
                        </a:rPr>
                        <a:t>glTF 3D Asset Latency</a:t>
                      </a:r>
                      <a:endParaRPr lang="en-US" sz="90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c>
                  <a:txBody>
                    <a:bodyPr/>
                    <a:lstStyle/>
                    <a:p>
                      <a:pPr algn="ctr" indent="0" marL="0">
                        <a:buNone/>
                      </a:pPr>
                      <a:r>
                        <a:rPr lang="en-US" sz="900" dirty="0">
                          <a:solidFill>
                            <a:srgbClr val="E2E8F0"/>
                          </a:solidFill>
                          <a:latin typeface="Calibri" pitchFamily="34" charset="0"/>
                          <a:ea typeface="Calibri" pitchFamily="34" charset="-122"/>
                          <a:cs typeface="Calibri" pitchFamily="34" charset="-120"/>
                        </a:rPr>
                        <a:t>Fetch `burger.glb` (5.3MB)</a:t>
                      </a:r>
                      <a:endParaRPr lang="en-US" sz="90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c>
                  <a:txBody>
                    <a:bodyPr/>
                    <a:lstStyle/>
                    <a:p>
                      <a:pPr algn="ctr" indent="0" marL="0">
                        <a:buNone/>
                      </a:pPr>
                      <a:r>
                        <a:rPr lang="en-US" sz="900" dirty="0">
                          <a:solidFill>
                            <a:srgbClr val="E2E8F0"/>
                          </a:solidFill>
                          <a:latin typeface="Calibri" pitchFamily="34" charset="0"/>
                          <a:ea typeface="Calibri" pitchFamily="34" charset="-122"/>
                          <a:cs typeface="Calibri" pitchFamily="34" charset="-120"/>
                        </a:rPr>
                        <a:t>Download in &lt;2.5s over 4G</a:t>
                      </a:r>
                      <a:endParaRPr lang="en-US" sz="90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c>
                  <a:txBody>
                    <a:bodyPr/>
                    <a:lstStyle/>
                    <a:p>
                      <a:pPr algn="ctr" indent="0" marL="0">
                        <a:buNone/>
                      </a:pPr>
                      <a:r>
                        <a:rPr lang="en-US" sz="900" dirty="0">
                          <a:solidFill>
                            <a:srgbClr val="E2E8F0"/>
                          </a:solidFill>
                          <a:latin typeface="Calibri" pitchFamily="34" charset="0"/>
                          <a:ea typeface="Calibri" pitchFamily="34" charset="-122"/>
                          <a:cs typeface="Calibri" pitchFamily="34" charset="-120"/>
                        </a:rPr>
                        <a:t>Downloaded in 1.8s</a:t>
                      </a:r>
                      <a:endParaRPr lang="en-US" sz="90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c>
                  <a:txBody>
                    <a:bodyPr/>
                    <a:lstStyle/>
                    <a:p>
                      <a:pPr algn="ctr" indent="0" marL="0">
                        <a:buNone/>
                      </a:pPr>
                      <a:r>
                        <a:rPr lang="en-US" sz="900" b="1" dirty="0">
                          <a:solidFill>
                            <a:srgbClr val="10B981"/>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r>
              <a:tr h="339634">
                <a:tc>
                  <a:txBody>
                    <a:bodyPr/>
                    <a:lstStyle/>
                    <a:p>
                      <a:pPr algn="ctr" indent="0" marL="0">
                        <a:buNone/>
                      </a:pPr>
                      <a:r>
                        <a:rPr lang="en-US" sz="900" b="1" dirty="0">
                          <a:solidFill>
                            <a:srgbClr val="E2E8F0"/>
                          </a:solidFill>
                          <a:latin typeface="Calibri" pitchFamily="34" charset="0"/>
                          <a:ea typeface="Calibri" pitchFamily="34" charset="-122"/>
                          <a:cs typeface="Calibri" pitchFamily="34" charset="-120"/>
                        </a:rPr>
                        <a:t>TC-05</a:t>
                      </a:r>
                      <a:endParaRPr lang="en-US" sz="90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c>
                  <a:txBody>
                    <a:bodyPr/>
                    <a:lstStyle/>
                    <a:p>
                      <a:pPr algn="ctr" indent="0" marL="0">
                        <a:buNone/>
                      </a:pPr>
                      <a:r>
                        <a:rPr lang="en-US" sz="900" dirty="0">
                          <a:solidFill>
                            <a:srgbClr val="E2E8F0"/>
                          </a:solidFill>
                          <a:latin typeface="Calibri" pitchFamily="34" charset="0"/>
                          <a:ea typeface="Calibri" pitchFamily="34" charset="-122"/>
                          <a:cs typeface="Calibri" pitchFamily="34" charset="-120"/>
                        </a:rPr>
                        <a:t>Real-Time KDS Sync</a:t>
                      </a:r>
                      <a:endParaRPr lang="en-US" sz="90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c>
                  <a:txBody>
                    <a:bodyPr/>
                    <a:lstStyle/>
                    <a:p>
                      <a:pPr algn="ctr" indent="0" marL="0">
                        <a:buNone/>
                      </a:pPr>
                      <a:r>
                        <a:rPr lang="en-US" sz="900" dirty="0">
                          <a:solidFill>
                            <a:srgbClr val="E2E8F0"/>
                          </a:solidFill>
                          <a:latin typeface="Calibri" pitchFamily="34" charset="0"/>
                          <a:ea typeface="Calibri" pitchFamily="34" charset="-122"/>
                          <a:cs typeface="Calibri" pitchFamily="34" charset="-120"/>
                        </a:rPr>
                        <a:t>Submit customer order</a:t>
                      </a:r>
                      <a:endParaRPr lang="en-US" sz="90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c>
                  <a:txBody>
                    <a:bodyPr/>
                    <a:lstStyle/>
                    <a:p>
                      <a:pPr algn="ctr" indent="0" marL="0">
                        <a:buNone/>
                      </a:pPr>
                      <a:r>
                        <a:rPr lang="en-US" sz="900" dirty="0">
                          <a:solidFill>
                            <a:srgbClr val="E2E8F0"/>
                          </a:solidFill>
                          <a:latin typeface="Calibri" pitchFamily="34" charset="0"/>
                          <a:ea typeface="Calibri" pitchFamily="34" charset="-122"/>
                          <a:cs typeface="Calibri" pitchFamily="34" charset="-120"/>
                        </a:rPr>
                        <a:t>Ticket lands with audio</a:t>
                      </a:r>
                      <a:endParaRPr lang="en-US" sz="90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c>
                  <a:txBody>
                    <a:bodyPr/>
                    <a:lstStyle/>
                    <a:p>
                      <a:pPr algn="ctr" indent="0" marL="0">
                        <a:buNone/>
                      </a:pPr>
                      <a:r>
                        <a:rPr lang="en-US" sz="900" dirty="0">
                          <a:solidFill>
                            <a:srgbClr val="E2E8F0"/>
                          </a:solidFill>
                          <a:latin typeface="Calibri" pitchFamily="34" charset="0"/>
                          <a:ea typeface="Calibri" pitchFamily="34" charset="-122"/>
                          <a:cs typeface="Calibri" pitchFamily="34" charset="-120"/>
                        </a:rPr>
                        <a:t>Instant ticket + chime</a:t>
                      </a:r>
                      <a:endParaRPr lang="en-US" sz="90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c>
                  <a:txBody>
                    <a:bodyPr/>
                    <a:lstStyle/>
                    <a:p>
                      <a:pPr algn="ctr" indent="0" marL="0">
                        <a:buNone/>
                      </a:pPr>
                      <a:r>
                        <a:rPr lang="en-US" sz="900" b="1" dirty="0">
                          <a:solidFill>
                            <a:srgbClr val="10B981"/>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r>
              <a:tr h="339634">
                <a:tc>
                  <a:txBody>
                    <a:bodyPr/>
                    <a:lstStyle/>
                    <a:p>
                      <a:pPr algn="ctr" indent="0" marL="0">
                        <a:buNone/>
                      </a:pPr>
                      <a:r>
                        <a:rPr lang="en-US" sz="900" b="1" dirty="0">
                          <a:solidFill>
                            <a:srgbClr val="E2E8F0"/>
                          </a:solidFill>
                          <a:latin typeface="Calibri" pitchFamily="34" charset="0"/>
                          <a:ea typeface="Calibri" pitchFamily="34" charset="-122"/>
                          <a:cs typeface="Calibri" pitchFamily="34" charset="-120"/>
                        </a:rPr>
                        <a:t>TC-06</a:t>
                      </a:r>
                      <a:endParaRPr lang="en-US" sz="90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c>
                  <a:txBody>
                    <a:bodyPr/>
                    <a:lstStyle/>
                    <a:p>
                      <a:pPr algn="ctr" indent="0" marL="0">
                        <a:buNone/>
                      </a:pPr>
                      <a:r>
                        <a:rPr lang="en-US" sz="900" dirty="0">
                          <a:solidFill>
                            <a:srgbClr val="E2E8F0"/>
                          </a:solidFill>
                          <a:latin typeface="Calibri" pitchFamily="34" charset="0"/>
                          <a:ea typeface="Calibri" pitchFamily="34" charset="-122"/>
                          <a:cs typeface="Calibri" pitchFamily="34" charset="-120"/>
                        </a:rPr>
                        <a:t>Cross-Device Responsiveness</a:t>
                      </a:r>
                      <a:endParaRPr lang="en-US" sz="90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c>
                  <a:txBody>
                    <a:bodyPr/>
                    <a:lstStyle/>
                    <a:p>
                      <a:pPr algn="ctr" indent="0" marL="0">
                        <a:buNone/>
                      </a:pPr>
                      <a:r>
                        <a:rPr lang="en-US" sz="900" dirty="0">
                          <a:solidFill>
                            <a:srgbClr val="E2E8F0"/>
                          </a:solidFill>
                          <a:latin typeface="Calibri" pitchFamily="34" charset="0"/>
                          <a:ea typeface="Calibri" pitchFamily="34" charset="-122"/>
                          <a:cs typeface="Calibri" pitchFamily="34" charset="-120"/>
                        </a:rPr>
                        <a:t>iPhone 13, Galaxy S22, Pixel</a:t>
                      </a:r>
                      <a:endParaRPr lang="en-US" sz="90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c>
                  <a:txBody>
                    <a:bodyPr/>
                    <a:lstStyle/>
                    <a:p>
                      <a:pPr algn="ctr" indent="0" marL="0">
                        <a:buNone/>
                      </a:pPr>
                      <a:r>
                        <a:rPr lang="en-US" sz="900" dirty="0">
                          <a:solidFill>
                            <a:srgbClr val="E2E8F0"/>
                          </a:solidFill>
                          <a:latin typeface="Calibri" pitchFamily="34" charset="0"/>
                          <a:ea typeface="Calibri" pitchFamily="34" charset="-122"/>
                          <a:cs typeface="Calibri" pitchFamily="34" charset="-120"/>
                        </a:rPr>
                        <a:t>Zero UI overlap/cutoff</a:t>
                      </a:r>
                      <a:endParaRPr lang="en-US" sz="90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c>
                  <a:txBody>
                    <a:bodyPr/>
                    <a:lstStyle/>
                    <a:p>
                      <a:pPr algn="ctr" indent="0" marL="0">
                        <a:buNone/>
                      </a:pPr>
                      <a:r>
                        <a:rPr lang="en-US" sz="900" dirty="0">
                          <a:solidFill>
                            <a:srgbClr val="E2E8F0"/>
                          </a:solidFill>
                          <a:latin typeface="Calibri" pitchFamily="34" charset="0"/>
                          <a:ea typeface="Calibri" pitchFamily="34" charset="-122"/>
                          <a:cs typeface="Calibri" pitchFamily="34" charset="-120"/>
                        </a:rPr>
                        <a:t>Clean mobile layout</a:t>
                      </a:r>
                      <a:endParaRPr lang="en-US" sz="90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c>
                  <a:txBody>
                    <a:bodyPr/>
                    <a:lstStyle/>
                    <a:p>
                      <a:pPr algn="ctr" indent="0" marL="0">
                        <a:buNone/>
                      </a:pPr>
                      <a:r>
                        <a:rPr lang="en-US" sz="900" b="1" dirty="0">
                          <a:solidFill>
                            <a:srgbClr val="10B981"/>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334155"/>
                      </a:solidFill>
                      <a:prstDash val="solid"/>
                      <a:round/>
                      <a:headEnd type="none" w="med" len="med"/>
                      <a:tailEnd type="none" w="med" len="med"/>
                    </a:lnL>
                    <a:lnR w="6350" cap="flat" cmpd="sng" algn="ctr">
                      <a:solidFill>
                        <a:srgbClr val="334155"/>
                      </a:solidFill>
                      <a:prstDash val="solid"/>
                      <a:round/>
                      <a:headEnd type="none" w="med" len="med"/>
                      <a:tailEnd type="none" w="med" len="med"/>
                    </a:lnR>
                    <a:lnT w="6350" cap="flat" cmpd="sng" algn="ctr">
                      <a:solidFill>
                        <a:srgbClr val="334155"/>
                      </a:solidFill>
                      <a:prstDash val="solid"/>
                      <a:round/>
                      <a:headEnd type="none" w="med" len="med"/>
                      <a:tailEnd type="none" w="med" len="med"/>
                    </a:lnT>
                    <a:lnB w="6350" cap="flat" cmpd="sng" algn="ctr">
                      <a:solidFill>
                        <a:srgbClr val="334155"/>
                      </a:solidFill>
                      <a:prstDash val="solid"/>
                      <a:round/>
                      <a:headEnd type="none" w="med" len="med"/>
                      <a:tailEnd type="none" w="med" len="med"/>
                    </a:lnB>
                  </a:tcPr>
                </a:tc>
              </a:tr>
            </a:tbl>
          </a:graphicData>
        </a:graphic>
      </p:graphicFrame>
      <p:sp>
        <p:nvSpPr>
          <p:cNvPr id="7" name="Shape 4"/>
          <p:cNvSpPr/>
          <p:nvPr/>
        </p:nvSpPr>
        <p:spPr>
          <a:xfrm>
            <a:off x="548640" y="3703320"/>
            <a:ext cx="8046720" cy="960120"/>
          </a:xfrm>
          <a:prstGeom prst="roundRect">
            <a:avLst>
              <a:gd name="adj" fmla="val 7619"/>
            </a:avLst>
          </a:prstGeom>
          <a:solidFill>
            <a:srgbClr val="1E293B"/>
          </a:solidFill>
          <a:ln w="12700">
            <a:solidFill>
              <a:srgbClr val="10B981"/>
            </a:solidFill>
            <a:prstDash val="solid"/>
          </a:ln>
        </p:spPr>
      </p:sp>
      <p:sp>
        <p:nvSpPr>
          <p:cNvPr id="8" name="Text 5"/>
          <p:cNvSpPr/>
          <p:nvPr/>
        </p:nvSpPr>
        <p:spPr>
          <a:xfrm>
            <a:off x="731520" y="3794760"/>
            <a:ext cx="7680960" cy="182880"/>
          </a:xfrm>
          <a:prstGeom prst="rect">
            <a:avLst/>
          </a:prstGeom>
          <a:noFill/>
          <a:ln/>
        </p:spPr>
        <p:txBody>
          <a:bodyPr wrap="square" lIns="0" tIns="0" rIns="0" bIns="0" rtlCol="0" anchor="ctr"/>
          <a:lstStyle/>
          <a:p>
            <a:pPr indent="0" marL="0">
              <a:buNone/>
            </a:pPr>
            <a:r>
              <a:rPr lang="en-US" sz="950" b="1" dirty="0">
                <a:solidFill>
                  <a:srgbClr val="10B981"/>
                </a:solidFill>
                <a:latin typeface="Calibri" pitchFamily="34" charset="0"/>
                <a:ea typeface="Calibri" pitchFamily="34" charset="-122"/>
                <a:cs typeface="Calibri" pitchFamily="34" charset="-120"/>
              </a:rPr>
              <a:t>TESTING METHODOLOGY &amp; VERIFICATION SUMMARY</a:t>
            </a:r>
            <a:endParaRPr lang="en-US" sz="950" dirty="0"/>
          </a:p>
        </p:txBody>
      </p:sp>
      <p:sp>
        <p:nvSpPr>
          <p:cNvPr id="9" name="Text 6"/>
          <p:cNvSpPr/>
          <p:nvPr/>
        </p:nvSpPr>
        <p:spPr>
          <a:xfrm>
            <a:off x="731520" y="4005072"/>
            <a:ext cx="7680960" cy="594360"/>
          </a:xfrm>
          <a:prstGeom prst="rect">
            <a:avLst/>
          </a:prstGeom>
          <a:noFill/>
          <a:ln/>
        </p:spPr>
        <p:txBody>
          <a:bodyPr wrap="square" lIns="0" tIns="0" rIns="0" bIns="0" rtlCol="0" anchor="ctr"/>
          <a:lstStyle/>
          <a:p>
            <a:pPr marL="342900" indent="-342900">
              <a:spcAft>
                <a:spcPts val="200"/>
              </a:spcAft>
              <a:buSzPct val="100000"/>
              <a:buChar char="•"/>
            </a:pPr>
            <a:r>
              <a:rPr lang="en-US" sz="880" dirty="0">
                <a:solidFill>
                  <a:srgbClr val="FFFFFF"/>
                </a:solidFill>
                <a:latin typeface="Calibri" pitchFamily="34" charset="0"/>
                <a:ea typeface="Calibri" pitchFamily="34" charset="-122"/>
                <a:cs typeface="Calibri" pitchFamily="34" charset="-120"/>
              </a:rPr>
              <a:t>Functional &amp; Unit Testing: Verified state reducers, cart calculations, table ID parsing, and dietary filter predicates.</a:t>
            </a:r>
            <a:endParaRPr lang="en-US" sz="880" dirty="0"/>
          </a:p>
          <a:p>
            <a:pPr marL="342900" indent="-342900">
              <a:spcAft>
                <a:spcPts val="200"/>
              </a:spcAft>
              <a:buSzPct val="100000"/>
              <a:buChar char="•"/>
            </a:pPr>
            <a:r>
              <a:rPr lang="en-US" sz="880" dirty="0">
                <a:solidFill>
                  <a:srgbClr val="FFFFFF"/>
                </a:solidFill>
                <a:latin typeface="Calibri" pitchFamily="34" charset="0"/>
                <a:ea typeface="Calibri" pitchFamily="34" charset="-122"/>
                <a:cs typeface="Calibri" pitchFamily="34" charset="-120"/>
              </a:rPr>
              <a:t>Integration &amp; AR Pipeline Testing: Validated WebXR session lifecycles, surface plane anchoring stability, and audio dispatch.</a:t>
            </a:r>
            <a:endParaRPr lang="en-US" sz="880" dirty="0"/>
          </a:p>
          <a:p>
            <a:pPr marL="342900" indent="-342900">
              <a:spcAft>
                <a:spcPts val="200"/>
              </a:spcAft>
              <a:buSzPct val="100000"/>
              <a:buChar char="•"/>
            </a:pPr>
            <a:r>
              <a:rPr lang="en-US" sz="880" dirty="0">
                <a:solidFill>
                  <a:srgbClr val="FFFFFF"/>
                </a:solidFill>
                <a:latin typeface="Calibri" pitchFamily="34" charset="0"/>
                <a:ea typeface="Calibri" pitchFamily="34" charset="-122"/>
                <a:cs typeface="Calibri" pitchFamily="34" charset="-120"/>
              </a:rPr>
              <a:t>Cross-Browser Validation: Verified compatibility across Chrome 120+, Samsung Internet, Safari iOS 17, and Edge with 100% pass rate.</a:t>
            </a:r>
            <a:endParaRPr lang="en-US" sz="88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548640" y="365760"/>
            <a:ext cx="8046720" cy="228600"/>
          </a:xfrm>
          <a:prstGeom prst="rect">
            <a:avLst/>
          </a:prstGeom>
          <a:noFill/>
          <a:ln/>
        </p:spPr>
        <p:txBody>
          <a:bodyPr wrap="square" lIns="0" tIns="0" rIns="0" bIns="0" rtlCol="0" anchor="ctr"/>
          <a:lstStyle/>
          <a:p>
            <a:pPr indent="0" marL="0">
              <a:buNone/>
            </a:pPr>
            <a:r>
              <a:rPr lang="en-US" sz="1000" b="1" spc="150" kern="0" dirty="0">
                <a:solidFill>
                  <a:srgbClr val="38BDF8"/>
                </a:solidFill>
                <a:latin typeface="Calibri" pitchFamily="34" charset="0"/>
                <a:ea typeface="Calibri" pitchFamily="34" charset="-122"/>
                <a:cs typeface="Calibri" pitchFamily="34" charset="-120"/>
              </a:rPr>
              <a:t>EXPERIMENTAL RESULTS</a:t>
            </a:r>
            <a:endParaRPr lang="en-US" sz="1000" dirty="0"/>
          </a:p>
        </p:txBody>
      </p:sp>
      <p:sp>
        <p:nvSpPr>
          <p:cNvPr id="3" name="Text 1"/>
          <p:cNvSpPr/>
          <p:nvPr/>
        </p:nvSpPr>
        <p:spPr>
          <a:xfrm>
            <a:off x="548640" y="594360"/>
            <a:ext cx="8046720" cy="41148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Quantitative Performance Benchmarks &amp; Optimization Results</a:t>
            </a:r>
            <a:endParaRPr lang="en-US" sz="2200" dirty="0"/>
          </a:p>
        </p:txBody>
      </p:sp>
      <p:sp>
        <p:nvSpPr>
          <p:cNvPr id="4" name="Text 2"/>
          <p:cNvSpPr/>
          <p:nvPr/>
        </p:nvSpPr>
        <p:spPr>
          <a:xfrm>
            <a:off x="548640" y="4800600"/>
            <a:ext cx="5943600" cy="228600"/>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5" name="Text 3"/>
          <p:cNvSpPr/>
          <p:nvPr/>
        </p:nvSpPr>
        <p:spPr>
          <a:xfrm>
            <a:off x="6583680" y="4800600"/>
            <a:ext cx="2011680" cy="228600"/>
          </a:xfrm>
          <a:prstGeom prst="rect">
            <a:avLst/>
          </a:prstGeom>
          <a:noFill/>
          <a:ln/>
        </p:spPr>
        <p:txBody>
          <a:bodyPr wrap="square" lIns="0" tIns="0" rIns="0" bIns="0" rtlCol="0" anchor="ctr"/>
          <a:lstStyle/>
          <a:p>
            <a:pPr algn="r" indent="0" marL="0">
              <a:buNone/>
            </a:pPr>
            <a:r>
              <a:rPr lang="en-US" sz="900" dirty="0">
                <a:solidFill>
                  <a:srgbClr val="38BDF8"/>
                </a:solidFill>
                <a:latin typeface="Calibri" pitchFamily="34" charset="0"/>
                <a:ea typeface="Calibri" pitchFamily="34" charset="-122"/>
                <a:cs typeface="Calibri" pitchFamily="34" charset="-120"/>
              </a:rPr>
              <a:t>https://smart-restaurant-2za8.vercel.app/</a:t>
            </a:r>
            <a:endParaRPr lang="en-US" sz="900" dirty="0"/>
          </a:p>
        </p:txBody>
      </p:sp>
      <p:graphicFrame>
        <p:nvGraphicFramePr>
          <p:cNvPr id="6" name="Chart 0" descr=""/>
          <p:cNvGraphicFramePr/>
          <p:nvPr/>
        </p:nvGraphicFramePr>
        <p:xfrm>
          <a:off x="548640" y="1188720"/>
          <a:ext cx="4389120" cy="34290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120640" y="1188720"/>
            <a:ext cx="3474720" cy="749808"/>
          </a:xfrm>
          <a:prstGeom prst="roundRect">
            <a:avLst>
              <a:gd name="adj" fmla="val 9756"/>
            </a:avLst>
          </a:prstGeom>
          <a:solidFill>
            <a:srgbClr val="1E293B"/>
          </a:solidFill>
          <a:ln w="12700">
            <a:solidFill>
              <a:srgbClr val="334155"/>
            </a:solidFill>
            <a:prstDash val="solid"/>
          </a:ln>
        </p:spPr>
      </p:sp>
      <p:sp>
        <p:nvSpPr>
          <p:cNvPr id="8" name="Text 5"/>
          <p:cNvSpPr/>
          <p:nvPr/>
        </p:nvSpPr>
        <p:spPr>
          <a:xfrm>
            <a:off x="5303520" y="1280160"/>
            <a:ext cx="2011680" cy="182880"/>
          </a:xfrm>
          <a:prstGeom prst="rect">
            <a:avLst/>
          </a:prstGeom>
          <a:noFill/>
          <a:ln/>
        </p:spPr>
        <p:txBody>
          <a:bodyPr wrap="square" lIns="0" tIns="0" rIns="0" bIns="0" rtlCol="0" anchor="ctr"/>
          <a:lstStyle/>
          <a:p>
            <a:pPr indent="0" marL="0">
              <a:buNone/>
            </a:pPr>
            <a:r>
              <a:rPr lang="en-US" sz="850" b="1" dirty="0">
                <a:solidFill>
                  <a:srgbClr val="38BDF8"/>
                </a:solidFill>
                <a:latin typeface="Calibri" pitchFamily="34" charset="0"/>
                <a:ea typeface="Calibri" pitchFamily="34" charset="-122"/>
                <a:cs typeface="Calibri" pitchFamily="34" charset="-120"/>
              </a:rPr>
              <a:t>MOBILE LOAD LATENCY</a:t>
            </a:r>
            <a:endParaRPr lang="en-US" sz="850" dirty="0"/>
          </a:p>
        </p:txBody>
      </p:sp>
      <p:sp>
        <p:nvSpPr>
          <p:cNvPr id="9" name="Text 6"/>
          <p:cNvSpPr/>
          <p:nvPr/>
        </p:nvSpPr>
        <p:spPr>
          <a:xfrm>
            <a:off x="7132320" y="1261872"/>
            <a:ext cx="1280160" cy="228600"/>
          </a:xfrm>
          <a:prstGeom prst="rect">
            <a:avLst/>
          </a:prstGeom>
          <a:noFill/>
          <a:ln/>
        </p:spPr>
        <p:txBody>
          <a:bodyPr wrap="square" lIns="0" tIns="0" rIns="0" bIns="0" rtlCol="0" anchor="ctr"/>
          <a:lstStyle/>
          <a:p>
            <a:pPr algn="r" indent="0" marL="0">
              <a:buNone/>
            </a:pPr>
            <a:r>
              <a:rPr lang="en-US" sz="1100" b="1" dirty="0">
                <a:solidFill>
                  <a:srgbClr val="FFFFFF"/>
                </a:solidFill>
                <a:latin typeface="Cambria" pitchFamily="34" charset="0"/>
                <a:ea typeface="Cambria" pitchFamily="34" charset="-122"/>
                <a:cs typeface="Cambria" pitchFamily="34" charset="-120"/>
              </a:rPr>
              <a:t>1.8 Seconds</a:t>
            </a:r>
            <a:endParaRPr lang="en-US" sz="1100" dirty="0"/>
          </a:p>
        </p:txBody>
      </p:sp>
      <p:sp>
        <p:nvSpPr>
          <p:cNvPr id="10" name="Text 7"/>
          <p:cNvSpPr/>
          <p:nvPr/>
        </p:nvSpPr>
        <p:spPr>
          <a:xfrm>
            <a:off x="5303520" y="1508760"/>
            <a:ext cx="3108960" cy="365760"/>
          </a:xfrm>
          <a:prstGeom prst="rect">
            <a:avLst/>
          </a:prstGeom>
          <a:noFill/>
          <a:ln/>
        </p:spPr>
        <p:txBody>
          <a:bodyPr wrap="square" lIns="0" tIns="0" rIns="0" bIns="0" rtlCol="0" anchor="ctr"/>
          <a:lstStyle/>
          <a:p>
            <a:pPr indent="0" marL="0">
              <a:buNone/>
            </a:pPr>
            <a:r>
              <a:rPr lang="en-US" sz="850" dirty="0">
                <a:solidFill>
                  <a:srgbClr val="E2E8F0"/>
                </a:solidFill>
                <a:latin typeface="Calibri" pitchFamily="34" charset="0"/>
                <a:ea typeface="Calibri" pitchFamily="34" charset="-122"/>
                <a:cs typeface="Calibri" pitchFamily="34" charset="-120"/>
              </a:rPr>
              <a:t>Reduced from 14.2s (87% faster download) over 4G LTE mobile connections.</a:t>
            </a:r>
            <a:endParaRPr lang="en-US" sz="850" dirty="0"/>
          </a:p>
        </p:txBody>
      </p:sp>
      <p:sp>
        <p:nvSpPr>
          <p:cNvPr id="11" name="Shape 8"/>
          <p:cNvSpPr/>
          <p:nvPr/>
        </p:nvSpPr>
        <p:spPr>
          <a:xfrm>
            <a:off x="5120640" y="2029968"/>
            <a:ext cx="3474720" cy="749808"/>
          </a:xfrm>
          <a:prstGeom prst="roundRect">
            <a:avLst>
              <a:gd name="adj" fmla="val 9756"/>
            </a:avLst>
          </a:prstGeom>
          <a:solidFill>
            <a:srgbClr val="1E293B"/>
          </a:solidFill>
          <a:ln w="12700">
            <a:solidFill>
              <a:srgbClr val="334155"/>
            </a:solidFill>
            <a:prstDash val="solid"/>
          </a:ln>
        </p:spPr>
      </p:sp>
      <p:sp>
        <p:nvSpPr>
          <p:cNvPr id="12" name="Text 9"/>
          <p:cNvSpPr/>
          <p:nvPr/>
        </p:nvSpPr>
        <p:spPr>
          <a:xfrm>
            <a:off x="5303520" y="2121408"/>
            <a:ext cx="2011680" cy="182880"/>
          </a:xfrm>
          <a:prstGeom prst="rect">
            <a:avLst/>
          </a:prstGeom>
          <a:noFill/>
          <a:ln/>
        </p:spPr>
        <p:txBody>
          <a:bodyPr wrap="square" lIns="0" tIns="0" rIns="0" bIns="0" rtlCol="0" anchor="ctr"/>
          <a:lstStyle/>
          <a:p>
            <a:pPr indent="0" marL="0">
              <a:buNone/>
            </a:pPr>
            <a:r>
              <a:rPr lang="en-US" sz="850" b="1" dirty="0">
                <a:solidFill>
                  <a:srgbClr val="10B981"/>
                </a:solidFill>
                <a:latin typeface="Calibri" pitchFamily="34" charset="0"/>
                <a:ea typeface="Calibri" pitchFamily="34" charset="-122"/>
                <a:cs typeface="Calibri" pitchFamily="34" charset="-120"/>
              </a:rPr>
              <a:t>SUSTAINED FRAME RATE</a:t>
            </a:r>
            <a:endParaRPr lang="en-US" sz="850" dirty="0"/>
          </a:p>
        </p:txBody>
      </p:sp>
      <p:sp>
        <p:nvSpPr>
          <p:cNvPr id="13" name="Text 10"/>
          <p:cNvSpPr/>
          <p:nvPr/>
        </p:nvSpPr>
        <p:spPr>
          <a:xfrm>
            <a:off x="7132320" y="2103120"/>
            <a:ext cx="1280160" cy="228600"/>
          </a:xfrm>
          <a:prstGeom prst="rect">
            <a:avLst/>
          </a:prstGeom>
          <a:noFill/>
          <a:ln/>
        </p:spPr>
        <p:txBody>
          <a:bodyPr wrap="square" lIns="0" tIns="0" rIns="0" bIns="0" rtlCol="0" anchor="ctr"/>
          <a:lstStyle/>
          <a:p>
            <a:pPr algn="r" indent="0" marL="0">
              <a:buNone/>
            </a:pPr>
            <a:r>
              <a:rPr lang="en-US" sz="1100" b="1" dirty="0">
                <a:solidFill>
                  <a:srgbClr val="FFFFFF"/>
                </a:solidFill>
                <a:latin typeface="Cambria" pitchFamily="34" charset="0"/>
                <a:ea typeface="Cambria" pitchFamily="34" charset="-122"/>
                <a:cs typeface="Cambria" pitchFamily="34" charset="-120"/>
              </a:rPr>
              <a:t>58 – 60 FPS</a:t>
            </a:r>
            <a:endParaRPr lang="en-US" sz="1100" dirty="0"/>
          </a:p>
        </p:txBody>
      </p:sp>
      <p:sp>
        <p:nvSpPr>
          <p:cNvPr id="14" name="Text 11"/>
          <p:cNvSpPr/>
          <p:nvPr/>
        </p:nvSpPr>
        <p:spPr>
          <a:xfrm>
            <a:off x="5303520" y="2350008"/>
            <a:ext cx="3108960" cy="365760"/>
          </a:xfrm>
          <a:prstGeom prst="rect">
            <a:avLst/>
          </a:prstGeom>
          <a:noFill/>
          <a:ln/>
        </p:spPr>
        <p:txBody>
          <a:bodyPr wrap="square" lIns="0" tIns="0" rIns="0" bIns="0" rtlCol="0" anchor="ctr"/>
          <a:lstStyle/>
          <a:p>
            <a:pPr indent="0" marL="0">
              <a:buNone/>
            </a:pPr>
            <a:r>
              <a:rPr lang="en-US" sz="850" dirty="0">
                <a:solidFill>
                  <a:srgbClr val="E2E8F0"/>
                </a:solidFill>
                <a:latin typeface="Calibri" pitchFamily="34" charset="0"/>
                <a:ea typeface="Calibri" pitchFamily="34" charset="-122"/>
                <a:cs typeface="Calibri" pitchFamily="34" charset="-120"/>
              </a:rPr>
              <a:t>Fluid 60 FPS WebGL rendering on mid-range devices with zero thermal throttling.</a:t>
            </a:r>
            <a:endParaRPr lang="en-US" sz="850" dirty="0"/>
          </a:p>
        </p:txBody>
      </p:sp>
      <p:sp>
        <p:nvSpPr>
          <p:cNvPr id="15" name="Shape 12"/>
          <p:cNvSpPr/>
          <p:nvPr/>
        </p:nvSpPr>
        <p:spPr>
          <a:xfrm>
            <a:off x="5120640" y="2871216"/>
            <a:ext cx="3474720" cy="749808"/>
          </a:xfrm>
          <a:prstGeom prst="roundRect">
            <a:avLst>
              <a:gd name="adj" fmla="val 9756"/>
            </a:avLst>
          </a:prstGeom>
          <a:solidFill>
            <a:srgbClr val="1E293B"/>
          </a:solidFill>
          <a:ln w="12700">
            <a:solidFill>
              <a:srgbClr val="334155"/>
            </a:solidFill>
            <a:prstDash val="solid"/>
          </a:ln>
        </p:spPr>
      </p:sp>
      <p:sp>
        <p:nvSpPr>
          <p:cNvPr id="16" name="Text 13"/>
          <p:cNvSpPr/>
          <p:nvPr/>
        </p:nvSpPr>
        <p:spPr>
          <a:xfrm>
            <a:off x="5303520" y="2962656"/>
            <a:ext cx="2011680" cy="182880"/>
          </a:xfrm>
          <a:prstGeom prst="rect">
            <a:avLst/>
          </a:prstGeom>
          <a:noFill/>
          <a:ln/>
        </p:spPr>
        <p:txBody>
          <a:bodyPr wrap="square" lIns="0" tIns="0" rIns="0" bIns="0" rtlCol="0" anchor="ctr"/>
          <a:lstStyle/>
          <a:p>
            <a:pPr indent="0" marL="0">
              <a:buNone/>
            </a:pPr>
            <a:r>
              <a:rPr lang="en-US" sz="850" b="1" dirty="0">
                <a:solidFill>
                  <a:srgbClr val="F59E0B"/>
                </a:solidFill>
                <a:latin typeface="Calibri" pitchFamily="34" charset="0"/>
                <a:ea typeface="Calibri" pitchFamily="34" charset="-122"/>
                <a:cs typeface="Calibri" pitchFamily="34" charset="-120"/>
              </a:rPr>
              <a:t>PEAK MEMORY FOOTPRINT</a:t>
            </a:r>
            <a:endParaRPr lang="en-US" sz="850" dirty="0"/>
          </a:p>
        </p:txBody>
      </p:sp>
      <p:sp>
        <p:nvSpPr>
          <p:cNvPr id="17" name="Text 14"/>
          <p:cNvSpPr/>
          <p:nvPr/>
        </p:nvSpPr>
        <p:spPr>
          <a:xfrm>
            <a:off x="7132320" y="2944368"/>
            <a:ext cx="1280160" cy="228600"/>
          </a:xfrm>
          <a:prstGeom prst="rect">
            <a:avLst/>
          </a:prstGeom>
          <a:noFill/>
          <a:ln/>
        </p:spPr>
        <p:txBody>
          <a:bodyPr wrap="square" lIns="0" tIns="0" rIns="0" bIns="0" rtlCol="0" anchor="ctr"/>
          <a:lstStyle/>
          <a:p>
            <a:pPr algn="r" indent="0" marL="0">
              <a:buNone/>
            </a:pPr>
            <a:r>
              <a:rPr lang="en-US" sz="1100" b="1" dirty="0">
                <a:solidFill>
                  <a:srgbClr val="FFFFFF"/>
                </a:solidFill>
                <a:latin typeface="Cambria" pitchFamily="34" charset="0"/>
                <a:ea typeface="Cambria" pitchFamily="34" charset="-122"/>
                <a:cs typeface="Cambria" pitchFamily="34" charset="-120"/>
              </a:rPr>
              <a:t>110 MB Heap</a:t>
            </a:r>
            <a:endParaRPr lang="en-US" sz="1100" dirty="0"/>
          </a:p>
        </p:txBody>
      </p:sp>
      <p:sp>
        <p:nvSpPr>
          <p:cNvPr id="18" name="Text 15"/>
          <p:cNvSpPr/>
          <p:nvPr/>
        </p:nvSpPr>
        <p:spPr>
          <a:xfrm>
            <a:off x="5303520" y="3191256"/>
            <a:ext cx="3108960" cy="365760"/>
          </a:xfrm>
          <a:prstGeom prst="rect">
            <a:avLst/>
          </a:prstGeom>
          <a:noFill/>
          <a:ln/>
        </p:spPr>
        <p:txBody>
          <a:bodyPr wrap="square" lIns="0" tIns="0" rIns="0" bIns="0" rtlCol="0" anchor="ctr"/>
          <a:lstStyle/>
          <a:p>
            <a:pPr indent="0" marL="0">
              <a:buNone/>
            </a:pPr>
            <a:r>
              <a:rPr lang="en-US" sz="850" dirty="0">
                <a:solidFill>
                  <a:srgbClr val="E2E8F0"/>
                </a:solidFill>
                <a:latin typeface="Calibri" pitchFamily="34" charset="0"/>
                <a:ea typeface="Calibri" pitchFamily="34" charset="-122"/>
                <a:cs typeface="Calibri" pitchFamily="34" charset="-120"/>
              </a:rPr>
              <a:t>Reduced from 380MB JS heap allocation, completely eliminating mobile OOM crashes.</a:t>
            </a:r>
            <a:endParaRPr lang="en-US" sz="850" dirty="0"/>
          </a:p>
        </p:txBody>
      </p:sp>
      <p:sp>
        <p:nvSpPr>
          <p:cNvPr id="19" name="Shape 16"/>
          <p:cNvSpPr/>
          <p:nvPr/>
        </p:nvSpPr>
        <p:spPr>
          <a:xfrm>
            <a:off x="5120640" y="3712464"/>
            <a:ext cx="3474720" cy="749808"/>
          </a:xfrm>
          <a:prstGeom prst="roundRect">
            <a:avLst>
              <a:gd name="adj" fmla="val 9756"/>
            </a:avLst>
          </a:prstGeom>
          <a:solidFill>
            <a:srgbClr val="1E293B"/>
          </a:solidFill>
          <a:ln w="12700">
            <a:solidFill>
              <a:srgbClr val="334155"/>
            </a:solidFill>
            <a:prstDash val="solid"/>
          </a:ln>
        </p:spPr>
      </p:sp>
      <p:sp>
        <p:nvSpPr>
          <p:cNvPr id="20" name="Text 17"/>
          <p:cNvSpPr/>
          <p:nvPr/>
        </p:nvSpPr>
        <p:spPr>
          <a:xfrm>
            <a:off x="5303520" y="3803904"/>
            <a:ext cx="2011680" cy="182880"/>
          </a:xfrm>
          <a:prstGeom prst="rect">
            <a:avLst/>
          </a:prstGeom>
          <a:noFill/>
          <a:ln/>
        </p:spPr>
        <p:txBody>
          <a:bodyPr wrap="square" lIns="0" tIns="0" rIns="0" bIns="0" rtlCol="0" anchor="ctr"/>
          <a:lstStyle/>
          <a:p>
            <a:pPr indent="0" marL="0">
              <a:buNone/>
            </a:pPr>
            <a:r>
              <a:rPr lang="en-US" sz="850" b="1" dirty="0">
                <a:solidFill>
                  <a:srgbClr val="F43F5E"/>
                </a:solidFill>
                <a:latin typeface="Calibri" pitchFamily="34" charset="0"/>
                <a:ea typeface="Calibri" pitchFamily="34" charset="-122"/>
                <a:cs typeface="Calibri" pitchFamily="34" charset="-120"/>
              </a:rPr>
              <a:t>USER ORDERING CONFIDENCE</a:t>
            </a:r>
            <a:endParaRPr lang="en-US" sz="850" dirty="0"/>
          </a:p>
        </p:txBody>
      </p:sp>
      <p:sp>
        <p:nvSpPr>
          <p:cNvPr id="21" name="Text 18"/>
          <p:cNvSpPr/>
          <p:nvPr/>
        </p:nvSpPr>
        <p:spPr>
          <a:xfrm>
            <a:off x="7132320" y="3785616"/>
            <a:ext cx="1280160" cy="228600"/>
          </a:xfrm>
          <a:prstGeom prst="rect">
            <a:avLst/>
          </a:prstGeom>
          <a:noFill/>
          <a:ln/>
        </p:spPr>
        <p:txBody>
          <a:bodyPr wrap="square" lIns="0" tIns="0" rIns="0" bIns="0" rtlCol="0" anchor="ctr"/>
          <a:lstStyle/>
          <a:p>
            <a:pPr algn="r" indent="0" marL="0">
              <a:buNone/>
            </a:pPr>
            <a:r>
              <a:rPr lang="en-US" sz="1100" b="1" dirty="0">
                <a:solidFill>
                  <a:srgbClr val="FFFFFF"/>
                </a:solidFill>
                <a:latin typeface="Cambria" pitchFamily="34" charset="0"/>
                <a:ea typeface="Cambria" pitchFamily="34" charset="-122"/>
                <a:cs typeface="Cambria" pitchFamily="34" charset="-120"/>
              </a:rPr>
              <a:t>89.4% Rating</a:t>
            </a:r>
            <a:endParaRPr lang="en-US" sz="1100" dirty="0"/>
          </a:p>
        </p:txBody>
      </p:sp>
      <p:sp>
        <p:nvSpPr>
          <p:cNvPr id="22" name="Text 19"/>
          <p:cNvSpPr/>
          <p:nvPr/>
        </p:nvSpPr>
        <p:spPr>
          <a:xfrm>
            <a:off x="5303520" y="4032504"/>
            <a:ext cx="3108960" cy="365760"/>
          </a:xfrm>
          <a:prstGeom prst="rect">
            <a:avLst/>
          </a:prstGeom>
          <a:noFill/>
          <a:ln/>
        </p:spPr>
        <p:txBody>
          <a:bodyPr wrap="square" lIns="0" tIns="0" rIns="0" bIns="0" rtlCol="0" anchor="ctr"/>
          <a:lstStyle/>
          <a:p>
            <a:pPr indent="0" marL="0">
              <a:buNone/>
            </a:pPr>
            <a:r>
              <a:rPr lang="en-US" sz="850" dirty="0">
                <a:solidFill>
                  <a:srgbClr val="E2E8F0"/>
                </a:solidFill>
                <a:latin typeface="Calibri" pitchFamily="34" charset="0"/>
                <a:ea typeface="Calibri" pitchFamily="34" charset="-122"/>
                <a:cs typeface="Calibri" pitchFamily="34" charset="-120"/>
              </a:rPr>
              <a:t>Patrons reported higher portion certainty and reduced hesitation during menu selection.</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548640" y="365760"/>
            <a:ext cx="8046720" cy="228600"/>
          </a:xfrm>
          <a:prstGeom prst="rect">
            <a:avLst/>
          </a:prstGeom>
          <a:noFill/>
          <a:ln/>
        </p:spPr>
        <p:txBody>
          <a:bodyPr wrap="square" lIns="0" tIns="0" rIns="0" bIns="0" rtlCol="0" anchor="ctr"/>
          <a:lstStyle/>
          <a:p>
            <a:pPr indent="0" marL="0">
              <a:buNone/>
            </a:pPr>
            <a:r>
              <a:rPr lang="en-US" sz="1000" b="1" spc="150" kern="0" dirty="0">
                <a:solidFill>
                  <a:srgbClr val="38BDF8"/>
                </a:solidFill>
                <a:latin typeface="Calibri" pitchFamily="34" charset="0"/>
                <a:ea typeface="Calibri" pitchFamily="34" charset="-122"/>
                <a:cs typeface="Calibri" pitchFamily="34" charset="-120"/>
              </a:rPr>
              <a:t>RUBRIC CRITERION 9 (20 MARKS)</a:t>
            </a:r>
            <a:endParaRPr lang="en-US" sz="1000" dirty="0"/>
          </a:p>
        </p:txBody>
      </p:sp>
      <p:sp>
        <p:nvSpPr>
          <p:cNvPr id="3" name="Text 1"/>
          <p:cNvSpPr/>
          <p:nvPr/>
        </p:nvSpPr>
        <p:spPr>
          <a:xfrm>
            <a:off x="548640" y="594360"/>
            <a:ext cx="8046720" cy="41148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Research Paper: Academic Contribution, Methodology &amp; Status</a:t>
            </a:r>
            <a:endParaRPr lang="en-US" sz="2200" dirty="0"/>
          </a:p>
        </p:txBody>
      </p:sp>
      <p:sp>
        <p:nvSpPr>
          <p:cNvPr id="4" name="Text 2"/>
          <p:cNvSpPr/>
          <p:nvPr/>
        </p:nvSpPr>
        <p:spPr>
          <a:xfrm>
            <a:off x="548640" y="4800600"/>
            <a:ext cx="5943600" cy="228600"/>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5" name="Text 3"/>
          <p:cNvSpPr/>
          <p:nvPr/>
        </p:nvSpPr>
        <p:spPr>
          <a:xfrm>
            <a:off x="6583680" y="4800600"/>
            <a:ext cx="2011680" cy="228600"/>
          </a:xfrm>
          <a:prstGeom prst="rect">
            <a:avLst/>
          </a:prstGeom>
          <a:noFill/>
          <a:ln/>
        </p:spPr>
        <p:txBody>
          <a:bodyPr wrap="square" lIns="0" tIns="0" rIns="0" bIns="0" rtlCol="0" anchor="ctr"/>
          <a:lstStyle/>
          <a:p>
            <a:pPr algn="r" indent="0" marL="0">
              <a:buNone/>
            </a:pPr>
            <a:r>
              <a:rPr lang="en-US" sz="900" dirty="0">
                <a:solidFill>
                  <a:srgbClr val="38BDF8"/>
                </a:solidFill>
                <a:latin typeface="Calibri" pitchFamily="34" charset="0"/>
                <a:ea typeface="Calibri" pitchFamily="34" charset="-122"/>
                <a:cs typeface="Calibri" pitchFamily="34" charset="-120"/>
              </a:rPr>
              <a:t>https://smart-restaurant-2za8.vercel.app/</a:t>
            </a:r>
            <a:endParaRPr lang="en-US" sz="900" dirty="0"/>
          </a:p>
        </p:txBody>
      </p:sp>
      <p:sp>
        <p:nvSpPr>
          <p:cNvPr id="6" name="Shape 4"/>
          <p:cNvSpPr/>
          <p:nvPr/>
        </p:nvSpPr>
        <p:spPr>
          <a:xfrm>
            <a:off x="548640" y="1188720"/>
            <a:ext cx="8046720" cy="868680"/>
          </a:xfrm>
          <a:prstGeom prst="roundRect">
            <a:avLst>
              <a:gd name="adj" fmla="val 8421"/>
            </a:avLst>
          </a:prstGeom>
          <a:solidFill>
            <a:srgbClr val="172554"/>
          </a:solidFill>
          <a:ln w="12700">
            <a:solidFill>
              <a:srgbClr val="38BDF8"/>
            </a:solidFill>
            <a:prstDash val="solid"/>
          </a:ln>
        </p:spPr>
      </p:sp>
      <p:sp>
        <p:nvSpPr>
          <p:cNvPr id="7" name="Text 5"/>
          <p:cNvSpPr/>
          <p:nvPr/>
        </p:nvSpPr>
        <p:spPr>
          <a:xfrm>
            <a:off x="731520" y="1280160"/>
            <a:ext cx="7680960" cy="182880"/>
          </a:xfrm>
          <a:prstGeom prst="rect">
            <a:avLst/>
          </a:prstGeom>
          <a:noFill/>
          <a:ln/>
        </p:spPr>
        <p:txBody>
          <a:bodyPr wrap="square" lIns="0" tIns="0" rIns="0" bIns="0" rtlCol="0" anchor="ctr"/>
          <a:lstStyle/>
          <a:p>
            <a:pPr indent="0" marL="0">
              <a:buNone/>
            </a:pPr>
            <a:r>
              <a:rPr lang="en-US" sz="900" b="1" dirty="0">
                <a:solidFill>
                  <a:srgbClr val="38BDF8"/>
                </a:solidFill>
                <a:latin typeface="Calibri" pitchFamily="34" charset="0"/>
                <a:ea typeface="Calibri" pitchFamily="34" charset="-122"/>
                <a:cs typeface="Calibri" pitchFamily="34" charset="-120"/>
              </a:rPr>
              <a:t>RESEARCH PAPER TITLE &amp; CITATION</a:t>
            </a:r>
            <a:endParaRPr lang="en-US" sz="900" dirty="0"/>
          </a:p>
        </p:txBody>
      </p:sp>
      <p:sp>
        <p:nvSpPr>
          <p:cNvPr id="8" name="Text 6"/>
          <p:cNvSpPr/>
          <p:nvPr/>
        </p:nvSpPr>
        <p:spPr>
          <a:xfrm>
            <a:off x="731520" y="1463040"/>
            <a:ext cx="7680960" cy="32004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A Zero-Install WebXR and Cloud-Assisted Spatial Computing Architecture for Contactless Smart Restaurant Menus</a:t>
            </a:r>
            <a:endParaRPr lang="en-US" sz="1300" dirty="0"/>
          </a:p>
        </p:txBody>
      </p:sp>
      <p:sp>
        <p:nvSpPr>
          <p:cNvPr id="9" name="Text 7"/>
          <p:cNvSpPr/>
          <p:nvPr/>
        </p:nvSpPr>
        <p:spPr>
          <a:xfrm>
            <a:off x="731520" y="1783080"/>
            <a:ext cx="7680960" cy="201168"/>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Authors: Manav Singh, Sanskar Suryavanshi, Kesar Singh  |  Guide: Prof. Vinitta Sunish  |  TCET Mumbai</a:t>
            </a:r>
            <a:endParaRPr lang="en-US" sz="950" dirty="0"/>
          </a:p>
        </p:txBody>
      </p:sp>
      <p:sp>
        <p:nvSpPr>
          <p:cNvPr id="10" name="Shape 8"/>
          <p:cNvSpPr/>
          <p:nvPr/>
        </p:nvSpPr>
        <p:spPr>
          <a:xfrm>
            <a:off x="548640" y="2194560"/>
            <a:ext cx="2560320" cy="2423160"/>
          </a:xfrm>
          <a:prstGeom prst="roundRect">
            <a:avLst>
              <a:gd name="adj" fmla="val 3019"/>
            </a:avLst>
          </a:prstGeom>
          <a:solidFill>
            <a:srgbClr val="1E293B"/>
          </a:solidFill>
          <a:ln w="12700">
            <a:solidFill>
              <a:srgbClr val="334155"/>
            </a:solidFill>
            <a:prstDash val="solid"/>
          </a:ln>
        </p:spPr>
      </p:sp>
      <p:sp>
        <p:nvSpPr>
          <p:cNvPr id="11" name="Text 9"/>
          <p:cNvSpPr/>
          <p:nvPr/>
        </p:nvSpPr>
        <p:spPr>
          <a:xfrm>
            <a:off x="731520" y="2377440"/>
            <a:ext cx="2194560" cy="320040"/>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Methodology &amp; Spatial Pipeline</a:t>
            </a:r>
            <a:endParaRPr lang="en-US" sz="1200" dirty="0"/>
          </a:p>
        </p:txBody>
      </p:sp>
      <p:sp>
        <p:nvSpPr>
          <p:cNvPr id="12" name="Text 10"/>
          <p:cNvSpPr/>
          <p:nvPr/>
        </p:nvSpPr>
        <p:spPr>
          <a:xfrm>
            <a:off x="731520" y="2788920"/>
            <a:ext cx="2194560" cy="164592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E2E8F0"/>
                </a:solidFill>
                <a:latin typeface="Calibri" pitchFamily="34" charset="0"/>
                <a:ea typeface="Calibri" pitchFamily="34" charset="-122"/>
                <a:cs typeface="Calibri" pitchFamily="34" charset="-120"/>
              </a:rPr>
              <a:t>Formulated mathematical ray-plane intersection model using WebXR `requestHitTestSource`.</a:t>
            </a:r>
            <a:endParaRPr lang="en-US" sz="950" dirty="0"/>
          </a:p>
          <a:p>
            <a:pPr marL="342900" indent="-342900">
              <a:spcAft>
                <a:spcPts val="400"/>
              </a:spcAft>
              <a:buSzPct val="100000"/>
              <a:buChar char="•"/>
            </a:pPr>
            <a:r>
              <a:rPr lang="en-US" sz="950" dirty="0">
                <a:solidFill>
                  <a:srgbClr val="E2E8F0"/>
                </a:solidFill>
                <a:latin typeface="Calibri" pitchFamily="34" charset="0"/>
                <a:ea typeface="Calibri" pitchFamily="34" charset="-122"/>
                <a:cs typeface="Calibri" pitchFamily="34" charset="-120"/>
              </a:rPr>
              <a:t>Automated glTF optimization pipeline reducing photogrammetry payload sizes by 78%.</a:t>
            </a:r>
            <a:endParaRPr lang="en-US" sz="950" dirty="0"/>
          </a:p>
          <a:p>
            <a:pPr marL="342900" indent="-342900">
              <a:spcAft>
                <a:spcPts val="400"/>
              </a:spcAft>
              <a:buSzPct val="100000"/>
              <a:buChar char="•"/>
            </a:pPr>
            <a:r>
              <a:rPr lang="en-US" sz="950" dirty="0">
                <a:solidFill>
                  <a:srgbClr val="E2E8F0"/>
                </a:solidFill>
                <a:latin typeface="Calibri" pitchFamily="34" charset="0"/>
                <a:ea typeface="Calibri" pitchFamily="34" charset="-122"/>
                <a:cs typeface="Calibri" pitchFamily="34" charset="-120"/>
              </a:rPr>
              <a:t>Architected dual-engine spatial fallback sniffing device capabilities dynamically.</a:t>
            </a:r>
            <a:endParaRPr lang="en-US" sz="950" dirty="0"/>
          </a:p>
        </p:txBody>
      </p:sp>
      <p:sp>
        <p:nvSpPr>
          <p:cNvPr id="13" name="Shape 11"/>
          <p:cNvSpPr/>
          <p:nvPr/>
        </p:nvSpPr>
        <p:spPr>
          <a:xfrm>
            <a:off x="3291840" y="2194560"/>
            <a:ext cx="2560320" cy="2423160"/>
          </a:xfrm>
          <a:prstGeom prst="roundRect">
            <a:avLst>
              <a:gd name="adj" fmla="val 3019"/>
            </a:avLst>
          </a:prstGeom>
          <a:solidFill>
            <a:srgbClr val="1E293B"/>
          </a:solidFill>
          <a:ln w="12700">
            <a:solidFill>
              <a:srgbClr val="334155"/>
            </a:solidFill>
            <a:prstDash val="solid"/>
          </a:ln>
        </p:spPr>
      </p:sp>
      <p:sp>
        <p:nvSpPr>
          <p:cNvPr id="14" name="Text 12"/>
          <p:cNvSpPr/>
          <p:nvPr/>
        </p:nvSpPr>
        <p:spPr>
          <a:xfrm>
            <a:off x="3474720" y="2377440"/>
            <a:ext cx="2194560" cy="320040"/>
          </a:xfrm>
          <a:prstGeom prst="rect">
            <a:avLst/>
          </a:prstGeom>
          <a:noFill/>
          <a:ln/>
        </p:spPr>
        <p:txBody>
          <a:bodyPr wrap="square" lIns="0" tIns="0" rIns="0" bIns="0" rtlCol="0" anchor="ctr"/>
          <a:lstStyle/>
          <a:p>
            <a:pPr indent="0" marL="0">
              <a:buNone/>
            </a:pPr>
            <a:r>
              <a:rPr lang="en-US" sz="1200" b="1" dirty="0">
                <a:solidFill>
                  <a:srgbClr val="10B981"/>
                </a:solidFill>
                <a:latin typeface="Cambria" pitchFamily="34" charset="0"/>
                <a:ea typeface="Cambria" pitchFamily="34" charset="-122"/>
                <a:cs typeface="Cambria" pitchFamily="34" charset="-120"/>
              </a:rPr>
              <a:t>Core Research Contribution</a:t>
            </a:r>
            <a:endParaRPr lang="en-US" sz="1200" dirty="0"/>
          </a:p>
        </p:txBody>
      </p:sp>
      <p:sp>
        <p:nvSpPr>
          <p:cNvPr id="15" name="Text 13"/>
          <p:cNvSpPr/>
          <p:nvPr/>
        </p:nvSpPr>
        <p:spPr>
          <a:xfrm>
            <a:off x="3474720" y="2788920"/>
            <a:ext cx="2194560" cy="164592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E2E8F0"/>
                </a:solidFill>
                <a:latin typeface="Calibri" pitchFamily="34" charset="0"/>
                <a:ea typeface="Calibri" pitchFamily="34" charset="-122"/>
                <a:cs typeface="Calibri" pitchFamily="34" charset="-120"/>
              </a:rPr>
              <a:t>Proved zero-install WebXR achieves comparable tracking stability (98% surface lock) to native apps.</a:t>
            </a:r>
            <a:endParaRPr lang="en-US" sz="950" dirty="0"/>
          </a:p>
          <a:p>
            <a:pPr marL="342900" indent="-342900">
              <a:spcAft>
                <a:spcPts val="400"/>
              </a:spcAft>
              <a:buSzPct val="100000"/>
              <a:buChar char="•"/>
            </a:pPr>
            <a:r>
              <a:rPr lang="en-US" sz="950" dirty="0">
                <a:solidFill>
                  <a:srgbClr val="E2E8F0"/>
                </a:solidFill>
                <a:latin typeface="Calibri" pitchFamily="34" charset="0"/>
                <a:ea typeface="Calibri" pitchFamily="34" charset="-122"/>
                <a:cs typeface="Calibri" pitchFamily="34" charset="-120"/>
              </a:rPr>
              <a:t>Demonstrated 87% reduction in mobile asset latency via edge MIME type orchestration.</a:t>
            </a:r>
            <a:endParaRPr lang="en-US" sz="950" dirty="0"/>
          </a:p>
          <a:p>
            <a:pPr marL="342900" indent="-342900">
              <a:spcAft>
                <a:spcPts val="400"/>
              </a:spcAft>
              <a:buSzPct val="100000"/>
              <a:buChar char="•"/>
            </a:pPr>
            <a:r>
              <a:rPr lang="en-US" sz="950" dirty="0">
                <a:solidFill>
                  <a:srgbClr val="E2E8F0"/>
                </a:solidFill>
                <a:latin typeface="Calibri" pitchFamily="34" charset="0"/>
                <a:ea typeface="Calibri" pitchFamily="34" charset="-122"/>
                <a:cs typeface="Calibri" pitchFamily="34" charset="-120"/>
              </a:rPr>
              <a:t>Established empirical benchmark for browser-based 3D food portion visualization.</a:t>
            </a:r>
            <a:endParaRPr lang="en-US" sz="950" dirty="0"/>
          </a:p>
        </p:txBody>
      </p:sp>
      <p:sp>
        <p:nvSpPr>
          <p:cNvPr id="16" name="Shape 14"/>
          <p:cNvSpPr/>
          <p:nvPr/>
        </p:nvSpPr>
        <p:spPr>
          <a:xfrm>
            <a:off x="6035040" y="2194560"/>
            <a:ext cx="2560320" cy="2423160"/>
          </a:xfrm>
          <a:prstGeom prst="roundRect">
            <a:avLst>
              <a:gd name="adj" fmla="val 3019"/>
            </a:avLst>
          </a:prstGeom>
          <a:solidFill>
            <a:srgbClr val="1E293B"/>
          </a:solidFill>
          <a:ln w="12700">
            <a:solidFill>
              <a:srgbClr val="334155"/>
            </a:solidFill>
            <a:prstDash val="solid"/>
          </a:ln>
        </p:spPr>
      </p:sp>
      <p:sp>
        <p:nvSpPr>
          <p:cNvPr id="17" name="Text 15"/>
          <p:cNvSpPr/>
          <p:nvPr/>
        </p:nvSpPr>
        <p:spPr>
          <a:xfrm>
            <a:off x="6217920" y="2377440"/>
            <a:ext cx="2194560" cy="320040"/>
          </a:xfrm>
          <a:prstGeom prst="rect">
            <a:avLst/>
          </a:prstGeom>
          <a:noFill/>
          <a:ln/>
        </p:spPr>
        <p:txBody>
          <a:bodyPr wrap="square" lIns="0" tIns="0" rIns="0" bIns="0" rtlCol="0" anchor="ctr"/>
          <a:lstStyle/>
          <a:p>
            <a:pPr indent="0" marL="0">
              <a:buNone/>
            </a:pPr>
            <a:r>
              <a:rPr lang="en-US" sz="1200" b="1" dirty="0">
                <a:solidFill>
                  <a:srgbClr val="38BDF8"/>
                </a:solidFill>
                <a:latin typeface="Cambria" pitchFamily="34" charset="0"/>
                <a:ea typeface="Cambria" pitchFamily="34" charset="-122"/>
                <a:cs typeface="Cambria" pitchFamily="34" charset="-120"/>
              </a:rPr>
              <a:t>Validation &amp; Publication Status</a:t>
            </a:r>
            <a:endParaRPr lang="en-US" sz="1200" dirty="0"/>
          </a:p>
        </p:txBody>
      </p:sp>
      <p:sp>
        <p:nvSpPr>
          <p:cNvPr id="18" name="Text 16"/>
          <p:cNvSpPr/>
          <p:nvPr/>
        </p:nvSpPr>
        <p:spPr>
          <a:xfrm>
            <a:off x="6217920" y="2788920"/>
            <a:ext cx="2194560" cy="1645920"/>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E2E8F0"/>
                </a:solidFill>
                <a:latin typeface="Calibri" pitchFamily="34" charset="0"/>
                <a:ea typeface="Calibri" pitchFamily="34" charset="-122"/>
                <a:cs typeface="Calibri" pitchFamily="34" charset="-120"/>
              </a:rPr>
              <a:t>Validated on 15+ physical devices across Android (Snapdragon/Exynos) and iOS (A15/A16).</a:t>
            </a:r>
            <a:endParaRPr lang="en-US" sz="950" dirty="0"/>
          </a:p>
          <a:p>
            <a:pPr marL="342900" indent="-342900">
              <a:spcAft>
                <a:spcPts val="400"/>
              </a:spcAft>
              <a:buSzPct val="100000"/>
              <a:buChar char="•"/>
            </a:pPr>
            <a:r>
              <a:rPr lang="en-US" sz="950" dirty="0">
                <a:solidFill>
                  <a:srgbClr val="E2E8F0"/>
                </a:solidFill>
                <a:latin typeface="Calibri" pitchFamily="34" charset="0"/>
                <a:ea typeface="Calibri" pitchFamily="34" charset="-122"/>
                <a:cs typeface="Calibri" pitchFamily="34" charset="-120"/>
              </a:rPr>
              <a:t>Manuscript completed and rigorously formatted to IEEE Conference Transactions style.</a:t>
            </a:r>
            <a:endParaRPr lang="en-US" sz="950" dirty="0"/>
          </a:p>
          <a:p>
            <a:pPr marL="342900" indent="-342900">
              <a:spcAft>
                <a:spcPts val="400"/>
              </a:spcAft>
              <a:buSzPct val="100000"/>
              <a:buChar char="•"/>
            </a:pPr>
            <a:r>
              <a:rPr lang="en-US" sz="950" dirty="0">
                <a:solidFill>
                  <a:srgbClr val="E2E8F0"/>
                </a:solidFill>
                <a:latin typeface="Calibri" pitchFamily="34" charset="0"/>
                <a:ea typeface="Calibri" pitchFamily="34" charset="-122"/>
                <a:cs typeface="Calibri" pitchFamily="34" charset="-120"/>
              </a:rPr>
              <a:t>Submitted for peer review at an upcoming IEEE/Scopus Indexed International Conference.</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548640" y="365760"/>
            <a:ext cx="8046720" cy="228600"/>
          </a:xfrm>
          <a:prstGeom prst="rect">
            <a:avLst/>
          </a:prstGeom>
          <a:noFill/>
          <a:ln/>
        </p:spPr>
        <p:txBody>
          <a:bodyPr wrap="square" lIns="0" tIns="0" rIns="0" bIns="0" rtlCol="0" anchor="ctr"/>
          <a:lstStyle/>
          <a:p>
            <a:pPr indent="0" marL="0">
              <a:buNone/>
            </a:pPr>
            <a:r>
              <a:rPr lang="en-US" sz="1000" b="1" spc="150" kern="0" dirty="0">
                <a:solidFill>
                  <a:srgbClr val="38BDF8"/>
                </a:solidFill>
                <a:latin typeface="Calibri" pitchFamily="34" charset="0"/>
                <a:ea typeface="Calibri" pitchFamily="34" charset="-122"/>
                <a:cs typeface="Calibri" pitchFamily="34" charset="-120"/>
              </a:rPr>
              <a:t>PROJECT CONCLUSION</a:t>
            </a:r>
            <a:endParaRPr lang="en-US" sz="1000" dirty="0"/>
          </a:p>
        </p:txBody>
      </p:sp>
      <p:sp>
        <p:nvSpPr>
          <p:cNvPr id="3" name="Text 1"/>
          <p:cNvSpPr/>
          <p:nvPr/>
        </p:nvSpPr>
        <p:spPr>
          <a:xfrm>
            <a:off x="548640" y="594360"/>
            <a:ext cx="8046720" cy="41148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Key Achievements, Academic Contributions &amp; Takeaways</a:t>
            </a:r>
            <a:endParaRPr lang="en-US" sz="2200" dirty="0"/>
          </a:p>
        </p:txBody>
      </p:sp>
      <p:sp>
        <p:nvSpPr>
          <p:cNvPr id="4" name="Text 2"/>
          <p:cNvSpPr/>
          <p:nvPr/>
        </p:nvSpPr>
        <p:spPr>
          <a:xfrm>
            <a:off x="548640" y="4800600"/>
            <a:ext cx="5943600" cy="228600"/>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5" name="Text 3"/>
          <p:cNvSpPr/>
          <p:nvPr/>
        </p:nvSpPr>
        <p:spPr>
          <a:xfrm>
            <a:off x="6583680" y="4800600"/>
            <a:ext cx="2011680" cy="228600"/>
          </a:xfrm>
          <a:prstGeom prst="rect">
            <a:avLst/>
          </a:prstGeom>
          <a:noFill/>
          <a:ln/>
        </p:spPr>
        <p:txBody>
          <a:bodyPr wrap="square" lIns="0" tIns="0" rIns="0" bIns="0" rtlCol="0" anchor="ctr"/>
          <a:lstStyle/>
          <a:p>
            <a:pPr algn="r" indent="0" marL="0">
              <a:buNone/>
            </a:pPr>
            <a:r>
              <a:rPr lang="en-US" sz="900" dirty="0">
                <a:solidFill>
                  <a:srgbClr val="38BDF8"/>
                </a:solidFill>
                <a:latin typeface="Calibri" pitchFamily="34" charset="0"/>
                <a:ea typeface="Calibri" pitchFamily="34" charset="-122"/>
                <a:cs typeface="Calibri" pitchFamily="34" charset="-120"/>
              </a:rPr>
              <a:t>https://smart-restaurant-2za8.vercel.app/</a:t>
            </a:r>
            <a:endParaRPr lang="en-US" sz="900" dirty="0"/>
          </a:p>
        </p:txBody>
      </p:sp>
      <p:sp>
        <p:nvSpPr>
          <p:cNvPr id="6" name="Shape 4"/>
          <p:cNvSpPr/>
          <p:nvPr/>
        </p:nvSpPr>
        <p:spPr>
          <a:xfrm>
            <a:off x="548640" y="1188720"/>
            <a:ext cx="3931920" cy="1554480"/>
          </a:xfrm>
          <a:prstGeom prst="roundRect">
            <a:avLst>
              <a:gd name="adj" fmla="val 4706"/>
            </a:avLst>
          </a:prstGeom>
          <a:solidFill>
            <a:srgbClr val="1E293B"/>
          </a:solidFill>
          <a:ln w="12700">
            <a:solidFill>
              <a:srgbClr val="334155"/>
            </a:solidFill>
            <a:prstDash val="solid"/>
          </a:ln>
        </p:spPr>
      </p:sp>
      <p:sp>
        <p:nvSpPr>
          <p:cNvPr id="7" name="Text 5"/>
          <p:cNvSpPr/>
          <p:nvPr/>
        </p:nvSpPr>
        <p:spPr>
          <a:xfrm>
            <a:off x="731520" y="1325880"/>
            <a:ext cx="3566160" cy="182880"/>
          </a:xfrm>
          <a:prstGeom prst="rect">
            <a:avLst/>
          </a:prstGeom>
          <a:noFill/>
          <a:ln/>
        </p:spPr>
        <p:txBody>
          <a:bodyPr wrap="square" lIns="0" tIns="0" rIns="0" bIns="0" rtlCol="0" anchor="ctr"/>
          <a:lstStyle/>
          <a:p>
            <a:pPr indent="0" marL="0">
              <a:buNone/>
            </a:pPr>
            <a:r>
              <a:rPr lang="en-US" sz="850" b="1" dirty="0">
                <a:solidFill>
                  <a:srgbClr val="10B981"/>
                </a:solidFill>
                <a:latin typeface="Calibri" pitchFamily="34" charset="0"/>
                <a:ea typeface="Calibri" pitchFamily="34" charset="-122"/>
                <a:cs typeface="Calibri" pitchFamily="34" charset="-120"/>
              </a:rPr>
              <a:t>CRITERION 7: 100% IMPLEMENTATION</a:t>
            </a:r>
            <a:endParaRPr lang="en-US" sz="850" dirty="0"/>
          </a:p>
        </p:txBody>
      </p:sp>
      <p:sp>
        <p:nvSpPr>
          <p:cNvPr id="8" name="Text 6"/>
          <p:cNvSpPr/>
          <p:nvPr/>
        </p:nvSpPr>
        <p:spPr>
          <a:xfrm>
            <a:off x="731520" y="1508760"/>
            <a:ext cx="3566160" cy="274320"/>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Production-Grade System Deployed Live</a:t>
            </a:r>
            <a:endParaRPr lang="en-US" sz="1250" dirty="0"/>
          </a:p>
        </p:txBody>
      </p:sp>
      <p:sp>
        <p:nvSpPr>
          <p:cNvPr id="9" name="Text 7"/>
          <p:cNvSpPr/>
          <p:nvPr/>
        </p:nvSpPr>
        <p:spPr>
          <a:xfrm>
            <a:off x="731520" y="1828800"/>
            <a:ext cx="3566160" cy="822960"/>
          </a:xfrm>
          <a:prstGeom prst="rect">
            <a:avLst/>
          </a:prstGeom>
          <a:noFill/>
          <a:ln/>
        </p:spPr>
        <p:txBody>
          <a:bodyPr wrap="square" lIns="0" tIns="0" rIns="0" bIns="0" rtlCol="0" anchor="ctr"/>
          <a:lstStyle/>
          <a:p>
            <a:pPr indent="0" marL="0">
              <a:buNone/>
            </a:pPr>
            <a:r>
              <a:rPr lang="en-US" sz="950" dirty="0">
                <a:solidFill>
                  <a:srgbClr val="E2E8F0"/>
                </a:solidFill>
                <a:latin typeface="Calibri" pitchFamily="34" charset="0"/>
                <a:ea typeface="Calibri" pitchFamily="34" charset="-122"/>
                <a:cs typeface="Calibri" pitchFamily="34" charset="-120"/>
              </a:rPr>
              <a:t>Delivered a fully functioning, end-to-end contactless dining platform active on Vercel at `https://smart-restaurant-2za8.vercel.app/`. Both diner AR ordering and real-time KDS kitchen tracking operate seamlessly.</a:t>
            </a:r>
            <a:endParaRPr lang="en-US" sz="950" dirty="0"/>
          </a:p>
        </p:txBody>
      </p:sp>
      <p:sp>
        <p:nvSpPr>
          <p:cNvPr id="10" name="Shape 8"/>
          <p:cNvSpPr/>
          <p:nvPr/>
        </p:nvSpPr>
        <p:spPr>
          <a:xfrm>
            <a:off x="4663440" y="1188720"/>
            <a:ext cx="3931920" cy="1554480"/>
          </a:xfrm>
          <a:prstGeom prst="roundRect">
            <a:avLst>
              <a:gd name="adj" fmla="val 4706"/>
            </a:avLst>
          </a:prstGeom>
          <a:solidFill>
            <a:srgbClr val="1E293B"/>
          </a:solidFill>
          <a:ln w="12700">
            <a:solidFill>
              <a:srgbClr val="334155"/>
            </a:solidFill>
            <a:prstDash val="solid"/>
          </a:ln>
        </p:spPr>
      </p:sp>
      <p:sp>
        <p:nvSpPr>
          <p:cNvPr id="11" name="Text 9"/>
          <p:cNvSpPr/>
          <p:nvPr/>
        </p:nvSpPr>
        <p:spPr>
          <a:xfrm>
            <a:off x="4846320" y="1325880"/>
            <a:ext cx="3566160" cy="182880"/>
          </a:xfrm>
          <a:prstGeom prst="rect">
            <a:avLst/>
          </a:prstGeom>
          <a:noFill/>
          <a:ln/>
        </p:spPr>
        <p:txBody>
          <a:bodyPr wrap="square" lIns="0" tIns="0" rIns="0" bIns="0" rtlCol="0" anchor="ctr"/>
          <a:lstStyle/>
          <a:p>
            <a:pPr indent="0" marL="0">
              <a:buNone/>
            </a:pPr>
            <a:r>
              <a:rPr lang="en-US" sz="850" b="1" dirty="0">
                <a:solidFill>
                  <a:srgbClr val="38BDF8"/>
                </a:solidFill>
                <a:latin typeface="Calibri" pitchFamily="34" charset="0"/>
                <a:ea typeface="Calibri" pitchFamily="34" charset="-122"/>
                <a:cs typeface="Calibri" pitchFamily="34" charset="-120"/>
              </a:rPr>
              <a:t>CRITERION 2: INNOVATION</a:t>
            </a:r>
            <a:endParaRPr lang="en-US" sz="850" dirty="0"/>
          </a:p>
        </p:txBody>
      </p:sp>
      <p:sp>
        <p:nvSpPr>
          <p:cNvPr id="12" name="Text 10"/>
          <p:cNvSpPr/>
          <p:nvPr/>
        </p:nvSpPr>
        <p:spPr>
          <a:xfrm>
            <a:off x="4846320" y="1508760"/>
            <a:ext cx="3566160" cy="274320"/>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Frictionless Spatial Computing Viability</a:t>
            </a:r>
            <a:endParaRPr lang="en-US" sz="1250" dirty="0"/>
          </a:p>
        </p:txBody>
      </p:sp>
      <p:sp>
        <p:nvSpPr>
          <p:cNvPr id="13" name="Text 11"/>
          <p:cNvSpPr/>
          <p:nvPr/>
        </p:nvSpPr>
        <p:spPr>
          <a:xfrm>
            <a:off x="4846320" y="1828800"/>
            <a:ext cx="3566160" cy="822960"/>
          </a:xfrm>
          <a:prstGeom prst="rect">
            <a:avLst/>
          </a:prstGeom>
          <a:noFill/>
          <a:ln/>
        </p:spPr>
        <p:txBody>
          <a:bodyPr wrap="square" lIns="0" tIns="0" rIns="0" bIns="0" rtlCol="0" anchor="ctr"/>
          <a:lstStyle/>
          <a:p>
            <a:pPr indent="0" marL="0">
              <a:buNone/>
            </a:pPr>
            <a:r>
              <a:rPr lang="en-US" sz="950" dirty="0">
                <a:solidFill>
                  <a:srgbClr val="E2E8F0"/>
                </a:solidFill>
                <a:latin typeface="Calibri" pitchFamily="34" charset="0"/>
                <a:ea typeface="Calibri" pitchFamily="34" charset="-122"/>
                <a:cs typeface="Calibri" pitchFamily="34" charset="-120"/>
              </a:rPr>
              <a:t>Overcame historical limitations of mobile web AR by coupling native WebXR 6-DoF hit testing with Scene Viewer intent fallbacks, achieving 60 FPS rendering and sub-2 second model load times with zero app downloads.</a:t>
            </a:r>
            <a:endParaRPr lang="en-US" sz="950" dirty="0"/>
          </a:p>
        </p:txBody>
      </p:sp>
      <p:sp>
        <p:nvSpPr>
          <p:cNvPr id="14" name="Shape 12"/>
          <p:cNvSpPr/>
          <p:nvPr/>
        </p:nvSpPr>
        <p:spPr>
          <a:xfrm>
            <a:off x="548640" y="2880360"/>
            <a:ext cx="3931920" cy="1554480"/>
          </a:xfrm>
          <a:prstGeom prst="roundRect">
            <a:avLst>
              <a:gd name="adj" fmla="val 4706"/>
            </a:avLst>
          </a:prstGeom>
          <a:solidFill>
            <a:srgbClr val="1E293B"/>
          </a:solidFill>
          <a:ln w="12700">
            <a:solidFill>
              <a:srgbClr val="334155"/>
            </a:solidFill>
            <a:prstDash val="solid"/>
          </a:ln>
        </p:spPr>
      </p:sp>
      <p:sp>
        <p:nvSpPr>
          <p:cNvPr id="15" name="Text 13"/>
          <p:cNvSpPr/>
          <p:nvPr/>
        </p:nvSpPr>
        <p:spPr>
          <a:xfrm>
            <a:off x="731520" y="3017520"/>
            <a:ext cx="3566160" cy="182880"/>
          </a:xfrm>
          <a:prstGeom prst="rect">
            <a:avLst/>
          </a:prstGeom>
          <a:noFill/>
          <a:ln/>
        </p:spPr>
        <p:txBody>
          <a:bodyPr wrap="square" lIns="0" tIns="0" rIns="0" bIns="0" rtlCol="0" anchor="ctr"/>
          <a:lstStyle/>
          <a:p>
            <a:pPr indent="0" marL="0">
              <a:buNone/>
            </a:pPr>
            <a:r>
              <a:rPr lang="en-US" sz="850" b="1" dirty="0">
                <a:solidFill>
                  <a:srgbClr val="F59E0B"/>
                </a:solidFill>
                <a:latin typeface="Calibri" pitchFamily="34" charset="0"/>
                <a:ea typeface="Calibri" pitchFamily="34" charset="-122"/>
                <a:cs typeface="Calibri" pitchFamily="34" charset="-120"/>
              </a:rPr>
              <a:t>CRITERION 1 &amp; 3: SUSTAINABILITY &amp; COST</a:t>
            </a:r>
            <a:endParaRPr lang="en-US" sz="850" dirty="0"/>
          </a:p>
        </p:txBody>
      </p:sp>
      <p:sp>
        <p:nvSpPr>
          <p:cNvPr id="16" name="Text 14"/>
          <p:cNvSpPr/>
          <p:nvPr/>
        </p:nvSpPr>
        <p:spPr>
          <a:xfrm>
            <a:off x="731520" y="3200400"/>
            <a:ext cx="3566160" cy="274320"/>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93.7% TCO Reduction &amp; Zero Food Misjudgments</a:t>
            </a:r>
            <a:endParaRPr lang="en-US" sz="1250" dirty="0"/>
          </a:p>
        </p:txBody>
      </p:sp>
      <p:sp>
        <p:nvSpPr>
          <p:cNvPr id="17" name="Text 15"/>
          <p:cNvSpPr/>
          <p:nvPr/>
        </p:nvSpPr>
        <p:spPr>
          <a:xfrm>
            <a:off x="731520" y="3520440"/>
            <a:ext cx="3566160" cy="822960"/>
          </a:xfrm>
          <a:prstGeom prst="rect">
            <a:avLst/>
          </a:prstGeom>
          <a:noFill/>
          <a:ln/>
        </p:spPr>
        <p:txBody>
          <a:bodyPr wrap="square" lIns="0" tIns="0" rIns="0" bIns="0" rtlCol="0" anchor="ctr"/>
          <a:lstStyle/>
          <a:p>
            <a:pPr indent="0" marL="0">
              <a:buNone/>
            </a:pPr>
            <a:r>
              <a:rPr lang="en-US" sz="950" dirty="0">
                <a:solidFill>
                  <a:srgbClr val="E2E8F0"/>
                </a:solidFill>
                <a:latin typeface="Calibri" pitchFamily="34" charset="0"/>
                <a:ea typeface="Calibri" pitchFamily="34" charset="-122"/>
                <a:cs typeface="Calibri" pitchFamily="34" charset="-120"/>
              </a:rPr>
              <a:t>Replaced expensive tabletop POS tablets with patrons' existing smartphones, saving over ₹6.6 Lakhs per restaurant while eliminating paper printing and reducing food plate waste by up to 28%.</a:t>
            </a:r>
            <a:endParaRPr lang="en-US" sz="950" dirty="0"/>
          </a:p>
        </p:txBody>
      </p:sp>
      <p:sp>
        <p:nvSpPr>
          <p:cNvPr id="18" name="Shape 16"/>
          <p:cNvSpPr/>
          <p:nvPr/>
        </p:nvSpPr>
        <p:spPr>
          <a:xfrm>
            <a:off x="4663440" y="2880360"/>
            <a:ext cx="3931920" cy="1554480"/>
          </a:xfrm>
          <a:prstGeom prst="roundRect">
            <a:avLst>
              <a:gd name="adj" fmla="val 4706"/>
            </a:avLst>
          </a:prstGeom>
          <a:solidFill>
            <a:srgbClr val="1E293B"/>
          </a:solidFill>
          <a:ln w="12700">
            <a:solidFill>
              <a:srgbClr val="334155"/>
            </a:solidFill>
            <a:prstDash val="solid"/>
          </a:ln>
        </p:spPr>
      </p:sp>
      <p:sp>
        <p:nvSpPr>
          <p:cNvPr id="19" name="Text 17"/>
          <p:cNvSpPr/>
          <p:nvPr/>
        </p:nvSpPr>
        <p:spPr>
          <a:xfrm>
            <a:off x="4846320" y="3017520"/>
            <a:ext cx="3566160" cy="182880"/>
          </a:xfrm>
          <a:prstGeom prst="rect">
            <a:avLst/>
          </a:prstGeom>
          <a:noFill/>
          <a:ln/>
        </p:spPr>
        <p:txBody>
          <a:bodyPr wrap="square" lIns="0" tIns="0" rIns="0" bIns="0" rtlCol="0" anchor="ctr"/>
          <a:lstStyle/>
          <a:p>
            <a:pPr indent="0" marL="0">
              <a:buNone/>
            </a:pPr>
            <a:r>
              <a:rPr lang="en-US" sz="850" b="1" dirty="0">
                <a:solidFill>
                  <a:srgbClr val="F43F5E"/>
                </a:solidFill>
                <a:latin typeface="Calibri" pitchFamily="34" charset="0"/>
                <a:ea typeface="Calibri" pitchFamily="34" charset="-122"/>
                <a:cs typeface="Calibri" pitchFamily="34" charset="-120"/>
              </a:rPr>
              <a:t>CRITERION 9: ACADEMIC EXCELLENCE</a:t>
            </a:r>
            <a:endParaRPr lang="en-US" sz="850" dirty="0"/>
          </a:p>
        </p:txBody>
      </p:sp>
      <p:sp>
        <p:nvSpPr>
          <p:cNvPr id="20" name="Text 18"/>
          <p:cNvSpPr/>
          <p:nvPr/>
        </p:nvSpPr>
        <p:spPr>
          <a:xfrm>
            <a:off x="4846320" y="3200400"/>
            <a:ext cx="3566160" cy="274320"/>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Completed Research Paper in Review</a:t>
            </a:r>
            <a:endParaRPr lang="en-US" sz="1250" dirty="0"/>
          </a:p>
        </p:txBody>
      </p:sp>
      <p:sp>
        <p:nvSpPr>
          <p:cNvPr id="21" name="Text 19"/>
          <p:cNvSpPr/>
          <p:nvPr/>
        </p:nvSpPr>
        <p:spPr>
          <a:xfrm>
            <a:off x="4846320" y="3520440"/>
            <a:ext cx="3566160" cy="822960"/>
          </a:xfrm>
          <a:prstGeom prst="rect">
            <a:avLst/>
          </a:prstGeom>
          <a:noFill/>
          <a:ln/>
        </p:spPr>
        <p:txBody>
          <a:bodyPr wrap="square" lIns="0" tIns="0" rIns="0" bIns="0" rtlCol="0" anchor="ctr"/>
          <a:lstStyle/>
          <a:p>
            <a:pPr indent="0" marL="0">
              <a:buNone/>
            </a:pPr>
            <a:r>
              <a:rPr lang="en-US" sz="950" dirty="0">
                <a:solidFill>
                  <a:srgbClr val="E2E8F0"/>
                </a:solidFill>
                <a:latin typeface="Calibri" pitchFamily="34" charset="0"/>
                <a:ea typeface="Calibri" pitchFamily="34" charset="-122"/>
                <a:cs typeface="Calibri" pitchFamily="34" charset="-120"/>
              </a:rPr>
              <a:t>Documented technical findings, mathematical raycast formulations, and performance benchmarks in a complete IEEE-compliant research paper submitted for peer-reviewed conference publication.</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548640" y="365760"/>
            <a:ext cx="8046720" cy="228600"/>
          </a:xfrm>
          <a:prstGeom prst="rect">
            <a:avLst/>
          </a:prstGeom>
          <a:noFill/>
          <a:ln/>
        </p:spPr>
        <p:txBody>
          <a:bodyPr wrap="square" lIns="0" tIns="0" rIns="0" bIns="0" rtlCol="0" anchor="ctr"/>
          <a:lstStyle/>
          <a:p>
            <a:pPr indent="0" marL="0">
              <a:buNone/>
            </a:pPr>
            <a:r>
              <a:rPr lang="en-US" sz="1000" b="1" spc="150" kern="0" dirty="0">
                <a:solidFill>
                  <a:srgbClr val="38BDF8"/>
                </a:solidFill>
                <a:latin typeface="Calibri" pitchFamily="34" charset="0"/>
                <a:ea typeface="Calibri" pitchFamily="34" charset="-122"/>
                <a:cs typeface="Calibri" pitchFamily="34" charset="-120"/>
              </a:rPr>
              <a:t>ROADMAP &amp; HORIZONS</a:t>
            </a:r>
            <a:endParaRPr lang="en-US" sz="1000" dirty="0"/>
          </a:p>
        </p:txBody>
      </p:sp>
      <p:sp>
        <p:nvSpPr>
          <p:cNvPr id="3" name="Text 1"/>
          <p:cNvSpPr/>
          <p:nvPr/>
        </p:nvSpPr>
        <p:spPr>
          <a:xfrm>
            <a:off x="548640" y="594360"/>
            <a:ext cx="8046720" cy="41148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Future Scope, Commercial Scalability &amp; Research Horizons</a:t>
            </a:r>
            <a:endParaRPr lang="en-US" sz="2200" dirty="0"/>
          </a:p>
        </p:txBody>
      </p:sp>
      <p:sp>
        <p:nvSpPr>
          <p:cNvPr id="4" name="Text 2"/>
          <p:cNvSpPr/>
          <p:nvPr/>
        </p:nvSpPr>
        <p:spPr>
          <a:xfrm>
            <a:off x="548640" y="4800600"/>
            <a:ext cx="5943600" cy="228600"/>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5" name="Text 3"/>
          <p:cNvSpPr/>
          <p:nvPr/>
        </p:nvSpPr>
        <p:spPr>
          <a:xfrm>
            <a:off x="6583680" y="4800600"/>
            <a:ext cx="2011680" cy="228600"/>
          </a:xfrm>
          <a:prstGeom prst="rect">
            <a:avLst/>
          </a:prstGeom>
          <a:noFill/>
          <a:ln/>
        </p:spPr>
        <p:txBody>
          <a:bodyPr wrap="square" lIns="0" tIns="0" rIns="0" bIns="0" rtlCol="0" anchor="ctr"/>
          <a:lstStyle/>
          <a:p>
            <a:pPr algn="r" indent="0" marL="0">
              <a:buNone/>
            </a:pPr>
            <a:r>
              <a:rPr lang="en-US" sz="900" dirty="0">
                <a:solidFill>
                  <a:srgbClr val="38BDF8"/>
                </a:solidFill>
                <a:latin typeface="Calibri" pitchFamily="34" charset="0"/>
                <a:ea typeface="Calibri" pitchFamily="34" charset="-122"/>
                <a:cs typeface="Calibri" pitchFamily="34" charset="-120"/>
              </a:rPr>
              <a:t>https://smart-restaurant-2za8.vercel.app/</a:t>
            </a:r>
            <a:endParaRPr lang="en-US" sz="900" dirty="0"/>
          </a:p>
        </p:txBody>
      </p:sp>
      <p:sp>
        <p:nvSpPr>
          <p:cNvPr id="6" name="Shape 4"/>
          <p:cNvSpPr/>
          <p:nvPr/>
        </p:nvSpPr>
        <p:spPr>
          <a:xfrm>
            <a:off x="548640" y="1188720"/>
            <a:ext cx="3931920" cy="1554480"/>
          </a:xfrm>
          <a:prstGeom prst="roundRect">
            <a:avLst>
              <a:gd name="adj" fmla="val 4706"/>
            </a:avLst>
          </a:prstGeom>
          <a:solidFill>
            <a:srgbClr val="1E293B"/>
          </a:solidFill>
          <a:ln w="12700">
            <a:solidFill>
              <a:srgbClr val="334155"/>
            </a:solidFill>
            <a:prstDash val="solid"/>
          </a:ln>
        </p:spPr>
      </p:sp>
      <p:sp>
        <p:nvSpPr>
          <p:cNvPr id="7" name="Text 5"/>
          <p:cNvSpPr/>
          <p:nvPr/>
        </p:nvSpPr>
        <p:spPr>
          <a:xfrm>
            <a:off x="731520" y="1371600"/>
            <a:ext cx="3566160" cy="320040"/>
          </a:xfrm>
          <a:prstGeom prst="rect">
            <a:avLst/>
          </a:prstGeom>
          <a:noFill/>
          <a:ln/>
        </p:spPr>
        <p:txBody>
          <a:bodyPr wrap="square" lIns="0" tIns="0" rIns="0" bIns="0" rtlCol="0" anchor="ctr"/>
          <a:lstStyle/>
          <a:p>
            <a:pPr indent="0" marL="0">
              <a:buNone/>
            </a:pPr>
            <a:r>
              <a:rPr lang="en-US" sz="1300" b="1" dirty="0">
                <a:solidFill>
                  <a:srgbClr val="38BDF8"/>
                </a:solidFill>
                <a:latin typeface="Cambria" pitchFamily="34" charset="0"/>
                <a:ea typeface="Cambria" pitchFamily="34" charset="-122"/>
                <a:cs typeface="Cambria" pitchFamily="34" charset="-120"/>
              </a:rPr>
              <a:t>Multi-User Synchronized AR Dining</a:t>
            </a:r>
            <a:endParaRPr lang="en-US" sz="1300" dirty="0"/>
          </a:p>
        </p:txBody>
      </p:sp>
      <p:sp>
        <p:nvSpPr>
          <p:cNvPr id="8" name="Text 6"/>
          <p:cNvSpPr/>
          <p:nvPr/>
        </p:nvSpPr>
        <p:spPr>
          <a:xfrm>
            <a:off x="731520" y="1737360"/>
            <a:ext cx="3566160" cy="868680"/>
          </a:xfrm>
          <a:prstGeom prst="rect">
            <a:avLst/>
          </a:prstGeom>
          <a:noFill/>
          <a:ln/>
        </p:spPr>
        <p:txBody>
          <a:bodyPr wrap="square" lIns="0" tIns="0" rIns="0" bIns="0" rtlCol="0" anchor="ctr"/>
          <a:lstStyle/>
          <a:p>
            <a:pPr indent="0" marL="0">
              <a:buNone/>
            </a:pPr>
            <a:r>
              <a:rPr lang="en-US" sz="1000" dirty="0">
                <a:solidFill>
                  <a:srgbClr val="E2E8F0"/>
                </a:solidFill>
                <a:latin typeface="Calibri" pitchFamily="34" charset="0"/>
                <a:ea typeface="Calibri" pitchFamily="34" charset="-122"/>
                <a:cs typeface="Calibri" pitchFamily="34" charset="-120"/>
              </a:rPr>
              <a:t>Integrating WebRTC mesh data channels to allow entire dining groups at the same table to share a synchronized virtual space, previewing banquet platters together in real time.</a:t>
            </a:r>
            <a:endParaRPr lang="en-US" sz="1000" dirty="0"/>
          </a:p>
        </p:txBody>
      </p:sp>
      <p:sp>
        <p:nvSpPr>
          <p:cNvPr id="9" name="Shape 7"/>
          <p:cNvSpPr/>
          <p:nvPr/>
        </p:nvSpPr>
        <p:spPr>
          <a:xfrm>
            <a:off x="4663440" y="1188720"/>
            <a:ext cx="3931920" cy="1554480"/>
          </a:xfrm>
          <a:prstGeom prst="roundRect">
            <a:avLst>
              <a:gd name="adj" fmla="val 4706"/>
            </a:avLst>
          </a:prstGeom>
          <a:solidFill>
            <a:srgbClr val="1E293B"/>
          </a:solidFill>
          <a:ln w="12700">
            <a:solidFill>
              <a:srgbClr val="334155"/>
            </a:solidFill>
            <a:prstDash val="solid"/>
          </a:ln>
        </p:spPr>
      </p:sp>
      <p:sp>
        <p:nvSpPr>
          <p:cNvPr id="10" name="Text 8"/>
          <p:cNvSpPr/>
          <p:nvPr/>
        </p:nvSpPr>
        <p:spPr>
          <a:xfrm>
            <a:off x="4846320" y="1371600"/>
            <a:ext cx="3566160" cy="320040"/>
          </a:xfrm>
          <a:prstGeom prst="rect">
            <a:avLst/>
          </a:prstGeom>
          <a:noFill/>
          <a:ln/>
        </p:spPr>
        <p:txBody>
          <a:bodyPr wrap="square" lIns="0" tIns="0" rIns="0" bIns="0" rtlCol="0" anchor="ctr"/>
          <a:lstStyle/>
          <a:p>
            <a:pPr indent="0" marL="0">
              <a:buNone/>
            </a:pPr>
            <a:r>
              <a:rPr lang="en-US" sz="1300" b="1" dirty="0">
                <a:solidFill>
                  <a:srgbClr val="F59E0B"/>
                </a:solidFill>
                <a:latin typeface="Cambria" pitchFamily="34" charset="0"/>
                <a:ea typeface="Cambria" pitchFamily="34" charset="-122"/>
                <a:cs typeface="Cambria" pitchFamily="34" charset="-120"/>
              </a:rPr>
              <a:t>Generative AI Voice Sommelier</a:t>
            </a:r>
            <a:endParaRPr lang="en-US" sz="1300" dirty="0"/>
          </a:p>
        </p:txBody>
      </p:sp>
      <p:sp>
        <p:nvSpPr>
          <p:cNvPr id="11" name="Text 9"/>
          <p:cNvSpPr/>
          <p:nvPr/>
        </p:nvSpPr>
        <p:spPr>
          <a:xfrm>
            <a:off x="4846320" y="1737360"/>
            <a:ext cx="3566160" cy="868680"/>
          </a:xfrm>
          <a:prstGeom prst="rect">
            <a:avLst/>
          </a:prstGeom>
          <a:noFill/>
          <a:ln/>
        </p:spPr>
        <p:txBody>
          <a:bodyPr wrap="square" lIns="0" tIns="0" rIns="0" bIns="0" rtlCol="0" anchor="ctr"/>
          <a:lstStyle/>
          <a:p>
            <a:pPr indent="0" marL="0">
              <a:buNone/>
            </a:pPr>
            <a:r>
              <a:rPr lang="en-US" sz="1000" dirty="0">
                <a:solidFill>
                  <a:srgbClr val="E2E8F0"/>
                </a:solidFill>
                <a:latin typeface="Calibri" pitchFamily="34" charset="0"/>
                <a:ea typeface="Calibri" pitchFamily="34" charset="-122"/>
                <a:cs typeface="Calibri" pitchFamily="34" charset="-120"/>
              </a:rPr>
              <a:t>Deploying an on-device lightweight LLM voice interface capable of answering natural-language dietary questions and suggesting personalized wine/beverage pairings.</a:t>
            </a:r>
            <a:endParaRPr lang="en-US" sz="1000" dirty="0"/>
          </a:p>
        </p:txBody>
      </p:sp>
      <p:sp>
        <p:nvSpPr>
          <p:cNvPr id="12" name="Shape 10"/>
          <p:cNvSpPr/>
          <p:nvPr/>
        </p:nvSpPr>
        <p:spPr>
          <a:xfrm>
            <a:off x="548640" y="2880360"/>
            <a:ext cx="3931920" cy="1554480"/>
          </a:xfrm>
          <a:prstGeom prst="roundRect">
            <a:avLst>
              <a:gd name="adj" fmla="val 4706"/>
            </a:avLst>
          </a:prstGeom>
          <a:solidFill>
            <a:srgbClr val="1E293B"/>
          </a:solidFill>
          <a:ln w="12700">
            <a:solidFill>
              <a:srgbClr val="334155"/>
            </a:solidFill>
            <a:prstDash val="solid"/>
          </a:ln>
        </p:spPr>
      </p:sp>
      <p:sp>
        <p:nvSpPr>
          <p:cNvPr id="13" name="Text 11"/>
          <p:cNvSpPr/>
          <p:nvPr/>
        </p:nvSpPr>
        <p:spPr>
          <a:xfrm>
            <a:off x="731520" y="3063240"/>
            <a:ext cx="3566160" cy="320040"/>
          </a:xfrm>
          <a:prstGeom prst="rect">
            <a:avLst/>
          </a:prstGeom>
          <a:noFill/>
          <a:ln/>
        </p:spPr>
        <p:txBody>
          <a:bodyPr wrap="square" lIns="0" tIns="0" rIns="0" bIns="0" rtlCol="0" anchor="ctr"/>
          <a:lstStyle/>
          <a:p>
            <a:pPr indent="0" marL="0">
              <a:buNone/>
            </a:pPr>
            <a:r>
              <a:rPr lang="en-US" sz="1300" b="1" dirty="0">
                <a:solidFill>
                  <a:srgbClr val="10B981"/>
                </a:solidFill>
                <a:latin typeface="Cambria" pitchFamily="34" charset="0"/>
                <a:ea typeface="Cambria" pitchFamily="34" charset="-122"/>
                <a:cs typeface="Cambria" pitchFamily="34" charset="-120"/>
              </a:rPr>
              <a:t>Computer Vision Plating QA Inspection</a:t>
            </a:r>
            <a:endParaRPr lang="en-US" sz="1300" dirty="0"/>
          </a:p>
        </p:txBody>
      </p:sp>
      <p:sp>
        <p:nvSpPr>
          <p:cNvPr id="14" name="Text 12"/>
          <p:cNvSpPr/>
          <p:nvPr/>
        </p:nvSpPr>
        <p:spPr>
          <a:xfrm>
            <a:off x="731520" y="3429000"/>
            <a:ext cx="3566160" cy="868680"/>
          </a:xfrm>
          <a:prstGeom prst="rect">
            <a:avLst/>
          </a:prstGeom>
          <a:noFill/>
          <a:ln/>
        </p:spPr>
        <p:txBody>
          <a:bodyPr wrap="square" lIns="0" tIns="0" rIns="0" bIns="0" rtlCol="0" anchor="ctr"/>
          <a:lstStyle/>
          <a:p>
            <a:pPr indent="0" marL="0">
              <a:buNone/>
            </a:pPr>
            <a:r>
              <a:rPr lang="en-US" sz="1000" dirty="0">
                <a:solidFill>
                  <a:srgbClr val="E2E8F0"/>
                </a:solidFill>
                <a:latin typeface="Calibri" pitchFamily="34" charset="0"/>
                <a:ea typeface="Calibri" pitchFamily="34" charset="-122"/>
                <a:cs typeface="Calibri" pitchFamily="34" charset="-120"/>
              </a:rPr>
              <a:t>Installing overhead camera vision models in the kitchen to verify that plated dishes match the 3D visual standard in volume, garnish, and temperature before dispatch.</a:t>
            </a:r>
            <a:endParaRPr lang="en-US" sz="1000" dirty="0"/>
          </a:p>
        </p:txBody>
      </p:sp>
      <p:sp>
        <p:nvSpPr>
          <p:cNvPr id="15" name="Shape 13"/>
          <p:cNvSpPr/>
          <p:nvPr/>
        </p:nvSpPr>
        <p:spPr>
          <a:xfrm>
            <a:off x="4663440" y="2880360"/>
            <a:ext cx="3931920" cy="1554480"/>
          </a:xfrm>
          <a:prstGeom prst="roundRect">
            <a:avLst>
              <a:gd name="adj" fmla="val 4706"/>
            </a:avLst>
          </a:prstGeom>
          <a:solidFill>
            <a:srgbClr val="1E293B"/>
          </a:solidFill>
          <a:ln w="12700">
            <a:solidFill>
              <a:srgbClr val="334155"/>
            </a:solidFill>
            <a:prstDash val="solid"/>
          </a:ln>
        </p:spPr>
      </p:sp>
      <p:sp>
        <p:nvSpPr>
          <p:cNvPr id="16" name="Text 14"/>
          <p:cNvSpPr/>
          <p:nvPr/>
        </p:nvSpPr>
        <p:spPr>
          <a:xfrm>
            <a:off x="4846320" y="3063240"/>
            <a:ext cx="3566160" cy="320040"/>
          </a:xfrm>
          <a:prstGeom prst="rect">
            <a:avLst/>
          </a:prstGeom>
          <a:noFill/>
          <a:ln/>
        </p:spPr>
        <p:txBody>
          <a:bodyPr wrap="square" lIns="0" tIns="0" rIns="0" bIns="0" rtlCol="0" anchor="ctr"/>
          <a:lstStyle/>
          <a:p>
            <a:pPr indent="0" marL="0">
              <a:buNone/>
            </a:pPr>
            <a:r>
              <a:rPr lang="en-US" sz="1300" b="1" dirty="0">
                <a:solidFill>
                  <a:srgbClr val="F43F5E"/>
                </a:solidFill>
                <a:latin typeface="Cambria" pitchFamily="34" charset="0"/>
                <a:ea typeface="Cambria" pitchFamily="34" charset="-122"/>
                <a:cs typeface="Cambria" pitchFamily="34" charset="-120"/>
              </a:rPr>
              <a:t>IoT Smart Table Sensor Integration</a:t>
            </a:r>
            <a:endParaRPr lang="en-US" sz="1300" dirty="0"/>
          </a:p>
        </p:txBody>
      </p:sp>
      <p:sp>
        <p:nvSpPr>
          <p:cNvPr id="17" name="Text 15"/>
          <p:cNvSpPr/>
          <p:nvPr/>
        </p:nvSpPr>
        <p:spPr>
          <a:xfrm>
            <a:off x="4846320" y="3429000"/>
            <a:ext cx="3566160" cy="868680"/>
          </a:xfrm>
          <a:prstGeom prst="rect">
            <a:avLst/>
          </a:prstGeom>
          <a:noFill/>
          <a:ln/>
        </p:spPr>
        <p:txBody>
          <a:bodyPr wrap="square" lIns="0" tIns="0" rIns="0" bIns="0" rtlCol="0" anchor="ctr"/>
          <a:lstStyle/>
          <a:p>
            <a:pPr indent="0" marL="0">
              <a:buNone/>
            </a:pPr>
            <a:r>
              <a:rPr lang="en-US" sz="1000" dirty="0">
                <a:solidFill>
                  <a:srgbClr val="E2E8F0"/>
                </a:solidFill>
                <a:latin typeface="Calibri" pitchFamily="34" charset="0"/>
                <a:ea typeface="Calibri" pitchFamily="34" charset="-122"/>
                <a:cs typeface="Calibri" pitchFamily="34" charset="-120"/>
              </a:rPr>
              <a:t>Pairing with Bluetooth load-cell weight sensors embedded beneath tables to detect empty beverage glasses and trigger automated refill alerts to waitstaff.</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548640" y="365760"/>
            <a:ext cx="8046720" cy="228600"/>
          </a:xfrm>
          <a:prstGeom prst="rect">
            <a:avLst/>
          </a:prstGeom>
          <a:noFill/>
          <a:ln/>
        </p:spPr>
        <p:txBody>
          <a:bodyPr wrap="square" lIns="0" tIns="0" rIns="0" bIns="0" rtlCol="0" anchor="ctr"/>
          <a:lstStyle/>
          <a:p>
            <a:pPr indent="0" marL="0">
              <a:buNone/>
            </a:pPr>
            <a:r>
              <a:rPr lang="en-US" sz="1000" b="1" spc="150" kern="0" dirty="0">
                <a:solidFill>
                  <a:srgbClr val="38BDF8"/>
                </a:solidFill>
                <a:latin typeface="Calibri" pitchFamily="34" charset="0"/>
                <a:ea typeface="Calibri" pitchFamily="34" charset="-122"/>
                <a:cs typeface="Calibri" pitchFamily="34" charset="-120"/>
              </a:rPr>
              <a:t>ACADEMIC BIBLIOGRAPHY</a:t>
            </a:r>
            <a:endParaRPr lang="en-US" sz="1000" dirty="0"/>
          </a:p>
        </p:txBody>
      </p:sp>
      <p:sp>
        <p:nvSpPr>
          <p:cNvPr id="3" name="Text 1"/>
          <p:cNvSpPr/>
          <p:nvPr/>
        </p:nvSpPr>
        <p:spPr>
          <a:xfrm>
            <a:off x="548640" y="594360"/>
            <a:ext cx="8046720" cy="41148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References, Technical Standards &amp; Literature Citations</a:t>
            </a:r>
            <a:endParaRPr lang="en-US" sz="2200" dirty="0"/>
          </a:p>
        </p:txBody>
      </p:sp>
      <p:sp>
        <p:nvSpPr>
          <p:cNvPr id="4" name="Text 2"/>
          <p:cNvSpPr/>
          <p:nvPr/>
        </p:nvSpPr>
        <p:spPr>
          <a:xfrm>
            <a:off x="548640" y="4800600"/>
            <a:ext cx="5943600" cy="228600"/>
          </a:xfrm>
          <a:prstGeom prst="rect">
            <a:avLst/>
          </a:prstGeom>
          <a:noFill/>
          <a:ln/>
        </p:spPr>
        <p:txBody>
          <a:bodyPr wrap="square" lIns="0" tIns="0" rIns="0" bIns="0" rtlCol="0" anchor="ctr"/>
          <a:lstStyle/>
          <a:p>
            <a:pPr indent="0" marL="0">
              <a:buNone/>
            </a:pPr>
            <a:r>
              <a:rPr lang="en-US" sz="900" dirty="0">
                <a:solidFill>
                  <a:srgbClr val="94A3B8"/>
                </a:solidFill>
                <a:latin typeface="Calibri" pitchFamily="34" charset="0"/>
                <a:ea typeface="Calibri" pitchFamily="34" charset="-122"/>
                <a:cs typeface="Calibri" pitchFamily="34" charset="-120"/>
              </a:rPr>
              <a:t>Department of Computer Engineering, TCET | A.Y. 2026–27 | Presentation III</a:t>
            </a:r>
            <a:endParaRPr lang="en-US" sz="900" dirty="0"/>
          </a:p>
        </p:txBody>
      </p:sp>
      <p:sp>
        <p:nvSpPr>
          <p:cNvPr id="5" name="Text 3"/>
          <p:cNvSpPr/>
          <p:nvPr/>
        </p:nvSpPr>
        <p:spPr>
          <a:xfrm>
            <a:off x="6583680" y="4800600"/>
            <a:ext cx="2011680" cy="228600"/>
          </a:xfrm>
          <a:prstGeom prst="rect">
            <a:avLst/>
          </a:prstGeom>
          <a:noFill/>
          <a:ln/>
        </p:spPr>
        <p:txBody>
          <a:bodyPr wrap="square" lIns="0" tIns="0" rIns="0" bIns="0" rtlCol="0" anchor="ctr"/>
          <a:lstStyle/>
          <a:p>
            <a:pPr algn="r" indent="0" marL="0">
              <a:buNone/>
            </a:pPr>
            <a:r>
              <a:rPr lang="en-US" sz="900" dirty="0">
                <a:solidFill>
                  <a:srgbClr val="38BDF8"/>
                </a:solidFill>
                <a:latin typeface="Calibri" pitchFamily="34" charset="0"/>
                <a:ea typeface="Calibri" pitchFamily="34" charset="-122"/>
                <a:cs typeface="Calibri" pitchFamily="34" charset="-120"/>
              </a:rPr>
              <a:t>https://smart-restaurant-2za8.vercel.app/</a:t>
            </a:r>
            <a:endParaRPr lang="en-US" sz="900" dirty="0"/>
          </a:p>
        </p:txBody>
      </p:sp>
      <p:sp>
        <p:nvSpPr>
          <p:cNvPr id="6" name="Shape 4"/>
          <p:cNvSpPr/>
          <p:nvPr/>
        </p:nvSpPr>
        <p:spPr>
          <a:xfrm>
            <a:off x="548640" y="1188720"/>
            <a:ext cx="8046720" cy="3429000"/>
          </a:xfrm>
          <a:prstGeom prst="roundRect">
            <a:avLst>
              <a:gd name="adj" fmla="val 2133"/>
            </a:avLst>
          </a:prstGeom>
          <a:solidFill>
            <a:srgbClr val="1E293B"/>
          </a:solidFill>
          <a:ln w="12700">
            <a:solidFill>
              <a:srgbClr val="334155"/>
            </a:solidFill>
            <a:prstDash val="solid"/>
          </a:ln>
        </p:spPr>
      </p:sp>
      <p:sp>
        <p:nvSpPr>
          <p:cNvPr id="7" name="Text 5"/>
          <p:cNvSpPr/>
          <p:nvPr/>
        </p:nvSpPr>
        <p:spPr>
          <a:xfrm>
            <a:off x="731520" y="1371600"/>
            <a:ext cx="7680960" cy="3017520"/>
          </a:xfrm>
          <a:prstGeom prst="rect">
            <a:avLst/>
          </a:prstGeom>
          <a:noFill/>
          <a:ln/>
        </p:spPr>
        <p:txBody>
          <a:bodyPr wrap="square" lIns="0" tIns="0" rIns="0" bIns="0" rtlCol="0" anchor="ctr"/>
          <a:lstStyle/>
          <a:p>
            <a:pPr indent="0" marL="0">
              <a:spcAft>
                <a:spcPts val="800"/>
              </a:spcAft>
              <a:buNone/>
            </a:pPr>
            <a:r>
              <a:rPr lang="en-US" sz="950" dirty="0">
                <a:solidFill>
                  <a:srgbClr val="E2E8F0"/>
                </a:solidFill>
                <a:latin typeface="Calibri" pitchFamily="34" charset="0"/>
                <a:ea typeface="Calibri" pitchFamily="34" charset="-122"/>
                <a:cs typeface="Calibri" pitchFamily="34" charset="-120"/>
              </a:rPr>
              <a:t>1. W3C WebXR Working Group, "WebXR Device API Specification," World Wide Web Consortium (W3C) Candidate Recommendation, Oct. 2024. Available: https://www.w3.org/TR/webxr/</a:t>
            </a:r>
            <a:endParaRPr lang="en-US" sz="950" dirty="0"/>
          </a:p>
          <a:p>
            <a:pPr indent="0" marL="0">
              <a:spcAft>
                <a:spcPts val="800"/>
              </a:spcAft>
              <a:buNone/>
            </a:pPr>
            <a:r>
              <a:rPr lang="en-US" sz="950" dirty="0">
                <a:solidFill>
                  <a:srgbClr val="E2E8F0"/>
                </a:solidFill>
                <a:latin typeface="Calibri" pitchFamily="34" charset="0"/>
                <a:ea typeface="Calibri" pitchFamily="34" charset="-122"/>
                <a:cs typeface="Calibri" pitchFamily="34" charset="-120"/>
              </a:rPr>
              <a:t>2. Khronos Group, "glTF 2.0 Specification and KHR_draco_mesh_compression Extension," Khronos 3D Formats Working Group, 2023. Available: https://www.khronos.org/gltf/</a:t>
            </a:r>
            <a:endParaRPr lang="en-US" sz="950" dirty="0"/>
          </a:p>
          <a:p>
            <a:pPr indent="0" marL="0">
              <a:spcAft>
                <a:spcPts val="800"/>
              </a:spcAft>
              <a:buNone/>
            </a:pPr>
            <a:r>
              <a:rPr lang="en-US" sz="950" dirty="0">
                <a:solidFill>
                  <a:srgbClr val="E2E8F0"/>
                </a:solidFill>
                <a:latin typeface="Calibri" pitchFamily="34" charset="0"/>
                <a:ea typeface="Calibri" pitchFamily="34" charset="-122"/>
                <a:cs typeface="Calibri" pitchFamily="34" charset="-120"/>
              </a:rPr>
              <a:t>3. Google Developers, "Google Scene Viewer Specification &amp; ARCore Developer Guide," Google LLC, 2025. Available: https://developers.google.com/ar/develop/scene-viewer</a:t>
            </a:r>
            <a:endParaRPr lang="en-US" sz="950" dirty="0"/>
          </a:p>
          <a:p>
            <a:pPr indent="0" marL="0">
              <a:spcAft>
                <a:spcPts val="800"/>
              </a:spcAft>
              <a:buNone/>
            </a:pPr>
            <a:r>
              <a:rPr lang="en-US" sz="950" dirty="0">
                <a:solidFill>
                  <a:srgbClr val="E2E8F0"/>
                </a:solidFill>
                <a:latin typeface="Calibri" pitchFamily="34" charset="0"/>
                <a:ea typeface="Calibri" pitchFamily="34" charset="-122"/>
                <a:cs typeface="Calibri" pitchFamily="34" charset="-120"/>
              </a:rPr>
              <a:t>4. S. Sharma, P. Kumar, and M. Verma, "Augmented Reality in Hospitality: Enhancing Customer Engagement, Portion Perception, and Reducing Food Waste," IEEE Transactions on Engineering Management, vol. 71, pp. 1120–1132, 2024.</a:t>
            </a:r>
            <a:endParaRPr lang="en-US" sz="950" dirty="0"/>
          </a:p>
          <a:p>
            <a:pPr indent="0" marL="0">
              <a:spcAft>
                <a:spcPts val="800"/>
              </a:spcAft>
              <a:buNone/>
            </a:pPr>
            <a:r>
              <a:rPr lang="en-US" sz="950" dirty="0">
                <a:solidFill>
                  <a:srgbClr val="E2E8F0"/>
                </a:solidFill>
                <a:latin typeface="Calibri" pitchFamily="34" charset="0"/>
                <a:ea typeface="Calibri" pitchFamily="34" charset="-122"/>
                <a:cs typeface="Calibri" pitchFamily="34" charset="-120"/>
              </a:rPr>
              <a:t>5. R. Chen and L. Zhang, "Zero-Install Spatial Computing on Mobile Web: Architectural Trade-Offs in WebGL and WebXR," in Proc. ACM Conf. on Human Factors in Computing Systems (CHI '24), Honolulu, HI, USA, 2024, pp. 1–14.</a:t>
            </a:r>
            <a:endParaRPr lang="en-US" sz="950" dirty="0"/>
          </a:p>
          <a:p>
            <a:pPr indent="0" marL="0">
              <a:spcAft>
                <a:spcPts val="800"/>
              </a:spcAft>
              <a:buNone/>
            </a:pPr>
            <a:r>
              <a:rPr lang="en-US" sz="950" dirty="0">
                <a:solidFill>
                  <a:srgbClr val="E2E8F0"/>
                </a:solidFill>
                <a:latin typeface="Calibri" pitchFamily="34" charset="0"/>
                <a:ea typeface="Calibri" pitchFamily="34" charset="-122"/>
                <a:cs typeface="Calibri" pitchFamily="34" charset="-120"/>
              </a:rPr>
              <a:t>6. E. Cabello and Three.js Contributors, "Three.js JavaScript 3D WebGL Library Documentation (r128+)," 2024. Available: https://threejs.org/docs/</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Thakur College of Engineering and Technology (TCET)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Smart Restaurant - Presentation III Final Evaluation</dc:title>
  <dc:subject>PptxGenJS Presentation</dc:subject>
  <dc:creator>Manav Singh, Sanskar Suryavanshi, Kesar Singh</dc:creator>
  <cp:lastModifiedBy>Manav Singh, Sanskar Suryavanshi, Kesar Singh</cp:lastModifiedBy>
  <cp:revision>1</cp:revision>
  <dcterms:created xsi:type="dcterms:W3CDTF">2026-09-23T06:14:02Z</dcterms:created>
  <dcterms:modified xsi:type="dcterms:W3CDTF">2026-09-23T06:14:02Z</dcterms:modified>
</cp:coreProperties>
</file>