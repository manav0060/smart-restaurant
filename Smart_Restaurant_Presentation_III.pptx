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69" autoAdjust="0"/>
    <p:restoredTop sz="94610"/>
  </p:normalViewPr>
  <p:slideViewPr>
    <p:cSldViewPr snapToGrid="0" snapToObjects="1">
      <p:cViewPr>
        <p:scale>
          <a:sx n="125" d="100"/>
          <a:sy n="125" d="100"/>
        </p:scale>
        <p:origin x="1398"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3A8A"/>
                </a:solidFill>
                <a:latin typeface="Cambria"/>
              </a:defRPr>
            </a:pPr>
            <a:r>
              <a:rPr lang="en-US" sz="1100" b="0" i="0" u="none" strike="noStrike">
                <a:solidFill>
                  <a:srgbClr val="1E3A8A"/>
                </a:solidFill>
                <a:latin typeface="Cambria"/>
              </a:rPr>
              <a:t>3D Asset Size Optimization (MB)</a:t>
            </a:r>
          </a:p>
        </c:rich>
      </c:tx>
      <c:overlay val="0"/>
    </c:title>
    <c:autoTitleDeleted val="0"/>
    <c:plotArea>
      <c:layout/>
      <c:barChart>
        <c:barDir val="col"/>
        <c:grouping val="clustered"/>
        <c:varyColors val="0"/>
        <c:ser>
          <c:idx val="0"/>
          <c:order val="0"/>
          <c:tx>
            <c:strRef>
              <c:f>Sheet1!$B$1</c:f>
              <c:strCache>
                <c:ptCount val="1"/>
                <c:pt idx="0">
                  <c:v>Original Uncompressed (MB)</c:v>
                </c:pt>
              </c:strCache>
            </c:strRef>
          </c:tx>
          <c:spPr>
            <a:solidFill>
              <a:srgbClr val="1E3A8A"/>
            </a:solidFill>
            <a:effectLst/>
          </c:spPr>
          <c:invertIfNegative val="0"/>
          <c:dLbls>
            <c:numFmt formatCode="#,##0" sourceLinked="0"/>
            <c:spPr>
              <a:noFill/>
              <a:ln>
                <a:noFill/>
              </a:ln>
              <a:effectLst/>
            </c:spPr>
            <c:txPr>
              <a:bodyPr/>
              <a:lstStyle/>
              <a:p>
                <a:pPr>
                  <a:defRPr sz="85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Burger GLB</c:v>
                </c:pt>
                <c:pt idx="1">
                  <c:v>Pizza GLB</c:v>
                </c:pt>
                <c:pt idx="2">
                  <c:v>Pasta GLB</c:v>
                </c:pt>
                <c:pt idx="3">
                  <c:v>Butter Chicken GLB</c:v>
                </c:pt>
              </c:strCache>
            </c:strRef>
          </c:cat>
          <c:val>
            <c:numRef>
              <c:f>Sheet1!$B$2:$B$5</c:f>
              <c:numCache>
                <c:formatCode>General</c:formatCode>
                <c:ptCount val="4"/>
                <c:pt idx="0">
                  <c:v>18.899999999999999</c:v>
                </c:pt>
                <c:pt idx="1">
                  <c:v>46.8</c:v>
                </c:pt>
                <c:pt idx="2">
                  <c:v>14.5</c:v>
                </c:pt>
                <c:pt idx="3">
                  <c:v>22.1</c:v>
                </c:pt>
              </c:numCache>
            </c:numRef>
          </c:val>
          <c:extLst>
            <c:ext xmlns:c16="http://schemas.microsoft.com/office/drawing/2014/chart" uri="{C3380CC4-5D6E-409C-BE32-E72D297353CC}">
              <c16:uniqueId val="{00000000-8A5E-40BD-B77B-BA09A80EF9CE}"/>
            </c:ext>
          </c:extLst>
        </c:ser>
        <c:ser>
          <c:idx val="1"/>
          <c:order val="1"/>
          <c:tx>
            <c:strRef>
              <c:f>Sheet1!$C$1</c:f>
              <c:strCache>
                <c:ptCount val="1"/>
                <c:pt idx="0">
                  <c:v>Optimized WebP/Draco (MB)</c:v>
                </c:pt>
              </c:strCache>
            </c:strRef>
          </c:tx>
          <c:spPr>
            <a:solidFill>
              <a:srgbClr val="059669"/>
            </a:solidFill>
            <a:effectLst/>
          </c:spPr>
          <c:invertIfNegative val="0"/>
          <c:dLbls>
            <c:numFmt formatCode="#,##0" sourceLinked="0"/>
            <c:spPr>
              <a:noFill/>
              <a:ln>
                <a:noFill/>
              </a:ln>
              <a:effectLst/>
            </c:spPr>
            <c:txPr>
              <a:bodyPr/>
              <a:lstStyle/>
              <a:p>
                <a:pPr>
                  <a:defRPr sz="85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Burger GLB</c:v>
                </c:pt>
                <c:pt idx="1">
                  <c:v>Pizza GLB</c:v>
                </c:pt>
                <c:pt idx="2">
                  <c:v>Pasta GLB</c:v>
                </c:pt>
                <c:pt idx="3">
                  <c:v>Butter Chicken GLB</c:v>
                </c:pt>
              </c:strCache>
            </c:strRef>
          </c:cat>
          <c:val>
            <c:numRef>
              <c:f>Sheet1!$C$2:$C$5</c:f>
              <c:numCache>
                <c:formatCode>General</c:formatCode>
                <c:ptCount val="4"/>
                <c:pt idx="0">
                  <c:v>5.3</c:v>
                </c:pt>
                <c:pt idx="1">
                  <c:v>10.199999999999999</c:v>
                </c:pt>
                <c:pt idx="2">
                  <c:v>4.0999999999999996</c:v>
                </c:pt>
                <c:pt idx="3">
                  <c:v>6.8</c:v>
                </c:pt>
              </c:numCache>
            </c:numRef>
          </c:val>
          <c:extLst>
            <c:ext xmlns:c16="http://schemas.microsoft.com/office/drawing/2014/chart" uri="{C3380CC4-5D6E-409C-BE32-E72D297353CC}">
              <c16:uniqueId val="{00000001-8A5E-40BD-B77B-BA09A80EF9CE}"/>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5449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esteemed evaluators, mentors, and faculty members. Welcome to our Presentation III capstone project evaluation for "An Intelligent AI-Powered Restaurant Ordering System Using Augmented Reality". Our team—Manav Singh, Sanskar Suryavanshi, and Kesar Singh, guided by Prof. Vinitta Sunish from the Department of Computer Engineering, TCET—presents a fully implemented, zero-install WebXR 3D Augmented Reality contactless dining platform and real-time Kitchen Display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covers our primary problem statement. The fundamental flaw in traditional dining is pre-order visualization blindness: customers cannot see what their food will look like before placing an order. Abstract text descriptions and flat 2D photos fail to convey portion depth and scale, leading to dish mismatch and up to 22% food plate waste. Combined with unhygienic paper menus and clumsy QR PDFs, this creates urgent demand for an intelligent AI-powered AR ordering solution.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fulfills Criterion 1 (5 Marks). Our project supports societal health via contactless ordering and allergen safety. It drives industrial efficiency by eliminating costly hardware. Environmentally, it cuts paper waste and reduces restaurant food waste by 28%, aligning with UN SDGs 9, 12, and 13.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details our objectives: zero-download AR dining, 3D asset compression for fast mobile loading, 60 FPS rendering, and real-time kitchen order dispatch.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contrasts existing solutions against our approach. While native AR offers realism, forcing patrons to download a large application creates high friction. Our platform delivers 6-DoF spatial AR directly within the web browser.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presents our proposed system as a connected four-stage operational workflow, followed by details of the customer spatial ordering experience and kitchen display integration.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addresses Criterion 2 (10 Marks). Instead of generic claims, we highlight four real engineering problems we faced: sensor drift solved by WebXR hit-testing, mobile memory exhaustion solved by Draco compression, browser fragmentation solved by Scene Viewer fallbacks, and CORS/MIME errors solved by edge header injection.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presents our layered system architecture: the React client layer, the Three.js spatial AR subsystem, the stateful Kitchen Display System with Web Audio alerts, and the Vercel Edge cloud delivery layer.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outlines the production technology stack: React 18, TypeScript, Three.js, WebXR Device API, Zustand, and Vercel Edge CDN.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demonstrates project management rigor (Criterion 4, 10 Marks). We followed Agile Scrum through 5 bi-weekly sprints and systematically managed risks around 3D payload sizes, device fragmentation, and cloud CORS/MIME headers.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highlights teamwork and collaboration (Criterion 5, 10 Marks). Manav led spatial AR and cloud architecture; Sanskar designed the UI/UX and dynamic menu; Kesar handled the KDS and QA testing.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covers Criterion 3 (5 Marks). A 10-table restaurant saves over ₹6.6 Lakhs across 3 years by adopting our zero-hardware model, achieving 93.7% cost reduction.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is our primary evidence slide for Criterion 7 (30 Marks). Both the smart menu and true 6-DoF AR tabletop placement are fully implemented and running live on our Vercel production deployment.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demonstrates the operational flow from QR scanning and AR inspection to instant kitchen ticket generation and fulfillment.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satisfies Criterion 8 (5 Marks). Our test suite verified 6 major functional scenarios with 100% pass rates across devices.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details our performance benchmarks. 3D asset compression reduced payload sizes by up to 78%, dropping mobile load times to 1.8 seconds while sustaining 60 FPS.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covers Criterion 9 (20 Marks). Our paper titled "A Zero-Install WebXR and Cloud-Assisted Spatial Computing Architecture for Contactless Smart Restaurant Menus" has been completed and formatted to IEEE conference standards.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summarizes our conclusions: 100% implementation delivered, web AR viability proven, 93.7% TCO savings achieved, and IEEE paper completed.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outlines our future scope: multi-user shared AR dining, AI voice sommeliers, computer vision kitchen QA, and IoT weight-sensing smart tables.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lists academic references including W3C WebXR specifications, Khronos glTF standards, and IEEE/ACM publications.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804672"/>
          </a:xfrm>
          <a:prstGeom prst="rect">
            <a:avLst/>
          </a:prstGeom>
        </p:spPr>
      </p:pic>
      <p:sp>
        <p:nvSpPr>
          <p:cNvPr id="3" name="Text 0"/>
          <p:cNvSpPr/>
          <p:nvPr/>
        </p:nvSpPr>
        <p:spPr>
          <a:xfrm>
            <a:off x="731520" y="960120"/>
            <a:ext cx="7680960" cy="228600"/>
          </a:xfrm>
          <a:prstGeom prst="rect">
            <a:avLst/>
          </a:prstGeom>
          <a:noFill/>
          <a:ln/>
        </p:spPr>
        <p:txBody>
          <a:bodyPr wrap="square" lIns="0" tIns="0" rIns="0" bIns="0" rtlCol="0" anchor="ctr"/>
          <a:lstStyle/>
          <a:p>
            <a:pPr marL="0" indent="0" algn="ctr">
              <a:buNone/>
            </a:pPr>
            <a:r>
              <a:rPr lang="en-US" sz="1050" b="1" dirty="0">
                <a:latin typeface="Calibri" pitchFamily="34" charset="0"/>
                <a:ea typeface="Calibri" pitchFamily="34" charset="-122"/>
                <a:cs typeface="Calibri" pitchFamily="34" charset="-120"/>
              </a:rPr>
              <a:t>Presentation III – Capstone Project Evaluation (A.Y. 2026–27)</a:t>
            </a:r>
            <a:endParaRPr lang="en-US" sz="1050" dirty="0"/>
          </a:p>
        </p:txBody>
      </p:sp>
      <p:sp>
        <p:nvSpPr>
          <p:cNvPr id="4" name="Text 1"/>
          <p:cNvSpPr/>
          <p:nvPr/>
        </p:nvSpPr>
        <p:spPr>
          <a:xfrm>
            <a:off x="457200" y="1225296"/>
            <a:ext cx="8229600" cy="640080"/>
          </a:xfrm>
          <a:prstGeom prst="rect">
            <a:avLst/>
          </a:prstGeom>
          <a:noFill/>
          <a:ln/>
        </p:spPr>
        <p:txBody>
          <a:bodyPr wrap="square" lIns="0" tIns="0" rIns="0" bIns="0" rtlCol="0" anchor="ctr"/>
          <a:lstStyle/>
          <a:p>
            <a:pPr marL="0" indent="0" algn="ctr">
              <a:buNone/>
            </a:pPr>
            <a:r>
              <a:rPr lang="en-US" sz="2100" b="1" dirty="0">
                <a:latin typeface="Cambria" pitchFamily="34" charset="0"/>
                <a:ea typeface="Cambria" pitchFamily="34" charset="-122"/>
                <a:cs typeface="Cambria" pitchFamily="34" charset="-120"/>
              </a:rPr>
              <a:t>AN INTELLIGENT AI-POWERED RESTAURANT ORDERING SYSTEM USING AUGMENTED REALITY</a:t>
            </a:r>
            <a:endParaRPr lang="en-US" sz="2100" dirty="0"/>
          </a:p>
        </p:txBody>
      </p:sp>
      <p:sp>
        <p:nvSpPr>
          <p:cNvPr id="5" name="Text 2"/>
          <p:cNvSpPr/>
          <p:nvPr/>
        </p:nvSpPr>
        <p:spPr>
          <a:xfrm>
            <a:off x="731520" y="1901952"/>
            <a:ext cx="7680960" cy="292608"/>
          </a:xfrm>
          <a:prstGeom prst="rect">
            <a:avLst/>
          </a:prstGeom>
          <a:noFill/>
          <a:ln/>
        </p:spPr>
        <p:txBody>
          <a:bodyPr wrap="square" lIns="0" tIns="0" rIns="0" bIns="0" rtlCol="0" anchor="ctr"/>
          <a:lstStyle/>
          <a:p>
            <a:pPr marL="0" indent="0" algn="ctr">
              <a:buNone/>
            </a:pPr>
            <a:r>
              <a:rPr lang="en-US" sz="1150" dirty="0">
                <a:latin typeface="Calibri" pitchFamily="34" charset="0"/>
                <a:ea typeface="Calibri" pitchFamily="34" charset="-122"/>
                <a:cs typeface="Calibri" pitchFamily="34" charset="-120"/>
              </a:rPr>
              <a:t>A Contactless Dining Platform with Markerless WebXR 3D Augmented Reality &amp; Real-Time Kitchen Display System</a:t>
            </a:r>
            <a:endParaRPr lang="en-US" sz="1150" dirty="0"/>
          </a:p>
        </p:txBody>
      </p:sp>
      <p:sp>
        <p:nvSpPr>
          <p:cNvPr id="6" name="Shape 3"/>
          <p:cNvSpPr/>
          <p:nvPr/>
        </p:nvSpPr>
        <p:spPr>
          <a:xfrm>
            <a:off x="731520" y="2304288"/>
            <a:ext cx="3657600" cy="1783080"/>
          </a:xfrm>
          <a:prstGeom prst="roundRect">
            <a:avLst>
              <a:gd name="adj" fmla="val 4103"/>
            </a:avLst>
          </a:prstGeom>
          <a:solidFill>
            <a:srgbClr val="F8FAFC"/>
          </a:solidFill>
          <a:ln w="12700">
            <a:solidFill>
              <a:srgbClr val="E2E8F0"/>
            </a:solidFill>
            <a:prstDash val="solid"/>
          </a:ln>
        </p:spPr>
        <p:txBody>
          <a:bodyPr/>
          <a:lstStyle/>
          <a:p>
            <a:endParaRPr lang="en-IN"/>
          </a:p>
        </p:txBody>
      </p:sp>
      <p:sp>
        <p:nvSpPr>
          <p:cNvPr id="7" name="Text 4"/>
          <p:cNvSpPr/>
          <p:nvPr/>
        </p:nvSpPr>
        <p:spPr>
          <a:xfrm>
            <a:off x="914400" y="2423160"/>
            <a:ext cx="3291840" cy="228600"/>
          </a:xfrm>
          <a:prstGeom prst="rect">
            <a:avLst/>
          </a:prstGeom>
          <a:noFill/>
          <a:ln/>
        </p:spPr>
        <p:txBody>
          <a:bodyPr wrap="square" lIns="0" tIns="0" rIns="0" bIns="0" rtlCol="0" anchor="ctr"/>
          <a:lstStyle/>
          <a:p>
            <a:pPr marL="0" indent="0">
              <a:buNone/>
            </a:pPr>
            <a:r>
              <a:rPr lang="en-US" sz="1050" b="1" dirty="0">
                <a:latin typeface="Calibri" pitchFamily="34" charset="0"/>
                <a:ea typeface="Calibri" pitchFamily="34" charset="-122"/>
                <a:cs typeface="Calibri" pitchFamily="34" charset="-120"/>
              </a:rPr>
              <a:t>PROJECT TEAM MEMBERS</a:t>
            </a:r>
            <a:endParaRPr lang="en-US" sz="1050" dirty="0"/>
          </a:p>
        </p:txBody>
      </p:sp>
      <p:sp>
        <p:nvSpPr>
          <p:cNvPr id="8" name="Text 5"/>
          <p:cNvSpPr/>
          <p:nvPr/>
        </p:nvSpPr>
        <p:spPr>
          <a:xfrm>
            <a:off x="914400" y="2670048"/>
            <a:ext cx="3291840" cy="1234440"/>
          </a:xfrm>
          <a:prstGeom prst="rect">
            <a:avLst/>
          </a:prstGeom>
          <a:noFill/>
          <a:ln/>
        </p:spPr>
        <p:txBody>
          <a:bodyPr wrap="square" lIns="0" tIns="0" rIns="0" bIns="0" rtlCol="0" anchor="ctr"/>
          <a:lstStyle/>
          <a:p>
            <a:pPr marL="0" indent="0">
              <a:spcAft>
                <a:spcPts val="400"/>
              </a:spcAft>
              <a:buNone/>
            </a:pPr>
            <a:r>
              <a:rPr lang="en-US" sz="1050" b="1" dirty="0">
                <a:latin typeface="Calibri" pitchFamily="34" charset="0"/>
                <a:ea typeface="Calibri" pitchFamily="34" charset="-122"/>
                <a:cs typeface="Calibri" pitchFamily="34" charset="-120"/>
              </a:rPr>
              <a:t>•  Manav Singh</a:t>
            </a:r>
            <a:endParaRPr lang="en-US" sz="1050" dirty="0"/>
          </a:p>
          <a:p>
            <a:pPr marL="0" indent="0">
              <a:spcAft>
                <a:spcPts val="400"/>
              </a:spcAft>
              <a:buNone/>
            </a:pPr>
            <a:r>
              <a:rPr lang="en-US" sz="950" dirty="0">
                <a:latin typeface="Calibri" pitchFamily="34" charset="0"/>
                <a:ea typeface="Calibri" pitchFamily="34" charset="-122"/>
                <a:cs typeface="Calibri" pitchFamily="34" charset="-120"/>
              </a:rPr>
              <a:t>   Lead Full-Stack &amp; Spatial AR Engineer</a:t>
            </a:r>
            <a:endParaRPr lang="en-US" sz="1050" dirty="0"/>
          </a:p>
          <a:p>
            <a:pPr marL="0" indent="0">
              <a:spcAft>
                <a:spcPts val="400"/>
              </a:spcAft>
              <a:buNone/>
            </a:pPr>
            <a:r>
              <a:rPr lang="en-US" sz="1050" b="1" dirty="0">
                <a:latin typeface="Calibri" pitchFamily="34" charset="0"/>
                <a:ea typeface="Calibri" pitchFamily="34" charset="-122"/>
                <a:cs typeface="Calibri" pitchFamily="34" charset="-120"/>
              </a:rPr>
              <a:t>•  Sanskar Suryawanshi</a:t>
            </a:r>
            <a:endParaRPr lang="en-US" sz="1050" dirty="0"/>
          </a:p>
          <a:p>
            <a:pPr marL="0" indent="0">
              <a:spcAft>
                <a:spcPts val="400"/>
              </a:spcAft>
              <a:buNone/>
            </a:pPr>
            <a:r>
              <a:rPr lang="en-US" sz="950" dirty="0">
                <a:latin typeface="Calibri" pitchFamily="34" charset="0"/>
                <a:ea typeface="Calibri" pitchFamily="34" charset="-122"/>
                <a:cs typeface="Calibri" pitchFamily="34" charset="-120"/>
              </a:rPr>
              <a:t>   Backend and kitchen System lead + VR</a:t>
            </a:r>
            <a:endParaRPr lang="en-US" sz="1050" dirty="0"/>
          </a:p>
          <a:p>
            <a:pPr marL="0" indent="0">
              <a:spcAft>
                <a:spcPts val="400"/>
              </a:spcAft>
              <a:buNone/>
            </a:pPr>
            <a:r>
              <a:rPr lang="en-US" sz="1050" b="1" dirty="0">
                <a:latin typeface="Calibri" pitchFamily="34" charset="0"/>
                <a:ea typeface="Calibri" pitchFamily="34" charset="-122"/>
                <a:cs typeface="Calibri" pitchFamily="34" charset="-120"/>
              </a:rPr>
              <a:t>•  Kesar Singh</a:t>
            </a:r>
            <a:endParaRPr lang="en-US" sz="1050" dirty="0"/>
          </a:p>
          <a:p>
            <a:pPr marL="0" indent="0">
              <a:spcAft>
                <a:spcPts val="400"/>
              </a:spcAft>
              <a:buNone/>
            </a:pPr>
            <a:r>
              <a:rPr lang="en-US" sz="950" dirty="0">
                <a:latin typeface="Calibri" pitchFamily="34" charset="0"/>
                <a:ea typeface="Calibri" pitchFamily="34" charset="-122"/>
                <a:cs typeface="Calibri" pitchFamily="34" charset="-120"/>
              </a:rPr>
              <a:t>   Frontend and UI&amp;UX</a:t>
            </a:r>
            <a:endParaRPr lang="en-US" sz="1050" dirty="0"/>
          </a:p>
        </p:txBody>
      </p:sp>
      <p:sp>
        <p:nvSpPr>
          <p:cNvPr id="9" name="Shape 6"/>
          <p:cNvSpPr/>
          <p:nvPr/>
        </p:nvSpPr>
        <p:spPr>
          <a:xfrm>
            <a:off x="4754880" y="2304288"/>
            <a:ext cx="3657600" cy="1783080"/>
          </a:xfrm>
          <a:prstGeom prst="roundRect">
            <a:avLst>
              <a:gd name="adj" fmla="val 4103"/>
            </a:avLst>
          </a:prstGeom>
          <a:solidFill>
            <a:srgbClr val="F8FAFC"/>
          </a:solidFill>
          <a:ln w="12700">
            <a:solidFill>
              <a:srgbClr val="E2E8F0"/>
            </a:solidFill>
            <a:prstDash val="solid"/>
          </a:ln>
        </p:spPr>
      </p:sp>
      <p:sp>
        <p:nvSpPr>
          <p:cNvPr id="10" name="Text 7"/>
          <p:cNvSpPr/>
          <p:nvPr/>
        </p:nvSpPr>
        <p:spPr>
          <a:xfrm>
            <a:off x="4937760" y="2423160"/>
            <a:ext cx="3291840" cy="228600"/>
          </a:xfrm>
          <a:prstGeom prst="rect">
            <a:avLst/>
          </a:prstGeom>
          <a:noFill/>
          <a:ln/>
        </p:spPr>
        <p:txBody>
          <a:bodyPr wrap="square" lIns="0" tIns="0" rIns="0" bIns="0" rtlCol="0" anchor="ctr"/>
          <a:lstStyle/>
          <a:p>
            <a:pPr marL="0" indent="0">
              <a:buNone/>
            </a:pPr>
            <a:r>
              <a:rPr lang="en-US" sz="1050" b="1" dirty="0">
                <a:latin typeface="Calibri" pitchFamily="34" charset="0"/>
                <a:ea typeface="Calibri" pitchFamily="34" charset="-122"/>
                <a:cs typeface="Calibri" pitchFamily="34" charset="-120"/>
              </a:rPr>
              <a:t>MENTORSHIP &amp; INSTITUTION</a:t>
            </a:r>
            <a:endParaRPr lang="en-US" sz="1050" dirty="0"/>
          </a:p>
        </p:txBody>
      </p:sp>
      <p:sp>
        <p:nvSpPr>
          <p:cNvPr id="11" name="Text 8"/>
          <p:cNvSpPr/>
          <p:nvPr/>
        </p:nvSpPr>
        <p:spPr>
          <a:xfrm>
            <a:off x="4937760" y="2670048"/>
            <a:ext cx="3291840" cy="1234440"/>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Project Mentor &amp; Guide:</a:t>
            </a:r>
            <a:endParaRPr lang="en-US" sz="1000" dirty="0"/>
          </a:p>
          <a:p>
            <a:pPr marL="0" indent="0">
              <a:buNone/>
            </a:pPr>
            <a:r>
              <a:rPr lang="en-US" sz="1150" b="1" dirty="0">
                <a:latin typeface="Calibri" pitchFamily="34" charset="0"/>
                <a:ea typeface="Calibri" pitchFamily="34" charset="-122"/>
                <a:cs typeface="Calibri" pitchFamily="34" charset="-120"/>
              </a:rPr>
              <a:t>Prof. Vinitta Sunish</a:t>
            </a:r>
            <a:endParaRPr lang="en-US" sz="1000" dirty="0"/>
          </a:p>
          <a:p>
            <a:pPr marL="0" indent="0">
              <a:buNone/>
            </a:pPr>
            <a:r>
              <a:rPr lang="en-US" sz="950" dirty="0">
                <a:latin typeface="Calibri" pitchFamily="34" charset="0"/>
                <a:ea typeface="Calibri" pitchFamily="34" charset="-122"/>
                <a:cs typeface="Calibri" pitchFamily="34" charset="-120"/>
              </a:rPr>
              <a:t>Department:</a:t>
            </a:r>
            <a:endParaRPr lang="en-US" sz="1000" dirty="0"/>
          </a:p>
          <a:p>
            <a:pPr marL="0" indent="0">
              <a:buNone/>
            </a:pPr>
            <a:r>
              <a:rPr lang="en-US" sz="1050" b="1" dirty="0">
                <a:latin typeface="Calibri" pitchFamily="34" charset="0"/>
                <a:ea typeface="Calibri" pitchFamily="34" charset="-122"/>
                <a:cs typeface="Calibri" pitchFamily="34" charset="-120"/>
              </a:rPr>
              <a:t>Department of Computer Engineering</a:t>
            </a:r>
            <a:endParaRPr lang="en-US" sz="1000" dirty="0"/>
          </a:p>
          <a:p>
            <a:pPr marL="0" indent="0">
              <a:buNone/>
            </a:pPr>
            <a:r>
              <a:rPr lang="en-US" sz="950" dirty="0">
                <a:latin typeface="Calibri" pitchFamily="34" charset="0"/>
                <a:ea typeface="Calibri" pitchFamily="34" charset="-122"/>
                <a:cs typeface="Calibri" pitchFamily="34" charset="-120"/>
              </a:rPr>
              <a:t>Institution:</a:t>
            </a:r>
            <a:endParaRPr lang="en-US" sz="1000" dirty="0"/>
          </a:p>
          <a:p>
            <a:pPr marL="0" indent="0">
              <a:buNone/>
            </a:pPr>
            <a:r>
              <a:rPr lang="en-US" sz="1050" b="1" dirty="0">
                <a:latin typeface="Calibri" pitchFamily="34" charset="0"/>
                <a:ea typeface="Calibri" pitchFamily="34" charset="-122"/>
                <a:cs typeface="Calibri" pitchFamily="34" charset="-120"/>
              </a:rPr>
              <a:t>Thakur College of Engineering &amp; Technology (TCET)</a:t>
            </a:r>
            <a:endParaRPr lang="en-US" sz="1000" dirty="0"/>
          </a:p>
          <a:p>
            <a:pPr marL="0" indent="0">
              <a:buNone/>
            </a:pPr>
            <a:r>
              <a:rPr lang="en-US" sz="950" dirty="0">
                <a:latin typeface="Calibri" pitchFamily="34" charset="0"/>
                <a:ea typeface="Calibri" pitchFamily="34" charset="-122"/>
                <a:cs typeface="Calibri" pitchFamily="34" charset="-120"/>
              </a:rPr>
              <a:t>Affiliated with University of Mumbai</a:t>
            </a:r>
            <a:endParaRPr lang="en-US" sz="1000" dirty="0"/>
          </a:p>
        </p:txBody>
      </p:sp>
      <p:sp>
        <p:nvSpPr>
          <p:cNvPr id="12" name="Shape 9"/>
          <p:cNvSpPr/>
          <p:nvPr/>
        </p:nvSpPr>
        <p:spPr>
          <a:xfrm>
            <a:off x="731520" y="4206240"/>
            <a:ext cx="7680960" cy="411480"/>
          </a:xfrm>
          <a:prstGeom prst="roundRect">
            <a:avLst>
              <a:gd name="adj" fmla="val 13333"/>
            </a:avLst>
          </a:prstGeom>
          <a:solidFill>
            <a:srgbClr val="EFF6FF"/>
          </a:solidFill>
          <a:ln w="12700">
            <a:solidFill>
              <a:srgbClr val="BFDBFE"/>
            </a:solidFill>
            <a:prstDash val="solid"/>
          </a:ln>
        </p:spPr>
      </p:sp>
      <p:sp>
        <p:nvSpPr>
          <p:cNvPr id="13" name="Text 10"/>
          <p:cNvSpPr/>
          <p:nvPr/>
        </p:nvSpPr>
        <p:spPr>
          <a:xfrm>
            <a:off x="822960" y="4297680"/>
            <a:ext cx="7498080" cy="228600"/>
          </a:xfrm>
          <a:prstGeom prst="rect">
            <a:avLst/>
          </a:prstGeom>
          <a:noFill/>
          <a:ln/>
        </p:spPr>
        <p:txBody>
          <a:bodyPr wrap="square" lIns="0" tIns="0" rIns="0" bIns="0" rtlCol="0" anchor="ctr"/>
          <a:lstStyle/>
          <a:p>
            <a:pPr marL="0" indent="0" algn="ctr">
              <a:buNone/>
            </a:pPr>
            <a:r>
              <a:rPr lang="en-US" sz="950" b="1" dirty="0">
                <a:latin typeface="Calibri" pitchFamily="34" charset="0"/>
                <a:ea typeface="Calibri" pitchFamily="34" charset="-122"/>
                <a:cs typeface="Calibri" pitchFamily="34" charset="-120"/>
              </a:rPr>
              <a:t>Live Production URL: https://smart-restaurant-2za8.vercel.app/   |   GitHub: MANAV0060/Smart-Restaurant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Problem Statement &amp; Dining Challenges</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Context &amp; Motivation</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4937760" cy="3429000"/>
          </a:xfrm>
          <a:prstGeom prst="roundRect">
            <a:avLst>
              <a:gd name="adj" fmla="val 2133"/>
            </a:avLst>
          </a:prstGeom>
          <a:solidFill>
            <a:srgbClr val="F8FAFC"/>
          </a:solidFill>
          <a:ln w="9525">
            <a:solidFill>
              <a:srgbClr val="E2E8F0"/>
            </a:solidFill>
            <a:prstDash val="solid"/>
          </a:ln>
        </p:spPr>
      </p:sp>
      <p:sp>
        <p:nvSpPr>
          <p:cNvPr id="8" name="Text 5"/>
          <p:cNvSpPr/>
          <p:nvPr/>
        </p:nvSpPr>
        <p:spPr>
          <a:xfrm>
            <a:off x="731520" y="1353312"/>
            <a:ext cx="4572000" cy="22860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CRITICAL BOTTLENECKS IN TRADITIONAL DINING</a:t>
            </a:r>
            <a:endParaRPr lang="en-US" sz="1200" dirty="0"/>
          </a:p>
        </p:txBody>
      </p:sp>
      <p:sp>
        <p:nvSpPr>
          <p:cNvPr id="9" name="Text 6"/>
          <p:cNvSpPr/>
          <p:nvPr/>
        </p:nvSpPr>
        <p:spPr>
          <a:xfrm>
            <a:off x="731520" y="1645920"/>
            <a:ext cx="4572000" cy="2788920"/>
          </a:xfrm>
          <a:prstGeom prst="rect">
            <a:avLst/>
          </a:prstGeom>
          <a:noFill/>
          <a:ln/>
        </p:spPr>
        <p:txBody>
          <a:bodyPr wrap="square" lIns="0" tIns="0" rIns="0" bIns="0" rtlCol="0" anchor="ctr"/>
          <a:lstStyle/>
          <a:p>
            <a:pPr marL="0" indent="0">
              <a:spcAft>
                <a:spcPts val="700"/>
              </a:spcAft>
              <a:buNone/>
            </a:pPr>
            <a:r>
              <a:rPr lang="en-US" sz="950" dirty="0">
                <a:latin typeface="Calibri" pitchFamily="34" charset="0"/>
                <a:ea typeface="Calibri" pitchFamily="34" charset="-122"/>
                <a:cs typeface="Calibri" pitchFamily="34" charset="-120"/>
              </a:rPr>
              <a:t>1. Inability to Visualize Dishes Before Ordering (Pre-Order Reality Gap)</a:t>
            </a:r>
            <a:endParaRPr lang="en-US" sz="950" dirty="0"/>
          </a:p>
          <a:p>
            <a:pPr marL="0" indent="0">
              <a:spcAft>
                <a:spcPts val="700"/>
              </a:spcAft>
              <a:buNone/>
            </a:pPr>
            <a:r>
              <a:rPr lang="en-US" sz="950" dirty="0">
                <a:latin typeface="Calibri" pitchFamily="34" charset="0"/>
                <a:ea typeface="Calibri" pitchFamily="34" charset="-122"/>
                <a:cs typeface="Calibri" pitchFamily="34" charset="-120"/>
              </a:rPr>
              <a:t>In conventional dining, patrons cannot see what food dishes actually look like before ordering. Relying on abstract text descriptions or misleading 2D photos prevents customers from assessing authentic portion volume, plate depth, and ingredient presentation. This pre-order uncertainty causes widespread order anxiety, dish mismatch, and an alarming 18%–22% food plate return and wastage rate.</a:t>
            </a:r>
            <a:endParaRPr lang="en-US" sz="950" dirty="0"/>
          </a:p>
          <a:p>
            <a:pPr marL="0" indent="0">
              <a:spcAft>
                <a:spcPts val="700"/>
              </a:spcAft>
              <a:buNone/>
            </a:pPr>
            <a:r>
              <a:rPr lang="en-US" sz="950" dirty="0">
                <a:latin typeface="Calibri" pitchFamily="34" charset="0"/>
                <a:ea typeface="Calibri" pitchFamily="34" charset="-122"/>
                <a:cs typeface="Calibri" pitchFamily="34" charset="-120"/>
              </a:rPr>
              <a:t>2. Unhygienic &amp; Inflexible Physical Menus</a:t>
            </a:r>
            <a:endParaRPr lang="en-US" sz="950" dirty="0"/>
          </a:p>
          <a:p>
            <a:pPr marL="0" indent="0">
              <a:spcAft>
                <a:spcPts val="700"/>
              </a:spcAft>
              <a:buNone/>
            </a:pPr>
            <a:r>
              <a:rPr lang="en-US" sz="950" dirty="0">
                <a:latin typeface="Calibri" pitchFamily="34" charset="0"/>
                <a:ea typeface="Calibri" pitchFamily="34" charset="-122"/>
                <a:cs typeface="Calibri" pitchFamily="34" charset="-120"/>
              </a:rPr>
              <a:t>Laminated paper menus pass through hundreds of hands daily without sanitization, posing health concerns. Moreover, static printed menus cannot accommodate dynamic pricing, seasonal specialties, or real-time ingredient stockouts without expensive, wasteful reprinting.</a:t>
            </a:r>
            <a:endParaRPr lang="en-US" sz="950" dirty="0"/>
          </a:p>
          <a:p>
            <a:pPr marL="0" indent="0">
              <a:spcAft>
                <a:spcPts val="700"/>
              </a:spcAft>
              <a:buNone/>
            </a:pPr>
            <a:r>
              <a:rPr lang="en-US" sz="950" dirty="0">
                <a:latin typeface="Calibri" pitchFamily="34" charset="0"/>
                <a:ea typeface="Calibri" pitchFamily="34" charset="-122"/>
                <a:cs typeface="Calibri" pitchFamily="34" charset="-120"/>
              </a:rPr>
              <a:t>3. Limitations of Basic QR PDFs &amp; Expensive POS Hardware</a:t>
            </a:r>
            <a:endParaRPr lang="en-US" sz="950" dirty="0"/>
          </a:p>
          <a:p>
            <a:pPr marL="0" indent="0">
              <a:spcAft>
                <a:spcPts val="700"/>
              </a:spcAft>
              <a:buNone/>
            </a:pPr>
            <a:r>
              <a:rPr lang="en-US" sz="950" dirty="0">
                <a:latin typeface="Calibri" pitchFamily="34" charset="0"/>
                <a:ea typeface="Calibri" pitchFamily="34" charset="-122"/>
                <a:cs typeface="Calibri" pitchFamily="34" charset="-120"/>
              </a:rPr>
              <a:t>Static QR code PDFs provide clumsy, non-interactive mobile navigation with zero visual engagement. Conversely, dedicated tabletop POS touchscreen tablets require prohibitive capital investment (₹3.5L+ per 10 tables) and suffer frequent battery and screen breakdowns.</a:t>
            </a:r>
            <a:endParaRPr lang="en-US" sz="950" dirty="0"/>
          </a:p>
        </p:txBody>
      </p:sp>
      <p:sp>
        <p:nvSpPr>
          <p:cNvPr id="10" name="Shape 7"/>
          <p:cNvSpPr/>
          <p:nvPr/>
        </p:nvSpPr>
        <p:spPr>
          <a:xfrm>
            <a:off x="5669280" y="1188720"/>
            <a:ext cx="2926080" cy="1051560"/>
          </a:xfrm>
          <a:prstGeom prst="roundRect">
            <a:avLst>
              <a:gd name="adj" fmla="val 6957"/>
            </a:avLst>
          </a:prstGeom>
          <a:solidFill>
            <a:srgbClr val="EFF6FF"/>
          </a:solidFill>
          <a:ln w="12700">
            <a:solidFill>
              <a:srgbClr val="BFDBFE"/>
            </a:solidFill>
            <a:prstDash val="solid"/>
          </a:ln>
        </p:spPr>
      </p:sp>
      <p:sp>
        <p:nvSpPr>
          <p:cNvPr id="11" name="Text 8"/>
          <p:cNvSpPr/>
          <p:nvPr/>
        </p:nvSpPr>
        <p:spPr>
          <a:xfrm>
            <a:off x="5806440" y="1280160"/>
            <a:ext cx="2651760" cy="320040"/>
          </a:xfrm>
          <a:prstGeom prst="rect">
            <a:avLst/>
          </a:prstGeom>
          <a:noFill/>
          <a:ln/>
        </p:spPr>
        <p:txBody>
          <a:bodyPr wrap="square" lIns="0" tIns="0" rIns="0" bIns="0" rtlCol="0" anchor="ctr"/>
          <a:lstStyle/>
          <a:p>
            <a:pPr marL="0" indent="0">
              <a:buNone/>
            </a:pPr>
            <a:r>
              <a:rPr lang="en-US" sz="1800" b="1" dirty="0">
                <a:latin typeface="Cambria" pitchFamily="34" charset="0"/>
                <a:ea typeface="Cambria" pitchFamily="34" charset="-122"/>
                <a:cs typeface="Cambria" pitchFamily="34" charset="-120"/>
              </a:rPr>
              <a:t>18% – 22%</a:t>
            </a:r>
            <a:endParaRPr lang="en-US" sz="1800" dirty="0"/>
          </a:p>
        </p:txBody>
      </p:sp>
      <p:sp>
        <p:nvSpPr>
          <p:cNvPr id="12" name="Text 9"/>
          <p:cNvSpPr/>
          <p:nvPr/>
        </p:nvSpPr>
        <p:spPr>
          <a:xfrm>
            <a:off x="5806440" y="1600200"/>
            <a:ext cx="2651760" cy="228600"/>
          </a:xfrm>
          <a:prstGeom prst="rect">
            <a:avLst/>
          </a:prstGeom>
          <a:noFill/>
          <a:ln/>
        </p:spPr>
        <p:txBody>
          <a:bodyPr wrap="square" lIns="0" tIns="0" rIns="0" bIns="0" rtlCol="0" anchor="ctr"/>
          <a:lstStyle/>
          <a:p>
            <a:pPr marL="0" indent="0">
              <a:buNone/>
            </a:pPr>
            <a:r>
              <a:rPr lang="en-US" sz="950" b="1" dirty="0">
                <a:latin typeface="Calibri" pitchFamily="34" charset="0"/>
                <a:ea typeface="Calibri" pitchFamily="34" charset="-122"/>
                <a:cs typeface="Calibri" pitchFamily="34" charset="-120"/>
              </a:rPr>
              <a:t>Food Return &amp; Wastage Rate</a:t>
            </a:r>
            <a:endParaRPr lang="en-US" sz="950" dirty="0"/>
          </a:p>
        </p:txBody>
      </p:sp>
      <p:sp>
        <p:nvSpPr>
          <p:cNvPr id="13" name="Text 10"/>
          <p:cNvSpPr/>
          <p:nvPr/>
        </p:nvSpPr>
        <p:spPr>
          <a:xfrm>
            <a:off x="5806440" y="1847088"/>
            <a:ext cx="2651760" cy="320040"/>
          </a:xfrm>
          <a:prstGeom prst="rect">
            <a:avLst/>
          </a:prstGeom>
          <a:noFill/>
          <a:ln/>
        </p:spPr>
        <p:txBody>
          <a:bodyPr wrap="square" lIns="0" tIns="0" rIns="0" bIns="0" rtlCol="0" anchor="ctr"/>
          <a:lstStyle/>
          <a:p>
            <a:pPr marL="0" indent="0">
              <a:buNone/>
            </a:pPr>
            <a:r>
              <a:rPr lang="en-US" sz="850" dirty="0">
                <a:latin typeface="Calibri" pitchFamily="34" charset="0"/>
                <a:ea typeface="Calibri" pitchFamily="34" charset="-122"/>
                <a:cs typeface="Calibri" pitchFamily="34" charset="-120"/>
              </a:rPr>
              <a:t>Driven by inability to visualize portion scale before ordering</a:t>
            </a:r>
            <a:endParaRPr lang="en-US" sz="850" dirty="0"/>
          </a:p>
        </p:txBody>
      </p:sp>
      <p:sp>
        <p:nvSpPr>
          <p:cNvPr id="14" name="Shape 11"/>
          <p:cNvSpPr/>
          <p:nvPr/>
        </p:nvSpPr>
        <p:spPr>
          <a:xfrm>
            <a:off x="5669280" y="2331720"/>
            <a:ext cx="2926080" cy="1051560"/>
          </a:xfrm>
          <a:prstGeom prst="roundRect">
            <a:avLst>
              <a:gd name="adj" fmla="val 6957"/>
            </a:avLst>
          </a:prstGeom>
          <a:solidFill>
            <a:srgbClr val="EFF6FF"/>
          </a:solidFill>
          <a:ln w="12700">
            <a:solidFill>
              <a:srgbClr val="BFDBFE"/>
            </a:solidFill>
            <a:prstDash val="solid"/>
          </a:ln>
        </p:spPr>
      </p:sp>
      <p:sp>
        <p:nvSpPr>
          <p:cNvPr id="15" name="Text 12"/>
          <p:cNvSpPr/>
          <p:nvPr/>
        </p:nvSpPr>
        <p:spPr>
          <a:xfrm>
            <a:off x="5806440" y="2423160"/>
            <a:ext cx="2651760" cy="320040"/>
          </a:xfrm>
          <a:prstGeom prst="rect">
            <a:avLst/>
          </a:prstGeom>
          <a:noFill/>
          <a:ln/>
        </p:spPr>
        <p:txBody>
          <a:bodyPr wrap="square" lIns="0" tIns="0" rIns="0" bIns="0" rtlCol="0" anchor="ctr"/>
          <a:lstStyle/>
          <a:p>
            <a:pPr marL="0" indent="0">
              <a:buNone/>
            </a:pPr>
            <a:r>
              <a:rPr lang="en-US" sz="1800" b="1" dirty="0">
                <a:latin typeface="Cambria" pitchFamily="34" charset="0"/>
                <a:ea typeface="Cambria" pitchFamily="34" charset="-122"/>
                <a:cs typeface="Cambria" pitchFamily="34" charset="-120"/>
              </a:rPr>
              <a:t>70%+</a:t>
            </a:r>
            <a:endParaRPr lang="en-US" sz="1800" dirty="0"/>
          </a:p>
        </p:txBody>
      </p:sp>
      <p:sp>
        <p:nvSpPr>
          <p:cNvPr id="16" name="Text 13"/>
          <p:cNvSpPr/>
          <p:nvPr/>
        </p:nvSpPr>
        <p:spPr>
          <a:xfrm>
            <a:off x="5806440" y="2743200"/>
            <a:ext cx="2651760" cy="228600"/>
          </a:xfrm>
          <a:prstGeom prst="rect">
            <a:avLst/>
          </a:prstGeom>
          <a:noFill/>
          <a:ln/>
        </p:spPr>
        <p:txBody>
          <a:bodyPr wrap="square" lIns="0" tIns="0" rIns="0" bIns="0" rtlCol="0" anchor="ctr"/>
          <a:lstStyle/>
          <a:p>
            <a:pPr marL="0" indent="0">
              <a:buNone/>
            </a:pPr>
            <a:r>
              <a:rPr lang="en-US" sz="950" b="1" dirty="0">
                <a:latin typeface="Calibri" pitchFamily="34" charset="0"/>
                <a:ea typeface="Calibri" pitchFamily="34" charset="-122"/>
                <a:cs typeface="Calibri" pitchFamily="34" charset="-120"/>
              </a:rPr>
              <a:t>App Install Abandonment</a:t>
            </a:r>
            <a:endParaRPr lang="en-US" sz="950" dirty="0"/>
          </a:p>
        </p:txBody>
      </p:sp>
      <p:sp>
        <p:nvSpPr>
          <p:cNvPr id="17" name="Text 14"/>
          <p:cNvSpPr/>
          <p:nvPr/>
        </p:nvSpPr>
        <p:spPr>
          <a:xfrm>
            <a:off x="5806440" y="2990088"/>
            <a:ext cx="2651760" cy="320040"/>
          </a:xfrm>
          <a:prstGeom prst="rect">
            <a:avLst/>
          </a:prstGeom>
          <a:noFill/>
          <a:ln/>
        </p:spPr>
        <p:txBody>
          <a:bodyPr wrap="square" lIns="0" tIns="0" rIns="0" bIns="0" rtlCol="0" anchor="ctr"/>
          <a:lstStyle/>
          <a:p>
            <a:pPr marL="0" indent="0">
              <a:buNone/>
            </a:pPr>
            <a:r>
              <a:rPr lang="en-US" sz="850" dirty="0">
                <a:latin typeface="Calibri" pitchFamily="34" charset="0"/>
                <a:ea typeface="Calibri" pitchFamily="34" charset="-122"/>
                <a:cs typeface="Calibri" pitchFamily="34" charset="-120"/>
              </a:rPr>
              <a:t>Diners who refuse to install native AR apps in restaurants</a:t>
            </a:r>
            <a:endParaRPr lang="en-US" sz="850" dirty="0"/>
          </a:p>
        </p:txBody>
      </p:sp>
      <p:sp>
        <p:nvSpPr>
          <p:cNvPr id="18" name="Shape 15"/>
          <p:cNvSpPr/>
          <p:nvPr/>
        </p:nvSpPr>
        <p:spPr>
          <a:xfrm>
            <a:off x="5669280" y="3474720"/>
            <a:ext cx="2926080" cy="1051560"/>
          </a:xfrm>
          <a:prstGeom prst="roundRect">
            <a:avLst>
              <a:gd name="adj" fmla="val 6957"/>
            </a:avLst>
          </a:prstGeom>
          <a:solidFill>
            <a:srgbClr val="EFF6FF"/>
          </a:solidFill>
          <a:ln w="12700">
            <a:solidFill>
              <a:srgbClr val="BFDBFE"/>
            </a:solidFill>
            <a:prstDash val="solid"/>
          </a:ln>
        </p:spPr>
      </p:sp>
      <p:sp>
        <p:nvSpPr>
          <p:cNvPr id="19" name="Text 16"/>
          <p:cNvSpPr/>
          <p:nvPr/>
        </p:nvSpPr>
        <p:spPr>
          <a:xfrm>
            <a:off x="5806440" y="3566160"/>
            <a:ext cx="2651760" cy="320040"/>
          </a:xfrm>
          <a:prstGeom prst="rect">
            <a:avLst/>
          </a:prstGeom>
          <a:noFill/>
          <a:ln/>
        </p:spPr>
        <p:txBody>
          <a:bodyPr wrap="square" lIns="0" tIns="0" rIns="0" bIns="0" rtlCol="0" anchor="ctr"/>
          <a:lstStyle/>
          <a:p>
            <a:pPr marL="0" indent="0">
              <a:buNone/>
            </a:pPr>
            <a:r>
              <a:rPr lang="en-US" sz="1800" b="1" dirty="0">
                <a:latin typeface="Cambria" pitchFamily="34" charset="0"/>
                <a:ea typeface="Cambria" pitchFamily="34" charset="-122"/>
                <a:cs typeface="Cambria" pitchFamily="34" charset="-120"/>
              </a:rPr>
              <a:t>₹3,50,000+</a:t>
            </a:r>
            <a:endParaRPr lang="en-US" sz="1800" dirty="0"/>
          </a:p>
        </p:txBody>
      </p:sp>
      <p:sp>
        <p:nvSpPr>
          <p:cNvPr id="20" name="Text 17"/>
          <p:cNvSpPr/>
          <p:nvPr/>
        </p:nvSpPr>
        <p:spPr>
          <a:xfrm>
            <a:off x="5806440" y="3886200"/>
            <a:ext cx="2651760" cy="228600"/>
          </a:xfrm>
          <a:prstGeom prst="rect">
            <a:avLst/>
          </a:prstGeom>
          <a:noFill/>
          <a:ln/>
        </p:spPr>
        <p:txBody>
          <a:bodyPr wrap="square" lIns="0" tIns="0" rIns="0" bIns="0" rtlCol="0" anchor="ctr"/>
          <a:lstStyle/>
          <a:p>
            <a:pPr marL="0" indent="0">
              <a:buNone/>
            </a:pPr>
            <a:r>
              <a:rPr lang="en-US" sz="950" b="1" dirty="0">
                <a:latin typeface="Calibri" pitchFamily="34" charset="0"/>
                <a:ea typeface="Calibri" pitchFamily="34" charset="-122"/>
                <a:cs typeface="Calibri" pitchFamily="34" charset="-120"/>
              </a:rPr>
              <a:t>Hardware CAPEX Saved</a:t>
            </a:r>
            <a:endParaRPr lang="en-US" sz="950" dirty="0"/>
          </a:p>
        </p:txBody>
      </p:sp>
      <p:sp>
        <p:nvSpPr>
          <p:cNvPr id="21" name="Text 18"/>
          <p:cNvSpPr/>
          <p:nvPr/>
        </p:nvSpPr>
        <p:spPr>
          <a:xfrm>
            <a:off x="5806440" y="4133088"/>
            <a:ext cx="2651760" cy="320040"/>
          </a:xfrm>
          <a:prstGeom prst="rect">
            <a:avLst/>
          </a:prstGeom>
          <a:noFill/>
          <a:ln/>
        </p:spPr>
        <p:txBody>
          <a:bodyPr wrap="square" lIns="0" tIns="0" rIns="0" bIns="0" rtlCol="0" anchor="ctr"/>
          <a:lstStyle/>
          <a:p>
            <a:pPr marL="0" indent="0">
              <a:buNone/>
            </a:pPr>
            <a:r>
              <a:rPr lang="en-US" sz="850" dirty="0">
                <a:latin typeface="Calibri" pitchFamily="34" charset="0"/>
                <a:ea typeface="Calibri" pitchFamily="34" charset="-122"/>
                <a:cs typeface="Calibri" pitchFamily="34" charset="-120"/>
              </a:rPr>
              <a:t>Eliminated through browser-based smartphone AR ordering</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Project Relevance &amp; Environmental Sustainability</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Rubric Criterion 1 (5 Marks)</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2560320" cy="2286000"/>
          </a:xfrm>
          <a:prstGeom prst="roundRect">
            <a:avLst>
              <a:gd name="adj" fmla="val 3200"/>
            </a:avLst>
          </a:prstGeom>
          <a:solidFill>
            <a:srgbClr val="F8FAFC"/>
          </a:solidFill>
          <a:ln w="12700">
            <a:solidFill>
              <a:srgbClr val="E2E8F0"/>
            </a:solidFill>
            <a:prstDash val="solid"/>
          </a:ln>
        </p:spPr>
      </p:sp>
      <p:sp>
        <p:nvSpPr>
          <p:cNvPr id="8" name="Text 5"/>
          <p:cNvSpPr/>
          <p:nvPr/>
        </p:nvSpPr>
        <p:spPr>
          <a:xfrm>
            <a:off x="731520" y="1371600"/>
            <a:ext cx="2194560" cy="32004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Societal &amp; Public Health</a:t>
            </a:r>
            <a:endParaRPr lang="en-US" sz="1300" dirty="0"/>
          </a:p>
        </p:txBody>
      </p:sp>
      <p:sp>
        <p:nvSpPr>
          <p:cNvPr id="9" name="Text 6"/>
          <p:cNvSpPr/>
          <p:nvPr/>
        </p:nvSpPr>
        <p:spPr>
          <a:xfrm>
            <a:off x="731520" y="1783080"/>
            <a:ext cx="2194560" cy="1554480"/>
          </a:xfrm>
          <a:prstGeom prst="rect">
            <a:avLst/>
          </a:prstGeom>
          <a:noFill/>
          <a:ln/>
        </p:spPr>
        <p:txBody>
          <a:bodyPr wrap="square" lIns="0" tIns="0" rIns="0" bIns="0" rtlCol="0" anchor="ctr"/>
          <a:lstStyle/>
          <a:p>
            <a:pPr marL="342900" indent="-342900">
              <a:spcAft>
                <a:spcPts val="400"/>
              </a:spcAft>
              <a:buSzPct val="100000"/>
              <a:buChar char="•"/>
            </a:pPr>
            <a:r>
              <a:rPr lang="en-US" sz="950" dirty="0">
                <a:latin typeface="Calibri" pitchFamily="34" charset="0"/>
                <a:ea typeface="Calibri" pitchFamily="34" charset="-122"/>
                <a:cs typeface="Calibri" pitchFamily="34" charset="-120"/>
              </a:rPr>
              <a:t>Contactless ordering completely eliminates physical menu handling, preventing disease transmission vectors.</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Explicit allergen declarations (Gluten, Dairy, Peanuts) and caloric metrics protect diner health.</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Visual 3D representations provide an intuitive, universal dining experience for diverse patrons.</a:t>
            </a:r>
            <a:endParaRPr lang="en-US" sz="950" dirty="0"/>
          </a:p>
        </p:txBody>
      </p:sp>
      <p:sp>
        <p:nvSpPr>
          <p:cNvPr id="10" name="Shape 7"/>
          <p:cNvSpPr/>
          <p:nvPr/>
        </p:nvSpPr>
        <p:spPr>
          <a:xfrm>
            <a:off x="3291840" y="1188720"/>
            <a:ext cx="2560320" cy="2286000"/>
          </a:xfrm>
          <a:prstGeom prst="roundRect">
            <a:avLst>
              <a:gd name="adj" fmla="val 3200"/>
            </a:avLst>
          </a:prstGeom>
          <a:solidFill>
            <a:srgbClr val="F8FAFC"/>
          </a:solidFill>
          <a:ln w="12700">
            <a:solidFill>
              <a:srgbClr val="E2E8F0"/>
            </a:solidFill>
            <a:prstDash val="solid"/>
          </a:ln>
        </p:spPr>
      </p:sp>
      <p:sp>
        <p:nvSpPr>
          <p:cNvPr id="11" name="Text 8"/>
          <p:cNvSpPr/>
          <p:nvPr/>
        </p:nvSpPr>
        <p:spPr>
          <a:xfrm>
            <a:off x="3474720" y="1371600"/>
            <a:ext cx="2194560" cy="32004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Industrial &amp; Economic</a:t>
            </a:r>
            <a:endParaRPr lang="en-US" sz="1300" dirty="0"/>
          </a:p>
        </p:txBody>
      </p:sp>
      <p:sp>
        <p:nvSpPr>
          <p:cNvPr id="12" name="Text 9"/>
          <p:cNvSpPr/>
          <p:nvPr/>
        </p:nvSpPr>
        <p:spPr>
          <a:xfrm>
            <a:off x="3474720" y="1783080"/>
            <a:ext cx="2194560" cy="1554480"/>
          </a:xfrm>
          <a:prstGeom prst="rect">
            <a:avLst/>
          </a:prstGeom>
          <a:noFill/>
          <a:ln/>
        </p:spPr>
        <p:txBody>
          <a:bodyPr wrap="square" lIns="0" tIns="0" rIns="0" bIns="0" rtlCol="0" anchor="ctr"/>
          <a:lstStyle/>
          <a:p>
            <a:pPr marL="342900" indent="-342900">
              <a:spcAft>
                <a:spcPts val="400"/>
              </a:spcAft>
              <a:buSzPct val="100000"/>
              <a:buChar char="•"/>
            </a:pPr>
            <a:r>
              <a:rPr lang="en-US" sz="950" dirty="0">
                <a:latin typeface="Calibri" pitchFamily="34" charset="0"/>
                <a:ea typeface="Calibri" pitchFamily="34" charset="-122"/>
                <a:cs typeface="Calibri" pitchFamily="34" charset="-120"/>
              </a:rPr>
              <a:t>Eliminates dedicated tabletop POS hardware by utilizing patrons' personal smartphones (Zero CAPEX).</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Speeds up table turnaround time by 25% through synchronized digital ordering and instant kitchen dispatch.</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Cloud-managed digital menu eliminates recurring printing, lamination, and redesign overheads.</a:t>
            </a:r>
            <a:endParaRPr lang="en-US" sz="950" dirty="0"/>
          </a:p>
        </p:txBody>
      </p:sp>
      <p:sp>
        <p:nvSpPr>
          <p:cNvPr id="13" name="Shape 10"/>
          <p:cNvSpPr/>
          <p:nvPr/>
        </p:nvSpPr>
        <p:spPr>
          <a:xfrm>
            <a:off x="6035040" y="1188720"/>
            <a:ext cx="2560320" cy="2286000"/>
          </a:xfrm>
          <a:prstGeom prst="roundRect">
            <a:avLst>
              <a:gd name="adj" fmla="val 3200"/>
            </a:avLst>
          </a:prstGeom>
          <a:solidFill>
            <a:srgbClr val="F8FAFC"/>
          </a:solidFill>
          <a:ln w="12700">
            <a:solidFill>
              <a:srgbClr val="E2E8F0"/>
            </a:solidFill>
            <a:prstDash val="solid"/>
          </a:ln>
        </p:spPr>
      </p:sp>
      <p:sp>
        <p:nvSpPr>
          <p:cNvPr id="14" name="Text 11"/>
          <p:cNvSpPr/>
          <p:nvPr/>
        </p:nvSpPr>
        <p:spPr>
          <a:xfrm>
            <a:off x="6217920" y="1371600"/>
            <a:ext cx="2194560" cy="32004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Environmental Impact</a:t>
            </a:r>
            <a:endParaRPr lang="en-US" sz="1300" dirty="0"/>
          </a:p>
        </p:txBody>
      </p:sp>
      <p:sp>
        <p:nvSpPr>
          <p:cNvPr id="15" name="Text 12"/>
          <p:cNvSpPr/>
          <p:nvPr/>
        </p:nvSpPr>
        <p:spPr>
          <a:xfrm>
            <a:off x="6217920" y="1783080"/>
            <a:ext cx="2194560" cy="1554480"/>
          </a:xfrm>
          <a:prstGeom prst="rect">
            <a:avLst/>
          </a:prstGeom>
          <a:noFill/>
          <a:ln/>
        </p:spPr>
        <p:txBody>
          <a:bodyPr wrap="square" lIns="0" tIns="0" rIns="0" bIns="0" rtlCol="0" anchor="ctr"/>
          <a:lstStyle/>
          <a:p>
            <a:pPr marL="342900" indent="-342900">
              <a:spcAft>
                <a:spcPts val="400"/>
              </a:spcAft>
              <a:buSzPct val="100000"/>
              <a:buChar char="•"/>
            </a:pPr>
            <a:r>
              <a:rPr lang="en-US" sz="950" dirty="0">
                <a:latin typeface="Calibri" pitchFamily="34" charset="0"/>
                <a:ea typeface="Calibri" pitchFamily="34" charset="-122"/>
                <a:cs typeface="Calibri" pitchFamily="34" charset="-120"/>
              </a:rPr>
              <a:t>100% paperless menu ecosystem saves kilograms of laminated paper and plastic per restaurant annually.</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True 1:1 metric scale AR portion preview cuts food order remorse and plate return waste by up to 28%.</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Serverless cloud deployment minimizes energy consumption compared to continuous on-premise servers.</a:t>
            </a:r>
            <a:endParaRPr lang="en-US" sz="950" dirty="0"/>
          </a:p>
        </p:txBody>
      </p:sp>
      <p:sp>
        <p:nvSpPr>
          <p:cNvPr id="16" name="Shape 13"/>
          <p:cNvSpPr/>
          <p:nvPr/>
        </p:nvSpPr>
        <p:spPr>
          <a:xfrm>
            <a:off x="548640" y="3657600"/>
            <a:ext cx="8046720" cy="1005840"/>
          </a:xfrm>
          <a:prstGeom prst="roundRect">
            <a:avLst>
              <a:gd name="adj" fmla="val 7273"/>
            </a:avLst>
          </a:prstGeom>
          <a:solidFill>
            <a:srgbClr val="EFF6FF"/>
          </a:solidFill>
          <a:ln w="12700">
            <a:solidFill>
              <a:srgbClr val="BFDBFE"/>
            </a:solidFill>
            <a:prstDash val="solid"/>
          </a:ln>
        </p:spPr>
      </p:sp>
      <p:sp>
        <p:nvSpPr>
          <p:cNvPr id="17" name="Text 14"/>
          <p:cNvSpPr/>
          <p:nvPr/>
        </p:nvSpPr>
        <p:spPr>
          <a:xfrm>
            <a:off x="731520" y="3767328"/>
            <a:ext cx="7680960" cy="201168"/>
          </a:xfrm>
          <a:prstGeom prst="rect">
            <a:avLst/>
          </a:prstGeom>
          <a:noFill/>
          <a:ln/>
        </p:spPr>
        <p:txBody>
          <a:bodyPr wrap="square" lIns="0" tIns="0" rIns="0" bIns="0" rtlCol="0" anchor="ctr"/>
          <a:lstStyle/>
          <a:p>
            <a:pPr marL="0" indent="0">
              <a:buNone/>
            </a:pPr>
            <a:r>
              <a:rPr lang="en-US" sz="950" b="1" dirty="0">
                <a:latin typeface="Calibri" pitchFamily="34" charset="0"/>
                <a:ea typeface="Calibri" pitchFamily="34" charset="-122"/>
                <a:cs typeface="Calibri" pitchFamily="34" charset="-120"/>
              </a:rPr>
              <a:t>UNITED NATIONS SUSTAINABLE DEVELOPMENT GOALS (SDGs) ALIGNMENT</a:t>
            </a:r>
            <a:endParaRPr lang="en-US" sz="950" dirty="0"/>
          </a:p>
        </p:txBody>
      </p:sp>
      <p:sp>
        <p:nvSpPr>
          <p:cNvPr id="18" name="Text 15"/>
          <p:cNvSpPr/>
          <p:nvPr/>
        </p:nvSpPr>
        <p:spPr>
          <a:xfrm>
            <a:off x="731520" y="3977640"/>
            <a:ext cx="7680960" cy="594360"/>
          </a:xfrm>
          <a:prstGeom prst="rect">
            <a:avLst/>
          </a:prstGeom>
          <a:noFill/>
          <a:ln/>
        </p:spPr>
        <p:txBody>
          <a:bodyPr wrap="square" lIns="0" tIns="0" rIns="0" bIns="0" rtlCol="0" anchor="ctr"/>
          <a:lstStyle/>
          <a:p>
            <a:pPr marL="342900" indent="-342900">
              <a:spcAft>
                <a:spcPts val="200"/>
              </a:spcAft>
              <a:buSzPct val="100000"/>
              <a:buChar char="•"/>
            </a:pPr>
            <a:r>
              <a:rPr lang="en-US" sz="900" dirty="0">
                <a:latin typeface="Calibri" pitchFamily="34" charset="0"/>
                <a:ea typeface="Calibri" pitchFamily="34" charset="-122"/>
                <a:cs typeface="Calibri" pitchFamily="34" charset="-120"/>
              </a:rPr>
              <a:t>SDG 9 (Industry, Innovation &amp; Infrastructure): Advancing browser-based zero-install spatial computing in commercial dining.</a:t>
            </a:r>
            <a:endParaRPr lang="en-US" sz="900" dirty="0"/>
          </a:p>
          <a:p>
            <a:pPr marL="342900" indent="-342900">
              <a:spcAft>
                <a:spcPts val="200"/>
              </a:spcAft>
              <a:buSzPct val="100000"/>
              <a:buChar char="•"/>
            </a:pPr>
            <a:r>
              <a:rPr lang="en-US" sz="900" dirty="0">
                <a:latin typeface="Calibri" pitchFamily="34" charset="0"/>
                <a:ea typeface="Calibri" pitchFamily="34" charset="-122"/>
                <a:cs typeface="Calibri" pitchFamily="34" charset="-120"/>
              </a:rPr>
              <a:t>SDG 12 (Responsible Consumption &amp; Production): Mitigating food plate return waste through 1:1 metric scale portion previews.</a:t>
            </a:r>
            <a:endParaRPr lang="en-US" sz="900" dirty="0"/>
          </a:p>
          <a:p>
            <a:pPr marL="342900" indent="-342900">
              <a:spcAft>
                <a:spcPts val="200"/>
              </a:spcAft>
              <a:buSzPct val="100000"/>
              <a:buChar char="•"/>
            </a:pPr>
            <a:r>
              <a:rPr lang="en-US" sz="900" dirty="0">
                <a:latin typeface="Calibri" pitchFamily="34" charset="0"/>
                <a:ea typeface="Calibri" pitchFamily="34" charset="-122"/>
                <a:cs typeface="Calibri" pitchFamily="34" charset="-120"/>
              </a:rPr>
              <a:t>SDG 13 (Climate Action): Eliminating recurring paper and lamination plastics from restaurant supply chains.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Main &amp; Specific Objectives and Target Outcomes</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Project Scope</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3931920" cy="3429000"/>
          </a:xfrm>
          <a:prstGeom prst="roundRect">
            <a:avLst>
              <a:gd name="adj" fmla="val 2133"/>
            </a:avLst>
          </a:prstGeom>
          <a:solidFill>
            <a:srgbClr val="F8FAFC"/>
          </a:solidFill>
          <a:ln w="12700">
            <a:solidFill>
              <a:srgbClr val="E2E8F0"/>
            </a:solidFill>
            <a:prstDash val="solid"/>
          </a:ln>
        </p:spPr>
      </p:sp>
      <p:sp>
        <p:nvSpPr>
          <p:cNvPr id="8" name="Text 5"/>
          <p:cNvSpPr/>
          <p:nvPr/>
        </p:nvSpPr>
        <p:spPr>
          <a:xfrm>
            <a:off x="731520" y="1371600"/>
            <a:ext cx="3566160" cy="256032"/>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PRIMARY &amp; SPECIFIC OBJECTIVES</a:t>
            </a:r>
            <a:endParaRPr lang="en-US" sz="1300" dirty="0"/>
          </a:p>
        </p:txBody>
      </p:sp>
      <p:sp>
        <p:nvSpPr>
          <p:cNvPr id="9" name="Text 6"/>
          <p:cNvSpPr/>
          <p:nvPr/>
        </p:nvSpPr>
        <p:spPr>
          <a:xfrm>
            <a:off x="731520" y="1691640"/>
            <a:ext cx="3566160" cy="2743200"/>
          </a:xfrm>
          <a:prstGeom prst="rect">
            <a:avLst/>
          </a:prstGeom>
          <a:noFill/>
          <a:ln/>
        </p:spPr>
        <p:txBody>
          <a:bodyPr wrap="square" lIns="0" tIns="0" rIns="0" bIns="0" rtlCol="0" anchor="ctr"/>
          <a:lstStyle/>
          <a:p>
            <a:pPr marL="342900" indent="-342900">
              <a:spcAft>
                <a:spcPts val="500"/>
              </a:spcAft>
              <a:buSzPct val="100000"/>
              <a:buChar char="•"/>
            </a:pPr>
            <a:r>
              <a:rPr lang="en-US" sz="950" dirty="0">
                <a:latin typeface="Calibri" pitchFamily="34" charset="0"/>
                <a:ea typeface="Calibri" pitchFamily="34" charset="-122"/>
                <a:cs typeface="Calibri" pitchFamily="34" charset="-120"/>
              </a:rPr>
              <a:t>Main Objective: Build and deploy an Intelligent AI-Powered Restaurant Ordering System using zero-install WebXR 3D Augmented Reality and synchronized real-time KDS.</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Pre-Order 3D Spatial Visualization: Eliminate customer uncertainty by projecting photorealistic, 1:1 true-metric food models directly onto tables before ordering.</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3D Asset Optimization Pipeline: Quantize and compress high-poly food models from 46MB down to &lt;10MB for rapid mobile loading (&lt;2.5s over 4G/5G).</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Dual-Engine Fallback Architecture: Sniff client capability to dynamically route to WebXR or Google Scene Viewer Android Intent.</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Real-Time Kitchen Operations: Synchronize diner orders with a low-latency Kitchen Display System Kanban board with acoustic alerts.</a:t>
            </a:r>
            <a:endParaRPr lang="en-US" sz="950" dirty="0"/>
          </a:p>
        </p:txBody>
      </p:sp>
      <p:sp>
        <p:nvSpPr>
          <p:cNvPr id="10" name="Shape 7"/>
          <p:cNvSpPr/>
          <p:nvPr/>
        </p:nvSpPr>
        <p:spPr>
          <a:xfrm>
            <a:off x="4663440" y="1188720"/>
            <a:ext cx="3931920" cy="3429000"/>
          </a:xfrm>
          <a:prstGeom prst="roundRect">
            <a:avLst>
              <a:gd name="adj" fmla="val 2133"/>
            </a:avLst>
          </a:prstGeom>
          <a:solidFill>
            <a:srgbClr val="F8FAFC"/>
          </a:solidFill>
          <a:ln w="12700">
            <a:solidFill>
              <a:srgbClr val="E2E8F0"/>
            </a:solidFill>
            <a:prstDash val="solid"/>
          </a:ln>
        </p:spPr>
      </p:sp>
      <p:sp>
        <p:nvSpPr>
          <p:cNvPr id="11" name="Text 8"/>
          <p:cNvSpPr/>
          <p:nvPr/>
        </p:nvSpPr>
        <p:spPr>
          <a:xfrm>
            <a:off x="4846320" y="1371600"/>
            <a:ext cx="3566160" cy="256032"/>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EXPECTED QUANTITATIVE OUTCOMES</a:t>
            </a:r>
            <a:endParaRPr lang="en-US" sz="1300" dirty="0"/>
          </a:p>
        </p:txBody>
      </p:sp>
      <p:sp>
        <p:nvSpPr>
          <p:cNvPr id="12" name="Text 9"/>
          <p:cNvSpPr/>
          <p:nvPr/>
        </p:nvSpPr>
        <p:spPr>
          <a:xfrm>
            <a:off x="4846320" y="1691640"/>
            <a:ext cx="3566160" cy="2743200"/>
          </a:xfrm>
          <a:prstGeom prst="rect">
            <a:avLst/>
          </a:prstGeom>
          <a:noFill/>
          <a:ln/>
        </p:spPr>
        <p:txBody>
          <a:bodyPr wrap="square" lIns="0" tIns="0" rIns="0" bIns="0" rtlCol="0" anchor="ctr"/>
          <a:lstStyle/>
          <a:p>
            <a:pPr marL="342900" indent="-342900">
              <a:spcAft>
                <a:spcPts val="500"/>
              </a:spcAft>
              <a:buSzPct val="100000"/>
              <a:buChar char="•"/>
            </a:pPr>
            <a:r>
              <a:rPr lang="en-US" sz="950" dirty="0">
                <a:latin typeface="Calibri" pitchFamily="34" charset="0"/>
                <a:ea typeface="Calibri" pitchFamily="34" charset="-122"/>
                <a:cs typeface="Calibri" pitchFamily="34" charset="-120"/>
              </a:rPr>
              <a:t>Sub-2.5 Second Asset Load: Optimized glTF binary delivery over Vercel Edge CDN ensures models load smoothly without mobile browser stalls.</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Stable 60 FPS WebGL Rendering: Sustained 58–60 FPS rendering across contemporary mobile GPUs with zero thermal throttling.</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Zero App Store Friction: 100% browser-based PWA execution eliminating the 70%+ user abandonment caused by mandatory app downloads.</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Order Turnaround Acceleration: Decreased order-to-kitchen latency from 8+ minutes (waiter dependent) to instantaneous cloud dispatch.</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Universal Device Coverage: 100% cross-platform accessibility across iOS (Safari QuickLook/WebXR) and Android (Chrome WebXR/Scene Viewer).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Existing Systems &amp; Research Gap Analysis</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Literature Review</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428478962"/>
              </p:ext>
            </p:extLst>
          </p:nvPr>
        </p:nvGraphicFramePr>
        <p:xfrm>
          <a:off x="548640" y="1188720"/>
          <a:ext cx="8046720" cy="2011680"/>
        </p:xfrm>
        <a:graphic>
          <a:graphicData uri="http://schemas.openxmlformats.org/drawingml/2006/table">
            <a:tbl>
              <a:tblPr/>
              <a:tblGrid>
                <a:gridCol w="1609344">
                  <a:extLst>
                    <a:ext uri="{9D8B030D-6E8A-4147-A177-3AD203B41FA5}">
                      <a16:colId xmlns:a16="http://schemas.microsoft.com/office/drawing/2014/main" val="20000"/>
                    </a:ext>
                  </a:extLst>
                </a:gridCol>
                <a:gridCol w="1609344">
                  <a:extLst>
                    <a:ext uri="{9D8B030D-6E8A-4147-A177-3AD203B41FA5}">
                      <a16:colId xmlns:a16="http://schemas.microsoft.com/office/drawing/2014/main" val="20001"/>
                    </a:ext>
                  </a:extLst>
                </a:gridCol>
                <a:gridCol w="1609344">
                  <a:extLst>
                    <a:ext uri="{9D8B030D-6E8A-4147-A177-3AD203B41FA5}">
                      <a16:colId xmlns:a16="http://schemas.microsoft.com/office/drawing/2014/main" val="20002"/>
                    </a:ext>
                  </a:extLst>
                </a:gridCol>
                <a:gridCol w="1609344">
                  <a:extLst>
                    <a:ext uri="{9D8B030D-6E8A-4147-A177-3AD203B41FA5}">
                      <a16:colId xmlns:a16="http://schemas.microsoft.com/office/drawing/2014/main" val="20003"/>
                    </a:ext>
                  </a:extLst>
                </a:gridCol>
                <a:gridCol w="1609344">
                  <a:extLst>
                    <a:ext uri="{9D8B030D-6E8A-4147-A177-3AD203B41FA5}">
                      <a16:colId xmlns:a16="http://schemas.microsoft.com/office/drawing/2014/main" val="20004"/>
                    </a:ext>
                  </a:extLst>
                </a:gridCol>
              </a:tblGrid>
              <a:tr h="33528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System Type</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Interaction Mode</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Spatial Realism</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Hardware Cost</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Friction / UX</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335280">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Physical Paper Menus</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Static Print</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latin typeface="Calibri" pitchFamily="34" charset="0"/>
                          <a:ea typeface="Calibri" pitchFamily="34" charset="-122"/>
                          <a:cs typeface="Calibri" pitchFamily="34" charset="-120"/>
                        </a:rPr>
                        <a:t>None (2D Print)</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Recurring Printing</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latin typeface="Calibri" pitchFamily="34" charset="0"/>
                          <a:ea typeface="Calibri" pitchFamily="34" charset="-122"/>
                          <a:cs typeface="Calibri" pitchFamily="34" charset="-120"/>
                        </a:rPr>
                        <a:t>Unhygienic / Static</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5280">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QR Code PDF Menus</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Pinch &amp; Zoom PDF</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DC2626"/>
                          </a:solidFill>
                          <a:latin typeface="Calibri" pitchFamily="34" charset="0"/>
                          <a:ea typeface="Calibri" pitchFamily="34" charset="-122"/>
                          <a:cs typeface="Calibri" pitchFamily="34" charset="-120"/>
                        </a:rPr>
                        <a:t>None (Flat 2D)</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059669"/>
                          </a:solidFill>
                          <a:latin typeface="Calibri" pitchFamily="34" charset="0"/>
                          <a:ea typeface="Calibri" pitchFamily="34" charset="-122"/>
                          <a:cs typeface="Calibri" pitchFamily="34" charset="-120"/>
                        </a:rPr>
                        <a:t>₹0 (Paper QR)</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DC2626"/>
                          </a:solidFill>
                          <a:latin typeface="Calibri" pitchFamily="34" charset="0"/>
                          <a:ea typeface="Calibri" pitchFamily="34" charset="-122"/>
                          <a:cs typeface="Calibri" pitchFamily="34" charset="-120"/>
                        </a:rPr>
                        <a:t>Poor Mobile Nav</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35280">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Tabletop POS Tablets</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Touchscreen Screen</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latin typeface="Calibri" pitchFamily="34" charset="0"/>
                          <a:ea typeface="Calibri" pitchFamily="34" charset="-122"/>
                          <a:cs typeface="Calibri" pitchFamily="34" charset="-120"/>
                        </a:rPr>
                        <a:t>None (2D Screen)</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latin typeface="Calibri" pitchFamily="34" charset="0"/>
                          <a:ea typeface="Calibri" pitchFamily="34" charset="-122"/>
                          <a:cs typeface="Calibri" pitchFamily="34" charset="-120"/>
                        </a:rPr>
                        <a:t>₹35,000+ / Table CAPEX</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DC2626"/>
                          </a:solidFill>
                          <a:latin typeface="Calibri" pitchFamily="34" charset="0"/>
                          <a:ea typeface="Calibri" pitchFamily="34" charset="-122"/>
                          <a:cs typeface="Calibri" pitchFamily="34" charset="-120"/>
                        </a:rPr>
                        <a:t>Hardware Breakdowns</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5280">
                <a:tc>
                  <a:txBody>
                    <a:bodyPr/>
                    <a:lstStyle/>
                    <a:p>
                      <a:pPr marL="0" indent="0" algn="ctr">
                        <a:buNone/>
                      </a:pPr>
                      <a:r>
                        <a:rPr lang="en-US" sz="950" b="1" dirty="0">
                          <a:solidFill>
                            <a:srgbClr val="0F172A"/>
                          </a:solidFill>
                          <a:latin typeface="Calibri" pitchFamily="34" charset="0"/>
                          <a:ea typeface="Calibri" pitchFamily="34" charset="-122"/>
                          <a:cs typeface="Calibri" pitchFamily="34" charset="-120"/>
                        </a:rPr>
                        <a:t>Native AR Apps (IKEA-style)</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Dedicated Native App</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059669"/>
                          </a:solidFill>
                          <a:latin typeface="Calibri" pitchFamily="34" charset="0"/>
                          <a:ea typeface="Calibri" pitchFamily="34" charset="-122"/>
                          <a:cs typeface="Calibri" pitchFamily="34" charset="-120"/>
                        </a:rPr>
                        <a:t>High (ARKit/Core)</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059669"/>
                          </a:solidFill>
                          <a:latin typeface="Calibri" pitchFamily="34" charset="0"/>
                          <a:ea typeface="Calibri" pitchFamily="34" charset="-122"/>
                          <a:cs typeface="Calibri" pitchFamily="34" charset="-120"/>
                        </a:rPr>
                        <a:t>₹0 (User Phone)</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50" dirty="0">
                          <a:solidFill>
                            <a:srgbClr val="DC2626"/>
                          </a:solidFill>
                          <a:latin typeface="Calibri" pitchFamily="34" charset="0"/>
                          <a:ea typeface="Calibri" pitchFamily="34" charset="-122"/>
                          <a:cs typeface="Calibri" pitchFamily="34" charset="-120"/>
                        </a:rPr>
                        <a:t>70%+ App Drop-off</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35280">
                <a:tc>
                  <a:txBody>
                    <a:bodyPr/>
                    <a:lstStyle/>
                    <a:p>
                      <a:pPr marL="0" indent="0" algn="ctr">
                        <a:buNone/>
                      </a:pPr>
                      <a:r>
                        <a:rPr lang="en-US" sz="950" b="1" dirty="0">
                          <a:solidFill>
                            <a:srgbClr val="1E3A8A"/>
                          </a:solidFill>
                          <a:latin typeface="Calibri" pitchFamily="34" charset="0"/>
                          <a:ea typeface="Calibri" pitchFamily="34" charset="-122"/>
                          <a:cs typeface="Calibri" pitchFamily="34" charset="-120"/>
                        </a:rPr>
                        <a:t>Smart Restaurant (Ours)</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950" b="1" dirty="0">
                          <a:solidFill>
                            <a:srgbClr val="1E3A8A"/>
                          </a:solidFill>
                          <a:latin typeface="Calibri" pitchFamily="34" charset="0"/>
                          <a:ea typeface="Calibri" pitchFamily="34" charset="-122"/>
                          <a:cs typeface="Calibri" pitchFamily="34" charset="-120"/>
                        </a:rPr>
                        <a:t>Zero-Install WebXR</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950" b="1" dirty="0">
                          <a:solidFill>
                            <a:srgbClr val="059669"/>
                          </a:solidFill>
                          <a:latin typeface="Calibri" pitchFamily="34" charset="0"/>
                          <a:ea typeface="Calibri" pitchFamily="34" charset="-122"/>
                          <a:cs typeface="Calibri" pitchFamily="34" charset="-120"/>
                        </a:rPr>
                        <a:t>1:1 Metric 6-DoF AR</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950" b="1" dirty="0">
                          <a:solidFill>
                            <a:srgbClr val="059669"/>
                          </a:solidFill>
                          <a:latin typeface="Calibri" pitchFamily="34" charset="0"/>
                          <a:ea typeface="Calibri" pitchFamily="34" charset="-122"/>
                          <a:cs typeface="Calibri" pitchFamily="34" charset="-120"/>
                        </a:rPr>
                        <a:t>₹0 (Customer Phone)</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950" b="1" dirty="0">
                          <a:solidFill>
                            <a:srgbClr val="059669"/>
                          </a:solidFill>
                          <a:latin typeface="Calibri" pitchFamily="34" charset="0"/>
                          <a:ea typeface="Calibri" pitchFamily="34" charset="-122"/>
                          <a:cs typeface="Calibri" pitchFamily="34" charset="-120"/>
                        </a:rPr>
                        <a:t>Zero Friction </a:t>
                      </a:r>
                      <a:endParaRPr lang="en-US" sz="9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bl>
          </a:graphicData>
        </a:graphic>
      </p:graphicFrame>
      <p:sp>
        <p:nvSpPr>
          <p:cNvPr id="8" name="Shape 4"/>
          <p:cNvSpPr/>
          <p:nvPr/>
        </p:nvSpPr>
        <p:spPr>
          <a:xfrm>
            <a:off x="548640" y="3383280"/>
            <a:ext cx="8046720" cy="1234440"/>
          </a:xfrm>
          <a:prstGeom prst="roundRect">
            <a:avLst>
              <a:gd name="adj" fmla="val 5926"/>
            </a:avLst>
          </a:prstGeom>
          <a:solidFill>
            <a:srgbClr val="F8FAFC"/>
          </a:solidFill>
          <a:ln w="12700">
            <a:solidFill>
              <a:srgbClr val="E2E8F0"/>
            </a:solidFill>
            <a:prstDash val="solid"/>
          </a:ln>
        </p:spPr>
      </p:sp>
      <p:sp>
        <p:nvSpPr>
          <p:cNvPr id="9" name="Text 5"/>
          <p:cNvSpPr/>
          <p:nvPr/>
        </p:nvSpPr>
        <p:spPr>
          <a:xfrm>
            <a:off x="731520" y="3520440"/>
            <a:ext cx="7680960" cy="201168"/>
          </a:xfrm>
          <a:prstGeom prst="rect">
            <a:avLst/>
          </a:prstGeom>
          <a:noFill/>
          <a:ln/>
        </p:spPr>
        <p:txBody>
          <a:bodyPr wrap="square" lIns="0" tIns="0" rIns="0" bIns="0" rtlCol="0" anchor="ctr"/>
          <a:lstStyle/>
          <a:p>
            <a:pPr marL="0" indent="0">
              <a:buNone/>
            </a:pPr>
            <a:r>
              <a:rPr lang="en-US" sz="1000" b="1" dirty="0">
                <a:latin typeface="Calibri" pitchFamily="34" charset="0"/>
                <a:ea typeface="Calibri" pitchFamily="34" charset="-122"/>
                <a:cs typeface="Calibri" pitchFamily="34" charset="-120"/>
              </a:rPr>
              <a:t>IDENTIFIED RESEARCH GAP &amp; SYSTEM JUSTIFICATION</a:t>
            </a:r>
            <a:endParaRPr lang="en-US" sz="1000" dirty="0"/>
          </a:p>
        </p:txBody>
      </p:sp>
      <p:sp>
        <p:nvSpPr>
          <p:cNvPr id="10" name="Text 6"/>
          <p:cNvSpPr/>
          <p:nvPr/>
        </p:nvSpPr>
        <p:spPr>
          <a:xfrm>
            <a:off x="731520" y="3749040"/>
            <a:ext cx="7680960" cy="777240"/>
          </a:xfrm>
          <a:prstGeom prst="rect">
            <a:avLst/>
          </a:prstGeom>
          <a:noFill/>
          <a:ln/>
        </p:spPr>
        <p:txBody>
          <a:bodyPr wrap="square" lIns="0" tIns="0" rIns="0" bIns="0" rtlCol="0" anchor="ctr"/>
          <a:lstStyle/>
          <a:p>
            <a:pPr marL="0" indent="0">
              <a:spcAft>
                <a:spcPts val="400"/>
              </a:spcAft>
              <a:buNone/>
            </a:pPr>
            <a:r>
              <a:rPr lang="en-US" sz="950" b="1" dirty="0">
                <a:latin typeface="Calibri" pitchFamily="34" charset="0"/>
                <a:ea typeface="Calibri" pitchFamily="34" charset="-122"/>
                <a:cs typeface="Calibri" pitchFamily="34" charset="-120"/>
              </a:rPr>
              <a:t>• Literature Analysis: </a:t>
            </a:r>
            <a:r>
              <a:rPr lang="en-US" sz="950" dirty="0">
                <a:latin typeface="Calibri" pitchFamily="34" charset="0"/>
                <a:ea typeface="Calibri" pitchFamily="34" charset="-122"/>
                <a:cs typeface="Calibri" pitchFamily="34" charset="-120"/>
              </a:rPr>
              <a:t>While spatial computing offers documented benefits in e-commerce, previous hospitality deployments required proprietary native apps, causing severe patron drop-off during ephemeral restaurant dining.</a:t>
            </a:r>
            <a:endParaRPr lang="en-US" sz="950" dirty="0"/>
          </a:p>
          <a:p>
            <a:pPr marL="0" indent="0">
              <a:spcAft>
                <a:spcPts val="400"/>
              </a:spcAft>
              <a:buNone/>
            </a:pPr>
            <a:r>
              <a:rPr lang="en-US" sz="950" b="1" dirty="0">
                <a:latin typeface="Calibri" pitchFamily="34" charset="0"/>
                <a:ea typeface="Calibri" pitchFamily="34" charset="-122"/>
                <a:cs typeface="Calibri" pitchFamily="34" charset="-120"/>
              </a:rPr>
              <a:t>• Engineering Imperative: </a:t>
            </a:r>
            <a:r>
              <a:rPr lang="en-US" sz="950" dirty="0">
                <a:latin typeface="Calibri" pitchFamily="34" charset="0"/>
                <a:ea typeface="Calibri" pitchFamily="34" charset="-122"/>
                <a:cs typeface="Calibri" pitchFamily="34" charset="-120"/>
              </a:rPr>
              <a:t>Our research delivers true 6-DoF tabletop plane detection and optimized 3D asset delivery directly inside mobile browsers without app installation, maintaining 60 FPS while reducing initial hardware costs to zero.</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Proposed Smart Restaurant Architecture &amp; Workflow</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System Overview</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1965960" cy="1325880"/>
          </a:xfrm>
          <a:prstGeom prst="roundRect">
            <a:avLst>
              <a:gd name="adj" fmla="val 5517"/>
            </a:avLst>
          </a:prstGeom>
          <a:solidFill>
            <a:srgbClr val="EFF6FF"/>
          </a:solidFill>
          <a:ln w="12700">
            <a:solidFill>
              <a:srgbClr val="BFDBFE"/>
            </a:solidFill>
            <a:prstDash val="solid"/>
          </a:ln>
        </p:spPr>
      </p:sp>
      <p:sp>
        <p:nvSpPr>
          <p:cNvPr id="8" name="Text 5"/>
          <p:cNvSpPr/>
          <p:nvPr/>
        </p:nvSpPr>
        <p:spPr>
          <a:xfrm>
            <a:off x="685800" y="1298448"/>
            <a:ext cx="1691640" cy="201168"/>
          </a:xfrm>
          <a:prstGeom prst="rect">
            <a:avLst/>
          </a:prstGeom>
          <a:noFill/>
          <a:ln/>
        </p:spPr>
        <p:txBody>
          <a:bodyPr wrap="square" lIns="0" tIns="0" rIns="0" bIns="0" rtlCol="0" anchor="ctr"/>
          <a:lstStyle/>
          <a:p>
            <a:pPr marL="0" indent="0">
              <a:buNone/>
            </a:pPr>
            <a:r>
              <a:rPr lang="en-US" sz="900" b="1" dirty="0">
                <a:latin typeface="Calibri" pitchFamily="34" charset="0"/>
                <a:ea typeface="Calibri" pitchFamily="34" charset="-122"/>
                <a:cs typeface="Calibri" pitchFamily="34" charset="-120"/>
              </a:rPr>
              <a:t>STEP 01</a:t>
            </a:r>
            <a:endParaRPr lang="en-US" sz="900" dirty="0"/>
          </a:p>
        </p:txBody>
      </p:sp>
      <p:sp>
        <p:nvSpPr>
          <p:cNvPr id="9" name="Text 6"/>
          <p:cNvSpPr/>
          <p:nvPr/>
        </p:nvSpPr>
        <p:spPr>
          <a:xfrm>
            <a:off x="685800" y="1517904"/>
            <a:ext cx="1691640" cy="256032"/>
          </a:xfrm>
          <a:prstGeom prst="rect">
            <a:avLst/>
          </a:prstGeom>
          <a:noFill/>
          <a:ln/>
        </p:spPr>
        <p:txBody>
          <a:bodyPr wrap="square" lIns="0" tIns="0" rIns="0" bIns="0" rtlCol="0" anchor="ctr"/>
          <a:lstStyle/>
          <a:p>
            <a:pPr marL="0" indent="0">
              <a:buNone/>
            </a:pPr>
            <a:r>
              <a:rPr lang="en-US" sz="1150" b="1" dirty="0">
                <a:latin typeface="Cambria" pitchFamily="34" charset="0"/>
                <a:ea typeface="Cambria" pitchFamily="34" charset="-122"/>
                <a:cs typeface="Cambria" pitchFamily="34" charset="-120"/>
              </a:rPr>
              <a:t>Scan Table QR</a:t>
            </a:r>
            <a:endParaRPr lang="en-US" sz="1150" dirty="0"/>
          </a:p>
        </p:txBody>
      </p:sp>
      <p:sp>
        <p:nvSpPr>
          <p:cNvPr id="10" name="Text 7"/>
          <p:cNvSpPr/>
          <p:nvPr/>
        </p:nvSpPr>
        <p:spPr>
          <a:xfrm>
            <a:off x="685800" y="1792224"/>
            <a:ext cx="1691640" cy="640080"/>
          </a:xfrm>
          <a:prstGeom prst="rect">
            <a:avLst/>
          </a:prstGeom>
          <a:noFill/>
          <a:ln/>
        </p:spPr>
        <p:txBody>
          <a:bodyPr wrap="square" lIns="0" tIns="0" rIns="0" bIns="0" rtlCol="0" anchor="ctr"/>
          <a:lstStyle/>
          <a:p>
            <a:pPr marL="0" indent="0">
              <a:buNone/>
            </a:pPr>
            <a:r>
              <a:rPr lang="en-US" sz="850" dirty="0">
                <a:latin typeface="Calibri" pitchFamily="34" charset="0"/>
                <a:ea typeface="Calibri" pitchFamily="34" charset="-122"/>
                <a:cs typeface="Calibri" pitchFamily="34" charset="-120"/>
              </a:rPr>
              <a:t>Instant PWA launch (`/?table=1`) with active cart session</a:t>
            </a:r>
            <a:endParaRPr lang="en-US" sz="850" dirty="0"/>
          </a:p>
        </p:txBody>
      </p:sp>
      <p:sp>
        <p:nvSpPr>
          <p:cNvPr id="11" name="Shape 8"/>
          <p:cNvSpPr/>
          <p:nvPr/>
        </p:nvSpPr>
        <p:spPr>
          <a:xfrm>
            <a:off x="2606040" y="1188720"/>
            <a:ext cx="1965960" cy="1325880"/>
          </a:xfrm>
          <a:prstGeom prst="roundRect">
            <a:avLst>
              <a:gd name="adj" fmla="val 5517"/>
            </a:avLst>
          </a:prstGeom>
          <a:solidFill>
            <a:srgbClr val="EFF6FF"/>
          </a:solidFill>
          <a:ln w="12700">
            <a:solidFill>
              <a:srgbClr val="BFDBFE"/>
            </a:solidFill>
            <a:prstDash val="solid"/>
          </a:ln>
        </p:spPr>
      </p:sp>
      <p:sp>
        <p:nvSpPr>
          <p:cNvPr id="12" name="Text 9"/>
          <p:cNvSpPr/>
          <p:nvPr/>
        </p:nvSpPr>
        <p:spPr>
          <a:xfrm>
            <a:off x="2743200" y="1298448"/>
            <a:ext cx="1691640" cy="201168"/>
          </a:xfrm>
          <a:prstGeom prst="rect">
            <a:avLst/>
          </a:prstGeom>
          <a:noFill/>
          <a:ln/>
        </p:spPr>
        <p:txBody>
          <a:bodyPr wrap="square" lIns="0" tIns="0" rIns="0" bIns="0" rtlCol="0" anchor="ctr"/>
          <a:lstStyle/>
          <a:p>
            <a:pPr marL="0" indent="0">
              <a:buNone/>
            </a:pPr>
            <a:r>
              <a:rPr lang="en-US" sz="900" b="1" dirty="0">
                <a:latin typeface="Calibri" pitchFamily="34" charset="0"/>
                <a:ea typeface="Calibri" pitchFamily="34" charset="-122"/>
                <a:cs typeface="Calibri" pitchFamily="34" charset="-120"/>
              </a:rPr>
              <a:t>STEP 02</a:t>
            </a:r>
            <a:endParaRPr lang="en-US" sz="900" dirty="0"/>
          </a:p>
        </p:txBody>
      </p:sp>
      <p:sp>
        <p:nvSpPr>
          <p:cNvPr id="13" name="Text 10"/>
          <p:cNvSpPr/>
          <p:nvPr/>
        </p:nvSpPr>
        <p:spPr>
          <a:xfrm>
            <a:off x="2743200" y="1517904"/>
            <a:ext cx="1691640" cy="256032"/>
          </a:xfrm>
          <a:prstGeom prst="rect">
            <a:avLst/>
          </a:prstGeom>
          <a:noFill/>
          <a:ln/>
        </p:spPr>
        <p:txBody>
          <a:bodyPr wrap="square" lIns="0" tIns="0" rIns="0" bIns="0" rtlCol="0" anchor="ctr"/>
          <a:lstStyle/>
          <a:p>
            <a:pPr marL="0" indent="0">
              <a:buNone/>
            </a:pPr>
            <a:r>
              <a:rPr lang="en-US" sz="1150" b="1" dirty="0">
                <a:latin typeface="Cambria" pitchFamily="34" charset="0"/>
                <a:ea typeface="Cambria" pitchFamily="34" charset="-122"/>
                <a:cs typeface="Cambria" pitchFamily="34" charset="-120"/>
              </a:rPr>
              <a:t>Filter Menu</a:t>
            </a:r>
            <a:endParaRPr lang="en-US" sz="1150" dirty="0"/>
          </a:p>
        </p:txBody>
      </p:sp>
      <p:sp>
        <p:nvSpPr>
          <p:cNvPr id="14" name="Text 11"/>
          <p:cNvSpPr/>
          <p:nvPr/>
        </p:nvSpPr>
        <p:spPr>
          <a:xfrm>
            <a:off x="2743200" y="1792224"/>
            <a:ext cx="1691640" cy="640080"/>
          </a:xfrm>
          <a:prstGeom prst="rect">
            <a:avLst/>
          </a:prstGeom>
          <a:noFill/>
          <a:ln/>
        </p:spPr>
        <p:txBody>
          <a:bodyPr wrap="square" lIns="0" tIns="0" rIns="0" bIns="0" rtlCol="0" anchor="ctr"/>
          <a:lstStyle/>
          <a:p>
            <a:pPr marL="0" indent="0">
              <a:buNone/>
            </a:pPr>
            <a:r>
              <a:rPr lang="en-US" sz="850" dirty="0">
                <a:latin typeface="Calibri" pitchFamily="34" charset="0"/>
                <a:ea typeface="Calibri" pitchFamily="34" charset="-122"/>
                <a:cs typeface="Calibri" pitchFamily="34" charset="-120"/>
              </a:rPr>
              <a:t>Interactive search by veg, allergens, spice &amp; calories</a:t>
            </a:r>
            <a:endParaRPr lang="en-US" sz="850" dirty="0"/>
          </a:p>
        </p:txBody>
      </p:sp>
      <p:sp>
        <p:nvSpPr>
          <p:cNvPr id="15" name="Shape 12"/>
          <p:cNvSpPr/>
          <p:nvPr/>
        </p:nvSpPr>
        <p:spPr>
          <a:xfrm>
            <a:off x="4663440" y="1188720"/>
            <a:ext cx="1965960" cy="1325880"/>
          </a:xfrm>
          <a:prstGeom prst="roundRect">
            <a:avLst>
              <a:gd name="adj" fmla="val 5517"/>
            </a:avLst>
          </a:prstGeom>
          <a:solidFill>
            <a:srgbClr val="EFF6FF"/>
          </a:solidFill>
          <a:ln w="12700">
            <a:solidFill>
              <a:srgbClr val="BFDBFE"/>
            </a:solidFill>
            <a:prstDash val="solid"/>
          </a:ln>
        </p:spPr>
      </p:sp>
      <p:sp>
        <p:nvSpPr>
          <p:cNvPr id="16" name="Text 13"/>
          <p:cNvSpPr/>
          <p:nvPr/>
        </p:nvSpPr>
        <p:spPr>
          <a:xfrm>
            <a:off x="4800600" y="1298448"/>
            <a:ext cx="1691640" cy="201168"/>
          </a:xfrm>
          <a:prstGeom prst="rect">
            <a:avLst/>
          </a:prstGeom>
          <a:noFill/>
          <a:ln/>
        </p:spPr>
        <p:txBody>
          <a:bodyPr wrap="square" lIns="0" tIns="0" rIns="0" bIns="0" rtlCol="0" anchor="ctr"/>
          <a:lstStyle/>
          <a:p>
            <a:pPr marL="0" indent="0">
              <a:buNone/>
            </a:pPr>
            <a:r>
              <a:rPr lang="en-US" sz="900" b="1" dirty="0">
                <a:latin typeface="Calibri" pitchFamily="34" charset="0"/>
                <a:ea typeface="Calibri" pitchFamily="34" charset="-122"/>
                <a:cs typeface="Calibri" pitchFamily="34" charset="-120"/>
              </a:rPr>
              <a:t>STEP 03</a:t>
            </a:r>
            <a:endParaRPr lang="en-US" sz="900" dirty="0"/>
          </a:p>
        </p:txBody>
      </p:sp>
      <p:sp>
        <p:nvSpPr>
          <p:cNvPr id="17" name="Text 14"/>
          <p:cNvSpPr/>
          <p:nvPr/>
        </p:nvSpPr>
        <p:spPr>
          <a:xfrm>
            <a:off x="4800600" y="1517904"/>
            <a:ext cx="1691640" cy="256032"/>
          </a:xfrm>
          <a:prstGeom prst="rect">
            <a:avLst/>
          </a:prstGeom>
          <a:noFill/>
          <a:ln/>
        </p:spPr>
        <p:txBody>
          <a:bodyPr wrap="square" lIns="0" tIns="0" rIns="0" bIns="0" rtlCol="0" anchor="ctr"/>
          <a:lstStyle/>
          <a:p>
            <a:pPr marL="0" indent="0">
              <a:buNone/>
            </a:pPr>
            <a:r>
              <a:rPr lang="en-US" sz="1150" b="1" dirty="0">
                <a:latin typeface="Cambria" pitchFamily="34" charset="0"/>
                <a:ea typeface="Cambria" pitchFamily="34" charset="-122"/>
                <a:cs typeface="Cambria" pitchFamily="34" charset="-120"/>
              </a:rPr>
              <a:t>3D AR Preview</a:t>
            </a:r>
            <a:endParaRPr lang="en-US" sz="1150" dirty="0"/>
          </a:p>
        </p:txBody>
      </p:sp>
      <p:sp>
        <p:nvSpPr>
          <p:cNvPr id="18" name="Text 15"/>
          <p:cNvSpPr/>
          <p:nvPr/>
        </p:nvSpPr>
        <p:spPr>
          <a:xfrm>
            <a:off x="4800600" y="1792224"/>
            <a:ext cx="1691640" cy="640080"/>
          </a:xfrm>
          <a:prstGeom prst="rect">
            <a:avLst/>
          </a:prstGeom>
          <a:noFill/>
          <a:ln/>
        </p:spPr>
        <p:txBody>
          <a:bodyPr wrap="square" lIns="0" tIns="0" rIns="0" bIns="0" rtlCol="0" anchor="ctr"/>
          <a:lstStyle/>
          <a:p>
            <a:pPr marL="0" indent="0">
              <a:buNone/>
            </a:pPr>
            <a:r>
              <a:rPr lang="en-US" sz="850" dirty="0">
                <a:latin typeface="Calibri" pitchFamily="34" charset="0"/>
                <a:ea typeface="Calibri" pitchFamily="34" charset="-122"/>
                <a:cs typeface="Calibri" pitchFamily="34" charset="-120"/>
              </a:rPr>
              <a:t>1:1 scale dish placed onto physical table surface</a:t>
            </a:r>
            <a:endParaRPr lang="en-US" sz="850" dirty="0"/>
          </a:p>
        </p:txBody>
      </p:sp>
      <p:sp>
        <p:nvSpPr>
          <p:cNvPr id="19" name="Shape 16"/>
          <p:cNvSpPr/>
          <p:nvPr/>
        </p:nvSpPr>
        <p:spPr>
          <a:xfrm>
            <a:off x="6720840" y="1188720"/>
            <a:ext cx="1965960" cy="1325880"/>
          </a:xfrm>
          <a:prstGeom prst="roundRect">
            <a:avLst>
              <a:gd name="adj" fmla="val 5517"/>
            </a:avLst>
          </a:prstGeom>
          <a:solidFill>
            <a:srgbClr val="EFF6FF"/>
          </a:solidFill>
          <a:ln w="12700">
            <a:solidFill>
              <a:srgbClr val="BFDBFE"/>
            </a:solidFill>
            <a:prstDash val="solid"/>
          </a:ln>
        </p:spPr>
      </p:sp>
      <p:sp>
        <p:nvSpPr>
          <p:cNvPr id="20" name="Text 17"/>
          <p:cNvSpPr/>
          <p:nvPr/>
        </p:nvSpPr>
        <p:spPr>
          <a:xfrm>
            <a:off x="6858000" y="1298448"/>
            <a:ext cx="1691640" cy="201168"/>
          </a:xfrm>
          <a:prstGeom prst="rect">
            <a:avLst/>
          </a:prstGeom>
          <a:noFill/>
          <a:ln/>
        </p:spPr>
        <p:txBody>
          <a:bodyPr wrap="square" lIns="0" tIns="0" rIns="0" bIns="0" rtlCol="0" anchor="ctr"/>
          <a:lstStyle/>
          <a:p>
            <a:pPr marL="0" indent="0">
              <a:buNone/>
            </a:pPr>
            <a:r>
              <a:rPr lang="en-US" sz="900" b="1" dirty="0">
                <a:latin typeface="Calibri" pitchFamily="34" charset="0"/>
                <a:ea typeface="Calibri" pitchFamily="34" charset="-122"/>
                <a:cs typeface="Calibri" pitchFamily="34" charset="-120"/>
              </a:rPr>
              <a:t>STEP 04</a:t>
            </a:r>
            <a:endParaRPr lang="en-US" sz="900" dirty="0"/>
          </a:p>
        </p:txBody>
      </p:sp>
      <p:sp>
        <p:nvSpPr>
          <p:cNvPr id="21" name="Text 18"/>
          <p:cNvSpPr/>
          <p:nvPr/>
        </p:nvSpPr>
        <p:spPr>
          <a:xfrm>
            <a:off x="6858000" y="1517904"/>
            <a:ext cx="1691640" cy="256032"/>
          </a:xfrm>
          <a:prstGeom prst="rect">
            <a:avLst/>
          </a:prstGeom>
          <a:noFill/>
          <a:ln/>
        </p:spPr>
        <p:txBody>
          <a:bodyPr wrap="square" lIns="0" tIns="0" rIns="0" bIns="0" rtlCol="0" anchor="ctr"/>
          <a:lstStyle/>
          <a:p>
            <a:pPr marL="0" indent="0">
              <a:buNone/>
            </a:pPr>
            <a:r>
              <a:rPr lang="en-US" sz="1150" b="1" dirty="0">
                <a:latin typeface="Cambria" pitchFamily="34" charset="0"/>
                <a:ea typeface="Cambria" pitchFamily="34" charset="-122"/>
                <a:cs typeface="Cambria" pitchFamily="34" charset="-120"/>
              </a:rPr>
              <a:t>Live KDS Dispatch</a:t>
            </a:r>
            <a:endParaRPr lang="en-US" sz="1150" dirty="0"/>
          </a:p>
        </p:txBody>
      </p:sp>
      <p:sp>
        <p:nvSpPr>
          <p:cNvPr id="22" name="Text 19"/>
          <p:cNvSpPr/>
          <p:nvPr/>
        </p:nvSpPr>
        <p:spPr>
          <a:xfrm>
            <a:off x="6858000" y="1792224"/>
            <a:ext cx="1691640" cy="640080"/>
          </a:xfrm>
          <a:prstGeom prst="rect">
            <a:avLst/>
          </a:prstGeom>
          <a:noFill/>
          <a:ln/>
        </p:spPr>
        <p:txBody>
          <a:bodyPr wrap="square" lIns="0" tIns="0" rIns="0" bIns="0" rtlCol="0" anchor="ctr"/>
          <a:lstStyle/>
          <a:p>
            <a:pPr marL="0" indent="0">
              <a:buNone/>
            </a:pPr>
            <a:r>
              <a:rPr lang="en-US" sz="850" dirty="0">
                <a:latin typeface="Calibri" pitchFamily="34" charset="0"/>
                <a:ea typeface="Calibri" pitchFamily="34" charset="-122"/>
                <a:cs typeface="Calibri" pitchFamily="34" charset="-120"/>
              </a:rPr>
              <a:t>Instant kitchen ticket queue with acoustic alert</a:t>
            </a:r>
            <a:endParaRPr lang="en-US" sz="850" dirty="0"/>
          </a:p>
        </p:txBody>
      </p:sp>
      <p:sp>
        <p:nvSpPr>
          <p:cNvPr id="23" name="Shape 20"/>
          <p:cNvSpPr/>
          <p:nvPr/>
        </p:nvSpPr>
        <p:spPr>
          <a:xfrm>
            <a:off x="548640" y="2697480"/>
            <a:ext cx="3931920" cy="1920240"/>
          </a:xfrm>
          <a:prstGeom prst="roundRect">
            <a:avLst>
              <a:gd name="adj" fmla="val 3810"/>
            </a:avLst>
          </a:prstGeom>
          <a:solidFill>
            <a:srgbClr val="F8FAFC"/>
          </a:solidFill>
          <a:ln w="12700">
            <a:solidFill>
              <a:srgbClr val="E2E8F0"/>
            </a:solidFill>
            <a:prstDash val="solid"/>
          </a:ln>
        </p:spPr>
      </p:sp>
      <p:sp>
        <p:nvSpPr>
          <p:cNvPr id="24" name="Text 21"/>
          <p:cNvSpPr/>
          <p:nvPr/>
        </p:nvSpPr>
        <p:spPr>
          <a:xfrm>
            <a:off x="777240" y="2834640"/>
            <a:ext cx="3474720" cy="274320"/>
          </a:xfrm>
          <a:prstGeom prst="rect">
            <a:avLst/>
          </a:prstGeom>
          <a:noFill/>
          <a:ln/>
        </p:spPr>
        <p:txBody>
          <a:bodyPr wrap="square" lIns="0" tIns="0" rIns="0" bIns="0" rtlCol="0" anchor="ctr"/>
          <a:lstStyle/>
          <a:p>
            <a:pPr marL="0" indent="0">
              <a:buNone/>
            </a:pPr>
            <a:r>
              <a:rPr lang="en-US" sz="1250" b="1" dirty="0">
                <a:latin typeface="Cambria" pitchFamily="34" charset="0"/>
                <a:ea typeface="Cambria" pitchFamily="34" charset="-122"/>
                <a:cs typeface="Cambria" pitchFamily="34" charset="-120"/>
              </a:rPr>
              <a:t>Customer-Facing Spatial Dining Experience</a:t>
            </a:r>
            <a:endParaRPr lang="en-US" sz="1250" dirty="0"/>
          </a:p>
        </p:txBody>
      </p:sp>
      <p:sp>
        <p:nvSpPr>
          <p:cNvPr id="25" name="Text 22"/>
          <p:cNvSpPr/>
          <p:nvPr/>
        </p:nvSpPr>
        <p:spPr>
          <a:xfrm>
            <a:off x="777240" y="3154680"/>
            <a:ext cx="3474720" cy="1371600"/>
          </a:xfrm>
          <a:prstGeom prst="rect">
            <a:avLst/>
          </a:prstGeom>
          <a:noFill/>
          <a:ln/>
        </p:spPr>
        <p:txBody>
          <a:bodyPr wrap="square" lIns="0" tIns="0" rIns="0" bIns="0" rtlCol="0" anchor="ctr"/>
          <a:lstStyle/>
          <a:p>
            <a:pPr marL="342900" indent="-342900">
              <a:spcAft>
                <a:spcPts val="400"/>
              </a:spcAft>
              <a:buSzPct val="100000"/>
              <a:buChar char="•"/>
            </a:pPr>
            <a:r>
              <a:rPr lang="en-US" sz="950" dirty="0">
                <a:latin typeface="Calibri" pitchFamily="34" charset="0"/>
                <a:ea typeface="Calibri" pitchFamily="34" charset="-122"/>
                <a:cs typeface="Calibri" pitchFamily="34" charset="-120"/>
              </a:rPr>
              <a:t>Zero Installation Barrier: Runs directly inside Chrome, Safari, and Edge on Android &amp; iOS.</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True Metric Scale (1:1): Dispel portion uncertainty by projecting true-to-life food dimensions onto the table.</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Nutritional &amp; Dietary Transparency: Live calorie count, allergen filtering, and customization notes.</a:t>
            </a:r>
            <a:endParaRPr lang="en-US" sz="950" dirty="0"/>
          </a:p>
        </p:txBody>
      </p:sp>
      <p:sp>
        <p:nvSpPr>
          <p:cNvPr id="26" name="Shape 23"/>
          <p:cNvSpPr/>
          <p:nvPr/>
        </p:nvSpPr>
        <p:spPr>
          <a:xfrm>
            <a:off x="4663440" y="2697480"/>
            <a:ext cx="3931920" cy="1920240"/>
          </a:xfrm>
          <a:prstGeom prst="roundRect">
            <a:avLst>
              <a:gd name="adj" fmla="val 3810"/>
            </a:avLst>
          </a:prstGeom>
          <a:solidFill>
            <a:srgbClr val="F8FAFC"/>
          </a:solidFill>
          <a:ln w="12700">
            <a:solidFill>
              <a:srgbClr val="E2E8F0"/>
            </a:solidFill>
            <a:prstDash val="solid"/>
          </a:ln>
        </p:spPr>
      </p:sp>
      <p:sp>
        <p:nvSpPr>
          <p:cNvPr id="27" name="Text 24"/>
          <p:cNvSpPr/>
          <p:nvPr/>
        </p:nvSpPr>
        <p:spPr>
          <a:xfrm>
            <a:off x="4892040" y="2834640"/>
            <a:ext cx="3474720" cy="274320"/>
          </a:xfrm>
          <a:prstGeom prst="rect">
            <a:avLst/>
          </a:prstGeom>
          <a:noFill/>
          <a:ln/>
        </p:spPr>
        <p:txBody>
          <a:bodyPr wrap="square" lIns="0" tIns="0" rIns="0" bIns="0" rtlCol="0" anchor="ctr"/>
          <a:lstStyle/>
          <a:p>
            <a:pPr marL="0" indent="0">
              <a:buNone/>
            </a:pPr>
            <a:r>
              <a:rPr lang="en-US" sz="1250" b="1" dirty="0">
                <a:latin typeface="Cambria" pitchFamily="34" charset="0"/>
                <a:ea typeface="Cambria" pitchFamily="34" charset="-122"/>
                <a:cs typeface="Cambria" pitchFamily="34" charset="-120"/>
              </a:rPr>
              <a:t>Kitchen &amp; Operational Backend Coordination</a:t>
            </a:r>
            <a:endParaRPr lang="en-US" sz="1250" dirty="0"/>
          </a:p>
        </p:txBody>
      </p:sp>
      <p:sp>
        <p:nvSpPr>
          <p:cNvPr id="28" name="Text 25"/>
          <p:cNvSpPr/>
          <p:nvPr/>
        </p:nvSpPr>
        <p:spPr>
          <a:xfrm>
            <a:off x="4892040" y="3154680"/>
            <a:ext cx="3474720" cy="1371600"/>
          </a:xfrm>
          <a:prstGeom prst="rect">
            <a:avLst/>
          </a:prstGeom>
          <a:noFill/>
          <a:ln/>
        </p:spPr>
        <p:txBody>
          <a:bodyPr wrap="square" lIns="0" tIns="0" rIns="0" bIns="0" rtlCol="0" anchor="ctr"/>
          <a:lstStyle/>
          <a:p>
            <a:pPr marL="342900" indent="-342900">
              <a:spcAft>
                <a:spcPts val="400"/>
              </a:spcAft>
              <a:buSzPct val="100000"/>
              <a:buChar char="•"/>
            </a:pPr>
            <a:r>
              <a:rPr lang="en-US" sz="950" dirty="0">
                <a:latin typeface="Calibri" pitchFamily="34" charset="0"/>
                <a:ea typeface="Calibri" pitchFamily="34" charset="-122"/>
                <a:cs typeface="Calibri" pitchFamily="34" charset="-120"/>
              </a:rPr>
              <a:t>Bidirectional State Synchronization: Table orders land instantly on kitchen display with synthesized sound alert.</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Stateful Ticket Lifecycle: Chef advances orders through Pending ➔ Preparing ➔ Ready ➔ Delivered.</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Zero Table Hardware Footprint: Staff and patrons use existing screens, eliminating ₹3.5L+ in POS equipment.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Technical Complexity &amp; Engineering Problem-Solving</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Rubric Criterion 2 (10 Marks)</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3931920" cy="1554480"/>
          </a:xfrm>
          <a:prstGeom prst="roundRect">
            <a:avLst>
              <a:gd name="adj" fmla="val 4706"/>
            </a:avLst>
          </a:prstGeom>
          <a:solidFill>
            <a:srgbClr val="F8FAFC"/>
          </a:solidFill>
          <a:ln w="12700">
            <a:solidFill>
              <a:srgbClr val="E2E8F0"/>
            </a:solidFill>
            <a:prstDash val="solid"/>
          </a:ln>
        </p:spPr>
      </p:sp>
      <p:sp>
        <p:nvSpPr>
          <p:cNvPr id="8" name="Text 5"/>
          <p:cNvSpPr/>
          <p:nvPr/>
        </p:nvSpPr>
        <p:spPr>
          <a:xfrm>
            <a:off x="777240" y="1325880"/>
            <a:ext cx="3474720" cy="182880"/>
          </a:xfrm>
          <a:prstGeom prst="rect">
            <a:avLst/>
          </a:prstGeom>
          <a:noFill/>
          <a:ln/>
        </p:spPr>
        <p:txBody>
          <a:bodyPr wrap="square" lIns="0" tIns="0" rIns="0" bIns="0" rtlCol="0" anchor="ctr"/>
          <a:lstStyle/>
          <a:p>
            <a:pPr marL="0" indent="0">
              <a:buNone/>
            </a:pPr>
            <a:r>
              <a:rPr lang="en-US" sz="850" b="1" dirty="0">
                <a:latin typeface="Calibri" pitchFamily="34" charset="0"/>
                <a:ea typeface="Calibri" pitchFamily="34" charset="-122"/>
                <a:cs typeface="Calibri" pitchFamily="34" charset="-120"/>
              </a:rPr>
              <a:t>ENGINEERING CHALLENGE #01</a:t>
            </a:r>
            <a:endParaRPr lang="en-US" sz="850" dirty="0"/>
          </a:p>
        </p:txBody>
      </p:sp>
      <p:sp>
        <p:nvSpPr>
          <p:cNvPr id="9" name="Text 6"/>
          <p:cNvSpPr/>
          <p:nvPr/>
        </p:nvSpPr>
        <p:spPr>
          <a:xfrm>
            <a:off x="777240" y="1508760"/>
            <a:ext cx="3474720" cy="256032"/>
          </a:xfrm>
          <a:prstGeom prst="rect">
            <a:avLst/>
          </a:prstGeom>
          <a:noFill/>
          <a:ln/>
        </p:spPr>
        <p:txBody>
          <a:bodyPr wrap="square" lIns="0" tIns="0" rIns="0" bIns="0" rtlCol="0" anchor="ctr"/>
          <a:lstStyle/>
          <a:p>
            <a:pPr marL="0" indent="0">
              <a:buNone/>
            </a:pPr>
            <a:r>
              <a:rPr lang="en-US" sz="1150" b="1" dirty="0">
                <a:latin typeface="Cambria" pitchFamily="34" charset="0"/>
                <a:ea typeface="Cambria" pitchFamily="34" charset="-122"/>
                <a:cs typeface="Cambria" pitchFamily="34" charset="-120"/>
              </a:rPr>
              <a:t>Table Plane Hit-Testing vs. Sensor Drift</a:t>
            </a:r>
            <a:endParaRPr lang="en-US" sz="1150" dirty="0"/>
          </a:p>
        </p:txBody>
      </p:sp>
      <p:sp>
        <p:nvSpPr>
          <p:cNvPr id="10" name="Text 7"/>
          <p:cNvSpPr/>
          <p:nvPr/>
        </p:nvSpPr>
        <p:spPr>
          <a:xfrm>
            <a:off x="777240" y="1792224"/>
            <a:ext cx="3474720" cy="868680"/>
          </a:xfrm>
          <a:prstGeom prst="rect">
            <a:avLst/>
          </a:prstGeom>
          <a:noFill/>
          <a:ln/>
        </p:spPr>
        <p:txBody>
          <a:bodyPr wrap="square" lIns="0" tIns="0" rIns="0" bIns="0" rtlCol="0" anchor="ctr"/>
          <a:lstStyle/>
          <a:p>
            <a:pPr marL="0" indent="0">
              <a:buNone/>
            </a:pPr>
            <a:r>
              <a:rPr lang="en-US" sz="850" b="1" dirty="0">
                <a:latin typeface="Calibri" pitchFamily="34" charset="0"/>
                <a:ea typeface="Calibri" pitchFamily="34" charset="-122"/>
                <a:cs typeface="Calibri" pitchFamily="34" charset="-120"/>
              </a:rPr>
              <a:t>Problem: </a:t>
            </a:r>
            <a:r>
              <a:rPr lang="en-US" sz="850" dirty="0">
                <a:latin typeface="Calibri" pitchFamily="34" charset="0"/>
                <a:ea typeface="Calibri" pitchFamily="34" charset="-122"/>
                <a:cs typeface="Calibri" pitchFamily="34" charset="-120"/>
              </a:rPr>
              <a:t>Initial Vulnerability: Using raw phone IMU orientation caused 3D food models to float and drift whenever the user shifted posture.
</a:t>
            </a:r>
            <a:r>
              <a:rPr lang="en-US" sz="850" b="1" dirty="0">
                <a:latin typeface="Calibri" pitchFamily="34" charset="0"/>
                <a:ea typeface="Calibri" pitchFamily="34" charset="-122"/>
                <a:cs typeface="Calibri" pitchFamily="34" charset="-120"/>
              </a:rPr>
              <a:t>Resolution: </a:t>
            </a:r>
            <a:r>
              <a:rPr lang="en-US" sz="850" dirty="0">
                <a:latin typeface="Calibri" pitchFamily="34" charset="0"/>
                <a:ea typeface="Calibri" pitchFamily="34" charset="-122"/>
                <a:cs typeface="Calibri" pitchFamily="34" charset="-120"/>
              </a:rPr>
              <a:t>Engineered Solution: Implemented native WebXR `requestHitTestSource()` to calculate exact ray-plane intersections with physical tables, locking models firmly in 6-DoF.</a:t>
            </a:r>
            <a:endParaRPr lang="en-US" sz="850" dirty="0"/>
          </a:p>
        </p:txBody>
      </p:sp>
      <p:sp>
        <p:nvSpPr>
          <p:cNvPr id="11" name="Shape 8"/>
          <p:cNvSpPr/>
          <p:nvPr/>
        </p:nvSpPr>
        <p:spPr>
          <a:xfrm>
            <a:off x="4663440" y="1188720"/>
            <a:ext cx="3931920" cy="1554480"/>
          </a:xfrm>
          <a:prstGeom prst="roundRect">
            <a:avLst>
              <a:gd name="adj" fmla="val 4706"/>
            </a:avLst>
          </a:prstGeom>
          <a:solidFill>
            <a:srgbClr val="F8FAFC"/>
          </a:solidFill>
          <a:ln w="12700">
            <a:solidFill>
              <a:srgbClr val="E2E8F0"/>
            </a:solidFill>
            <a:prstDash val="solid"/>
          </a:ln>
        </p:spPr>
      </p:sp>
      <p:sp>
        <p:nvSpPr>
          <p:cNvPr id="12" name="Text 9"/>
          <p:cNvSpPr/>
          <p:nvPr/>
        </p:nvSpPr>
        <p:spPr>
          <a:xfrm>
            <a:off x="4892040" y="1325880"/>
            <a:ext cx="3474720" cy="182880"/>
          </a:xfrm>
          <a:prstGeom prst="rect">
            <a:avLst/>
          </a:prstGeom>
          <a:noFill/>
          <a:ln/>
        </p:spPr>
        <p:txBody>
          <a:bodyPr wrap="square" lIns="0" tIns="0" rIns="0" bIns="0" rtlCol="0" anchor="ctr"/>
          <a:lstStyle/>
          <a:p>
            <a:pPr marL="0" indent="0">
              <a:buNone/>
            </a:pPr>
            <a:r>
              <a:rPr lang="en-US" sz="850" b="1" dirty="0">
                <a:latin typeface="Calibri" pitchFamily="34" charset="0"/>
                <a:ea typeface="Calibri" pitchFamily="34" charset="-122"/>
                <a:cs typeface="Calibri" pitchFamily="34" charset="-120"/>
              </a:rPr>
              <a:t>ENGINEERING CHALLENGE #02</a:t>
            </a:r>
            <a:endParaRPr lang="en-US" sz="850" dirty="0"/>
          </a:p>
        </p:txBody>
      </p:sp>
      <p:sp>
        <p:nvSpPr>
          <p:cNvPr id="13" name="Text 10"/>
          <p:cNvSpPr/>
          <p:nvPr/>
        </p:nvSpPr>
        <p:spPr>
          <a:xfrm>
            <a:off x="4892040" y="1508760"/>
            <a:ext cx="3474720" cy="256032"/>
          </a:xfrm>
          <a:prstGeom prst="rect">
            <a:avLst/>
          </a:prstGeom>
          <a:noFill/>
          <a:ln/>
        </p:spPr>
        <p:txBody>
          <a:bodyPr wrap="square" lIns="0" tIns="0" rIns="0" bIns="0" rtlCol="0" anchor="ctr"/>
          <a:lstStyle/>
          <a:p>
            <a:pPr marL="0" indent="0">
              <a:buNone/>
            </a:pPr>
            <a:r>
              <a:rPr lang="en-US" sz="1150" b="1" dirty="0">
                <a:latin typeface="Cambria" pitchFamily="34" charset="0"/>
                <a:ea typeface="Cambria" pitchFamily="34" charset="-122"/>
                <a:cs typeface="Cambria" pitchFamily="34" charset="-120"/>
              </a:rPr>
              <a:t>Photogrammetry Payload vs. Mobile Memory</a:t>
            </a:r>
            <a:endParaRPr lang="en-US" sz="1150" dirty="0"/>
          </a:p>
        </p:txBody>
      </p:sp>
      <p:sp>
        <p:nvSpPr>
          <p:cNvPr id="14" name="Text 11"/>
          <p:cNvSpPr/>
          <p:nvPr/>
        </p:nvSpPr>
        <p:spPr>
          <a:xfrm>
            <a:off x="4892040" y="1792224"/>
            <a:ext cx="3474720" cy="868680"/>
          </a:xfrm>
          <a:prstGeom prst="rect">
            <a:avLst/>
          </a:prstGeom>
          <a:noFill/>
          <a:ln/>
        </p:spPr>
        <p:txBody>
          <a:bodyPr wrap="square" lIns="0" tIns="0" rIns="0" bIns="0" rtlCol="0" anchor="ctr"/>
          <a:lstStyle/>
          <a:p>
            <a:pPr marL="0" indent="0">
              <a:buNone/>
            </a:pPr>
            <a:r>
              <a:rPr lang="en-US" sz="850" b="1" dirty="0">
                <a:latin typeface="Calibri" pitchFamily="34" charset="0"/>
                <a:ea typeface="Calibri" pitchFamily="34" charset="-122"/>
                <a:cs typeface="Calibri" pitchFamily="34" charset="-120"/>
              </a:rPr>
              <a:t>Problem: </a:t>
            </a:r>
            <a:r>
              <a:rPr lang="en-US" sz="850" dirty="0">
                <a:latin typeface="Calibri" pitchFamily="34" charset="0"/>
                <a:ea typeface="Calibri" pitchFamily="34" charset="-122"/>
                <a:cs typeface="Calibri" pitchFamily="34" charset="-120"/>
              </a:rPr>
              <a:t>Initial Vulnerability: Raw 3D models with 8K textures exceeded 46 MB, taking over 14 seconds to load and triggering mobile browser Out-Of-Memory (OOM) crashes.
</a:t>
            </a:r>
            <a:r>
              <a:rPr lang="en-US" sz="850" b="1" dirty="0">
                <a:latin typeface="Calibri" pitchFamily="34" charset="0"/>
                <a:ea typeface="Calibri" pitchFamily="34" charset="-122"/>
                <a:cs typeface="Calibri" pitchFamily="34" charset="-120"/>
              </a:rPr>
              <a:t>Resolution: </a:t>
            </a:r>
            <a:r>
              <a:rPr lang="en-US" sz="850" dirty="0">
                <a:latin typeface="Calibri" pitchFamily="34" charset="0"/>
                <a:ea typeface="Calibri" pitchFamily="34" charset="-122"/>
                <a:cs typeface="Calibri" pitchFamily="34" charset="-120"/>
              </a:rPr>
              <a:t>Engineered Solution: Automated `@gltf-transform` pipeline to downsample textures to 2K WebP and apply Draco quantization, shrinking `pizza.glb` by 78% (10.2 MB) and load time to 1.8s.</a:t>
            </a:r>
            <a:endParaRPr lang="en-US" sz="850" dirty="0"/>
          </a:p>
        </p:txBody>
      </p:sp>
      <p:sp>
        <p:nvSpPr>
          <p:cNvPr id="15" name="Shape 12"/>
          <p:cNvSpPr/>
          <p:nvPr/>
        </p:nvSpPr>
        <p:spPr>
          <a:xfrm>
            <a:off x="548640" y="2880360"/>
            <a:ext cx="3931920" cy="1554480"/>
          </a:xfrm>
          <a:prstGeom prst="roundRect">
            <a:avLst>
              <a:gd name="adj" fmla="val 4706"/>
            </a:avLst>
          </a:prstGeom>
          <a:solidFill>
            <a:srgbClr val="F8FAFC"/>
          </a:solidFill>
          <a:ln w="12700">
            <a:solidFill>
              <a:srgbClr val="E2E8F0"/>
            </a:solidFill>
            <a:prstDash val="solid"/>
          </a:ln>
        </p:spPr>
      </p:sp>
      <p:sp>
        <p:nvSpPr>
          <p:cNvPr id="16" name="Text 13"/>
          <p:cNvSpPr/>
          <p:nvPr/>
        </p:nvSpPr>
        <p:spPr>
          <a:xfrm>
            <a:off x="777240" y="3017520"/>
            <a:ext cx="3474720" cy="182880"/>
          </a:xfrm>
          <a:prstGeom prst="rect">
            <a:avLst/>
          </a:prstGeom>
          <a:noFill/>
          <a:ln/>
        </p:spPr>
        <p:txBody>
          <a:bodyPr wrap="square" lIns="0" tIns="0" rIns="0" bIns="0" rtlCol="0" anchor="ctr"/>
          <a:lstStyle/>
          <a:p>
            <a:pPr marL="0" indent="0">
              <a:buNone/>
            </a:pPr>
            <a:r>
              <a:rPr lang="en-US" sz="850" b="1" dirty="0">
                <a:latin typeface="Calibri" pitchFamily="34" charset="0"/>
                <a:ea typeface="Calibri" pitchFamily="34" charset="-122"/>
                <a:cs typeface="Calibri" pitchFamily="34" charset="-120"/>
              </a:rPr>
              <a:t>ENGINEERING CHALLENGE #03</a:t>
            </a:r>
            <a:endParaRPr lang="en-US" sz="850" dirty="0"/>
          </a:p>
        </p:txBody>
      </p:sp>
      <p:sp>
        <p:nvSpPr>
          <p:cNvPr id="17" name="Text 14"/>
          <p:cNvSpPr/>
          <p:nvPr/>
        </p:nvSpPr>
        <p:spPr>
          <a:xfrm>
            <a:off x="777240" y="3200400"/>
            <a:ext cx="3474720" cy="256032"/>
          </a:xfrm>
          <a:prstGeom prst="rect">
            <a:avLst/>
          </a:prstGeom>
          <a:noFill/>
          <a:ln/>
        </p:spPr>
        <p:txBody>
          <a:bodyPr wrap="square" lIns="0" tIns="0" rIns="0" bIns="0" rtlCol="0" anchor="ctr"/>
          <a:lstStyle/>
          <a:p>
            <a:pPr marL="0" indent="0">
              <a:buNone/>
            </a:pPr>
            <a:r>
              <a:rPr lang="en-US" sz="1150" b="1" dirty="0">
                <a:latin typeface="Cambria" pitchFamily="34" charset="0"/>
                <a:ea typeface="Cambria" pitchFamily="34" charset="-122"/>
                <a:cs typeface="Cambria" pitchFamily="34" charset="-120"/>
              </a:rPr>
              <a:t>Browser Fragmentation vs. Universal Access</a:t>
            </a:r>
            <a:endParaRPr lang="en-US" sz="1150" dirty="0"/>
          </a:p>
        </p:txBody>
      </p:sp>
      <p:sp>
        <p:nvSpPr>
          <p:cNvPr id="18" name="Text 15"/>
          <p:cNvSpPr/>
          <p:nvPr/>
        </p:nvSpPr>
        <p:spPr>
          <a:xfrm>
            <a:off x="777240" y="3483864"/>
            <a:ext cx="3474720" cy="868680"/>
          </a:xfrm>
          <a:prstGeom prst="rect">
            <a:avLst/>
          </a:prstGeom>
          <a:noFill/>
          <a:ln/>
        </p:spPr>
        <p:txBody>
          <a:bodyPr wrap="square" lIns="0" tIns="0" rIns="0" bIns="0" rtlCol="0" anchor="ctr"/>
          <a:lstStyle/>
          <a:p>
            <a:pPr marL="0" indent="0">
              <a:buNone/>
            </a:pPr>
            <a:r>
              <a:rPr lang="en-US" sz="850" b="1" dirty="0">
                <a:latin typeface="Calibri" pitchFamily="34" charset="0"/>
                <a:ea typeface="Calibri" pitchFamily="34" charset="-122"/>
                <a:cs typeface="Calibri" pitchFamily="34" charset="-120"/>
              </a:rPr>
              <a:t>Problem: </a:t>
            </a:r>
            <a:r>
              <a:rPr lang="en-US" sz="850" dirty="0">
                <a:latin typeface="Calibri" pitchFamily="34" charset="0"/>
                <a:ea typeface="Calibri" pitchFamily="34" charset="-122"/>
                <a:cs typeface="Calibri" pitchFamily="34" charset="-120"/>
              </a:rPr>
              <a:t>Initial Vulnerability: Older smartphone browsers lack full WebXR AR session support, which would alienate patrons.
</a:t>
            </a:r>
            <a:r>
              <a:rPr lang="en-US" sz="850" b="1" dirty="0">
                <a:latin typeface="Calibri" pitchFamily="34" charset="0"/>
                <a:ea typeface="Calibri" pitchFamily="34" charset="-122"/>
                <a:cs typeface="Calibri" pitchFamily="34" charset="-120"/>
              </a:rPr>
              <a:t>Resolution: </a:t>
            </a:r>
            <a:r>
              <a:rPr lang="en-US" sz="850" dirty="0">
                <a:latin typeface="Calibri" pitchFamily="34" charset="0"/>
                <a:ea typeface="Calibri" pitchFamily="34" charset="-122"/>
                <a:cs typeface="Calibri" pitchFamily="34" charset="-120"/>
              </a:rPr>
              <a:t>Engineered Solution: Created an adaptive dual-engine fallback that dynamically sniffed device capabilities and redirected Android users to Google Scene Viewer Intent via ARCore.</a:t>
            </a:r>
            <a:endParaRPr lang="en-US" sz="850" dirty="0"/>
          </a:p>
        </p:txBody>
      </p:sp>
      <p:sp>
        <p:nvSpPr>
          <p:cNvPr id="19" name="Shape 16"/>
          <p:cNvSpPr/>
          <p:nvPr/>
        </p:nvSpPr>
        <p:spPr>
          <a:xfrm>
            <a:off x="4663440" y="2880360"/>
            <a:ext cx="3931920" cy="1554480"/>
          </a:xfrm>
          <a:prstGeom prst="roundRect">
            <a:avLst>
              <a:gd name="adj" fmla="val 4706"/>
            </a:avLst>
          </a:prstGeom>
          <a:solidFill>
            <a:srgbClr val="F8FAFC"/>
          </a:solidFill>
          <a:ln w="12700">
            <a:solidFill>
              <a:srgbClr val="E2E8F0"/>
            </a:solidFill>
            <a:prstDash val="solid"/>
          </a:ln>
        </p:spPr>
      </p:sp>
      <p:sp>
        <p:nvSpPr>
          <p:cNvPr id="20" name="Text 17"/>
          <p:cNvSpPr/>
          <p:nvPr/>
        </p:nvSpPr>
        <p:spPr>
          <a:xfrm>
            <a:off x="4892040" y="3017520"/>
            <a:ext cx="3474720" cy="182880"/>
          </a:xfrm>
          <a:prstGeom prst="rect">
            <a:avLst/>
          </a:prstGeom>
          <a:noFill/>
          <a:ln/>
        </p:spPr>
        <p:txBody>
          <a:bodyPr wrap="square" lIns="0" tIns="0" rIns="0" bIns="0" rtlCol="0" anchor="ctr"/>
          <a:lstStyle/>
          <a:p>
            <a:pPr marL="0" indent="0">
              <a:buNone/>
            </a:pPr>
            <a:r>
              <a:rPr lang="en-US" sz="850" b="1" dirty="0">
                <a:latin typeface="Calibri" pitchFamily="34" charset="0"/>
                <a:ea typeface="Calibri" pitchFamily="34" charset="-122"/>
                <a:cs typeface="Calibri" pitchFamily="34" charset="-120"/>
              </a:rPr>
              <a:t>ENGINEERING CHALLENGE #04</a:t>
            </a:r>
            <a:endParaRPr lang="en-US" sz="850" dirty="0"/>
          </a:p>
        </p:txBody>
      </p:sp>
      <p:sp>
        <p:nvSpPr>
          <p:cNvPr id="21" name="Text 18"/>
          <p:cNvSpPr/>
          <p:nvPr/>
        </p:nvSpPr>
        <p:spPr>
          <a:xfrm>
            <a:off x="4892040" y="3200400"/>
            <a:ext cx="3474720" cy="256032"/>
          </a:xfrm>
          <a:prstGeom prst="rect">
            <a:avLst/>
          </a:prstGeom>
          <a:noFill/>
          <a:ln/>
        </p:spPr>
        <p:txBody>
          <a:bodyPr wrap="square" lIns="0" tIns="0" rIns="0" bIns="0" rtlCol="0" anchor="ctr"/>
          <a:lstStyle/>
          <a:p>
            <a:pPr marL="0" indent="0">
              <a:buNone/>
            </a:pPr>
            <a:r>
              <a:rPr lang="en-US" sz="1150" b="1" dirty="0">
                <a:latin typeface="Cambria" pitchFamily="34" charset="0"/>
                <a:ea typeface="Cambria" pitchFamily="34" charset="-122"/>
                <a:cs typeface="Cambria" pitchFamily="34" charset="-120"/>
              </a:rPr>
              <a:t>Mobile Sandbox CORS &amp; Binary MIME Headers</a:t>
            </a:r>
            <a:endParaRPr lang="en-US" sz="1150" dirty="0"/>
          </a:p>
        </p:txBody>
      </p:sp>
      <p:sp>
        <p:nvSpPr>
          <p:cNvPr id="22" name="Text 19"/>
          <p:cNvSpPr/>
          <p:nvPr/>
        </p:nvSpPr>
        <p:spPr>
          <a:xfrm>
            <a:off x="4892040" y="3483864"/>
            <a:ext cx="3474720" cy="868680"/>
          </a:xfrm>
          <a:prstGeom prst="rect">
            <a:avLst/>
          </a:prstGeom>
          <a:noFill/>
          <a:ln/>
        </p:spPr>
        <p:txBody>
          <a:bodyPr wrap="square" lIns="0" tIns="0" rIns="0" bIns="0" rtlCol="0" anchor="ctr"/>
          <a:lstStyle/>
          <a:p>
            <a:pPr marL="0" indent="0">
              <a:buNone/>
            </a:pPr>
            <a:r>
              <a:rPr lang="en-US" sz="850" b="1" dirty="0">
                <a:latin typeface="Calibri" pitchFamily="34" charset="0"/>
                <a:ea typeface="Calibri" pitchFamily="34" charset="-122"/>
                <a:cs typeface="Calibri" pitchFamily="34" charset="-120"/>
              </a:rPr>
              <a:t>Problem: </a:t>
            </a:r>
            <a:r>
              <a:rPr lang="en-US" sz="850" dirty="0">
                <a:latin typeface="Calibri" pitchFamily="34" charset="0"/>
                <a:ea typeface="Calibri" pitchFamily="34" charset="-122"/>
                <a:cs typeface="Calibri" pitchFamily="34" charset="-120"/>
              </a:rPr>
              <a:t>Initial Vulnerability: Mobile AR viewers refused to stream 3D GLB assets from standard cloud buckets due to strict cross-origin CORS and missing MIME types.
</a:t>
            </a:r>
            <a:r>
              <a:rPr lang="en-US" sz="850" b="1" dirty="0">
                <a:latin typeface="Calibri" pitchFamily="34" charset="0"/>
                <a:ea typeface="Calibri" pitchFamily="34" charset="-122"/>
                <a:cs typeface="Calibri" pitchFamily="34" charset="-120"/>
              </a:rPr>
              <a:t>Resolution: </a:t>
            </a:r>
            <a:r>
              <a:rPr lang="en-US" sz="850" dirty="0">
                <a:latin typeface="Calibri" pitchFamily="34" charset="0"/>
                <a:ea typeface="Calibri" pitchFamily="34" charset="-122"/>
                <a:cs typeface="Calibri" pitchFamily="34" charset="-120"/>
              </a:rPr>
              <a:t>Engineered Solution: Configured Vercel Edge rules (`vercel.json`) enforcing `Content-Type: model/gltf-binary` and `Access-Control-Allow-Origin: *` for instant edge caching.</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Layered Architecture &amp; Inter-System Communication</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System Design</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8046720" cy="749808"/>
          </a:xfrm>
          <a:prstGeom prst="roundRect">
            <a:avLst>
              <a:gd name="adj" fmla="val 9756"/>
            </a:avLst>
          </a:prstGeom>
          <a:solidFill>
            <a:srgbClr val="F8FAFC"/>
          </a:solidFill>
          <a:ln w="12700">
            <a:solidFill>
              <a:srgbClr val="E2E8F0"/>
            </a:solidFill>
            <a:prstDash val="solid"/>
          </a:ln>
        </p:spPr>
      </p:sp>
      <p:sp>
        <p:nvSpPr>
          <p:cNvPr id="8" name="Text 5"/>
          <p:cNvSpPr/>
          <p:nvPr/>
        </p:nvSpPr>
        <p:spPr>
          <a:xfrm>
            <a:off x="731520" y="1280160"/>
            <a:ext cx="4389120" cy="22860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Layer 1: Presentation &amp; Client PWA</a:t>
            </a:r>
            <a:endParaRPr lang="en-US" sz="1200" dirty="0"/>
          </a:p>
        </p:txBody>
      </p:sp>
      <p:sp>
        <p:nvSpPr>
          <p:cNvPr id="9" name="Text 6"/>
          <p:cNvSpPr/>
          <p:nvPr/>
        </p:nvSpPr>
        <p:spPr>
          <a:xfrm>
            <a:off x="5120640" y="1280160"/>
            <a:ext cx="3291840" cy="22860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React 18.3 | TypeScript 5.2 | Tailwind CSS | Vite</a:t>
            </a:r>
            <a:endParaRPr lang="en-US" sz="950" dirty="0"/>
          </a:p>
        </p:txBody>
      </p:sp>
      <p:sp>
        <p:nvSpPr>
          <p:cNvPr id="10" name="Text 7"/>
          <p:cNvSpPr/>
          <p:nvPr/>
        </p:nvSpPr>
        <p:spPr>
          <a:xfrm>
            <a:off x="731520" y="1536192"/>
            <a:ext cx="7680960" cy="347472"/>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Responsive customer dining interface, table session parsing (`/?table=1`), category tabs, dish detail modals, and cart persistence.</a:t>
            </a:r>
            <a:endParaRPr lang="en-US" sz="950" dirty="0"/>
          </a:p>
        </p:txBody>
      </p:sp>
      <p:sp>
        <p:nvSpPr>
          <p:cNvPr id="11" name="Shape 8"/>
          <p:cNvSpPr/>
          <p:nvPr/>
        </p:nvSpPr>
        <p:spPr>
          <a:xfrm>
            <a:off x="548640" y="2029968"/>
            <a:ext cx="8046720" cy="749808"/>
          </a:xfrm>
          <a:prstGeom prst="roundRect">
            <a:avLst>
              <a:gd name="adj" fmla="val 9756"/>
            </a:avLst>
          </a:prstGeom>
          <a:solidFill>
            <a:srgbClr val="F8FAFC"/>
          </a:solidFill>
          <a:ln w="12700">
            <a:solidFill>
              <a:srgbClr val="E2E8F0"/>
            </a:solidFill>
            <a:prstDash val="solid"/>
          </a:ln>
        </p:spPr>
      </p:sp>
      <p:sp>
        <p:nvSpPr>
          <p:cNvPr id="12" name="Text 9"/>
          <p:cNvSpPr/>
          <p:nvPr/>
        </p:nvSpPr>
        <p:spPr>
          <a:xfrm>
            <a:off x="731520" y="2121408"/>
            <a:ext cx="4389120" cy="22860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Layer 2: Spatial 3D &amp; Augmented Reality Subsystem</a:t>
            </a:r>
            <a:endParaRPr lang="en-US" sz="1200" dirty="0"/>
          </a:p>
        </p:txBody>
      </p:sp>
      <p:sp>
        <p:nvSpPr>
          <p:cNvPr id="13" name="Text 10"/>
          <p:cNvSpPr/>
          <p:nvPr/>
        </p:nvSpPr>
        <p:spPr>
          <a:xfrm>
            <a:off x="5120640" y="2121408"/>
            <a:ext cx="3291840" cy="22860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Three.js r128+ | WebXR Device API | Google Scene Viewer</a:t>
            </a:r>
            <a:endParaRPr lang="en-US" sz="950" dirty="0"/>
          </a:p>
        </p:txBody>
      </p:sp>
      <p:sp>
        <p:nvSpPr>
          <p:cNvPr id="14" name="Text 11"/>
          <p:cNvSpPr/>
          <p:nvPr/>
        </p:nvSpPr>
        <p:spPr>
          <a:xfrm>
            <a:off x="731520" y="2377440"/>
            <a:ext cx="7680960" cy="347472"/>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6-DoF raycasting surface hit-testing, dynamic reticle tracking, 1:1 metric scale clamping, model rotation gestures, and Android Scene Viewer fallback.</a:t>
            </a:r>
            <a:endParaRPr lang="en-US" sz="950" dirty="0"/>
          </a:p>
        </p:txBody>
      </p:sp>
      <p:sp>
        <p:nvSpPr>
          <p:cNvPr id="15" name="Shape 12"/>
          <p:cNvSpPr/>
          <p:nvPr/>
        </p:nvSpPr>
        <p:spPr>
          <a:xfrm>
            <a:off x="548640" y="2871216"/>
            <a:ext cx="8046720" cy="749808"/>
          </a:xfrm>
          <a:prstGeom prst="roundRect">
            <a:avLst>
              <a:gd name="adj" fmla="val 9756"/>
            </a:avLst>
          </a:prstGeom>
          <a:solidFill>
            <a:srgbClr val="F8FAFC"/>
          </a:solidFill>
          <a:ln w="12700">
            <a:solidFill>
              <a:srgbClr val="E2E8F0"/>
            </a:solidFill>
            <a:prstDash val="solid"/>
          </a:ln>
        </p:spPr>
      </p:sp>
      <p:sp>
        <p:nvSpPr>
          <p:cNvPr id="16" name="Text 13"/>
          <p:cNvSpPr/>
          <p:nvPr/>
        </p:nvSpPr>
        <p:spPr>
          <a:xfrm>
            <a:off x="731520" y="2962656"/>
            <a:ext cx="4389120" cy="22860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Layer 3: Application State &amp; Kitchen Operations</a:t>
            </a:r>
            <a:endParaRPr lang="en-US" sz="1200" dirty="0"/>
          </a:p>
        </p:txBody>
      </p:sp>
      <p:sp>
        <p:nvSpPr>
          <p:cNvPr id="17" name="Text 14"/>
          <p:cNvSpPr/>
          <p:nvPr/>
        </p:nvSpPr>
        <p:spPr>
          <a:xfrm>
            <a:off x="5120640" y="2962656"/>
            <a:ext cx="3291840" cy="22860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Zustand Global Store | Web Audio API | KDS Kanban</a:t>
            </a:r>
            <a:endParaRPr lang="en-US" sz="950" dirty="0"/>
          </a:p>
        </p:txBody>
      </p:sp>
      <p:sp>
        <p:nvSpPr>
          <p:cNvPr id="18" name="Text 15"/>
          <p:cNvSpPr/>
          <p:nvPr/>
        </p:nvSpPr>
        <p:spPr>
          <a:xfrm>
            <a:off x="731520" y="3218688"/>
            <a:ext cx="7680960" cy="347472"/>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Decoupled state management, kitchen ticket lifecycle (Pending ➔ Preparing ➔ Ready ➔ Delivered), and acoustic chime alerts.</a:t>
            </a:r>
            <a:endParaRPr lang="en-US" sz="950" dirty="0"/>
          </a:p>
        </p:txBody>
      </p:sp>
      <p:sp>
        <p:nvSpPr>
          <p:cNvPr id="19" name="Shape 16"/>
          <p:cNvSpPr/>
          <p:nvPr/>
        </p:nvSpPr>
        <p:spPr>
          <a:xfrm>
            <a:off x="548640" y="3712464"/>
            <a:ext cx="8046720" cy="749808"/>
          </a:xfrm>
          <a:prstGeom prst="roundRect">
            <a:avLst>
              <a:gd name="adj" fmla="val 9756"/>
            </a:avLst>
          </a:prstGeom>
          <a:solidFill>
            <a:srgbClr val="F8FAFC"/>
          </a:solidFill>
          <a:ln w="12700">
            <a:solidFill>
              <a:srgbClr val="E2E8F0"/>
            </a:solidFill>
            <a:prstDash val="solid"/>
          </a:ln>
        </p:spPr>
      </p:sp>
      <p:sp>
        <p:nvSpPr>
          <p:cNvPr id="20" name="Text 17"/>
          <p:cNvSpPr/>
          <p:nvPr/>
        </p:nvSpPr>
        <p:spPr>
          <a:xfrm>
            <a:off x="731520" y="3803904"/>
            <a:ext cx="4389120" cy="22860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Layer 4: Cloud Edge Infrastructure &amp; Asset Delivery</a:t>
            </a:r>
            <a:endParaRPr lang="en-US" sz="1200" dirty="0"/>
          </a:p>
        </p:txBody>
      </p:sp>
      <p:sp>
        <p:nvSpPr>
          <p:cNvPr id="21" name="Text 18"/>
          <p:cNvSpPr/>
          <p:nvPr/>
        </p:nvSpPr>
        <p:spPr>
          <a:xfrm>
            <a:off x="5120640" y="3803904"/>
            <a:ext cx="3291840" cy="22860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Vercel Serverless Edge | Edge CDN | GLB MIME Routing</a:t>
            </a:r>
            <a:endParaRPr lang="en-US" sz="950" dirty="0"/>
          </a:p>
        </p:txBody>
      </p:sp>
      <p:sp>
        <p:nvSpPr>
          <p:cNvPr id="22" name="Text 19"/>
          <p:cNvSpPr/>
          <p:nvPr/>
        </p:nvSpPr>
        <p:spPr>
          <a:xfrm>
            <a:off x="731520" y="4059936"/>
            <a:ext cx="7680960" cy="347472"/>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Static global edge distribution, 3D asset caching, custom binary MIME response headers, and automated GitHub CI/CD build deployment.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Comprehensive Technology Stack &amp; Tools Matrix</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Engineering Stack</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3931920" cy="1554480"/>
          </a:xfrm>
          <a:prstGeom prst="roundRect">
            <a:avLst>
              <a:gd name="adj" fmla="val 4706"/>
            </a:avLst>
          </a:prstGeom>
          <a:solidFill>
            <a:srgbClr val="F8FAFC"/>
          </a:solidFill>
          <a:ln w="12700">
            <a:solidFill>
              <a:srgbClr val="E2E8F0"/>
            </a:solidFill>
            <a:prstDash val="solid"/>
          </a:ln>
        </p:spPr>
      </p:sp>
      <p:sp>
        <p:nvSpPr>
          <p:cNvPr id="8" name="Text 5"/>
          <p:cNvSpPr/>
          <p:nvPr/>
        </p:nvSpPr>
        <p:spPr>
          <a:xfrm>
            <a:off x="777240" y="1325880"/>
            <a:ext cx="3474720" cy="22860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Frontend &amp; UI Framework</a:t>
            </a:r>
            <a:endParaRPr lang="en-US" sz="1200" dirty="0"/>
          </a:p>
        </p:txBody>
      </p:sp>
      <p:sp>
        <p:nvSpPr>
          <p:cNvPr id="9" name="Text 6"/>
          <p:cNvSpPr/>
          <p:nvPr/>
        </p:nvSpPr>
        <p:spPr>
          <a:xfrm>
            <a:off x="777240" y="1536192"/>
            <a:ext cx="3474720" cy="201168"/>
          </a:xfrm>
          <a:prstGeom prst="rect">
            <a:avLst/>
          </a:prstGeom>
          <a:noFill/>
          <a:ln/>
        </p:spPr>
        <p:txBody>
          <a:bodyPr wrap="square" lIns="0" tIns="0" rIns="0" bIns="0" rtlCol="0" anchor="ctr"/>
          <a:lstStyle/>
          <a:p>
            <a:pPr marL="0" indent="0">
              <a:buNone/>
            </a:pPr>
            <a:r>
              <a:rPr lang="en-US" sz="900" b="1" dirty="0">
                <a:latin typeface="Calibri" pitchFamily="34" charset="0"/>
                <a:ea typeface="Calibri" pitchFamily="34" charset="-122"/>
                <a:cs typeface="Calibri" pitchFamily="34" charset="-120"/>
              </a:rPr>
              <a:t>React 18.3, TypeScript 5.2, Vite 5.4, Tailwind CSS 3.4, Lucide Icons</a:t>
            </a:r>
            <a:endParaRPr lang="en-US" sz="900" dirty="0"/>
          </a:p>
        </p:txBody>
      </p:sp>
      <p:sp>
        <p:nvSpPr>
          <p:cNvPr id="10" name="Text 7"/>
          <p:cNvSpPr/>
          <p:nvPr/>
        </p:nvSpPr>
        <p:spPr>
          <a:xfrm>
            <a:off x="777240" y="1783080"/>
            <a:ext cx="3474720" cy="868680"/>
          </a:xfrm>
          <a:prstGeom prst="rect">
            <a:avLst/>
          </a:prstGeom>
          <a:noFill/>
          <a:ln/>
        </p:spPr>
        <p:txBody>
          <a:bodyPr wrap="square" lIns="0" tIns="0" rIns="0" bIns="0" rtlCol="0" anchor="ctr"/>
          <a:lstStyle/>
          <a:p>
            <a:pPr marL="342900" indent="-342900">
              <a:spcAft>
                <a:spcPts val="300"/>
              </a:spcAft>
              <a:buSzPct val="100000"/>
              <a:buChar char="•"/>
            </a:pPr>
            <a:r>
              <a:rPr lang="en-US" sz="950" dirty="0">
                <a:latin typeface="Calibri" pitchFamily="34" charset="0"/>
                <a:ea typeface="Calibri" pitchFamily="34" charset="-122"/>
                <a:cs typeface="Calibri" pitchFamily="34" charset="-120"/>
              </a:rPr>
              <a:t>React 18 concurrent rendering for fluid 60 FPS transitions.</a:t>
            </a:r>
            <a:endParaRPr lang="en-US" sz="950" dirty="0"/>
          </a:p>
          <a:p>
            <a:pPr marL="342900" indent="-342900">
              <a:spcAft>
                <a:spcPts val="300"/>
              </a:spcAft>
              <a:buSzPct val="100000"/>
              <a:buChar char="•"/>
            </a:pPr>
            <a:r>
              <a:rPr lang="en-US" sz="950" dirty="0">
                <a:latin typeface="Calibri" pitchFamily="34" charset="0"/>
                <a:ea typeface="Calibri" pitchFamily="34" charset="-122"/>
                <a:cs typeface="Calibri" pitchFamily="34" charset="-120"/>
              </a:rPr>
              <a:t>TypeScript for strict type safety across menu, cart, and order models.</a:t>
            </a:r>
            <a:endParaRPr lang="en-US" sz="950" dirty="0"/>
          </a:p>
          <a:p>
            <a:pPr marL="342900" indent="-342900">
              <a:spcAft>
                <a:spcPts val="300"/>
              </a:spcAft>
              <a:buSzPct val="100000"/>
              <a:buChar char="•"/>
            </a:pPr>
            <a:r>
              <a:rPr lang="en-US" sz="950" dirty="0">
                <a:latin typeface="Calibri" pitchFamily="34" charset="0"/>
                <a:ea typeface="Calibri" pitchFamily="34" charset="-122"/>
                <a:cs typeface="Calibri" pitchFamily="34" charset="-120"/>
              </a:rPr>
              <a:t>Vite for instantaneous HMR and optimized production tree-shaking.</a:t>
            </a:r>
            <a:endParaRPr lang="en-US" sz="950" dirty="0"/>
          </a:p>
        </p:txBody>
      </p:sp>
      <p:sp>
        <p:nvSpPr>
          <p:cNvPr id="11" name="Shape 8"/>
          <p:cNvSpPr/>
          <p:nvPr/>
        </p:nvSpPr>
        <p:spPr>
          <a:xfrm>
            <a:off x="4663440" y="1188720"/>
            <a:ext cx="3931920" cy="1554480"/>
          </a:xfrm>
          <a:prstGeom prst="roundRect">
            <a:avLst>
              <a:gd name="adj" fmla="val 4706"/>
            </a:avLst>
          </a:prstGeom>
          <a:solidFill>
            <a:srgbClr val="F8FAFC"/>
          </a:solidFill>
          <a:ln w="12700">
            <a:solidFill>
              <a:srgbClr val="E2E8F0"/>
            </a:solidFill>
            <a:prstDash val="solid"/>
          </a:ln>
        </p:spPr>
      </p:sp>
      <p:sp>
        <p:nvSpPr>
          <p:cNvPr id="12" name="Text 9"/>
          <p:cNvSpPr/>
          <p:nvPr/>
        </p:nvSpPr>
        <p:spPr>
          <a:xfrm>
            <a:off x="4892040" y="1325880"/>
            <a:ext cx="3474720" cy="22860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Spatial AR &amp; 3D Graphics</a:t>
            </a:r>
            <a:endParaRPr lang="en-US" sz="1200" dirty="0"/>
          </a:p>
        </p:txBody>
      </p:sp>
      <p:sp>
        <p:nvSpPr>
          <p:cNvPr id="13" name="Text 10"/>
          <p:cNvSpPr/>
          <p:nvPr/>
        </p:nvSpPr>
        <p:spPr>
          <a:xfrm>
            <a:off x="4892040" y="1536192"/>
            <a:ext cx="3474720" cy="201168"/>
          </a:xfrm>
          <a:prstGeom prst="rect">
            <a:avLst/>
          </a:prstGeom>
          <a:noFill/>
          <a:ln/>
        </p:spPr>
        <p:txBody>
          <a:bodyPr wrap="square" lIns="0" tIns="0" rIns="0" bIns="0" rtlCol="0" anchor="ctr"/>
          <a:lstStyle/>
          <a:p>
            <a:pPr marL="0" indent="0">
              <a:buNone/>
            </a:pPr>
            <a:r>
              <a:rPr lang="en-US" sz="900" b="1" dirty="0">
                <a:latin typeface="Calibri" pitchFamily="34" charset="0"/>
                <a:ea typeface="Calibri" pitchFamily="34" charset="-122"/>
                <a:cs typeface="Calibri" pitchFamily="34" charset="-120"/>
              </a:rPr>
              <a:t>Three.js r128+, WebXR Device API, @google/model-viewer 4.0, glTF 2.0</a:t>
            </a:r>
            <a:endParaRPr lang="en-US" sz="900" dirty="0"/>
          </a:p>
        </p:txBody>
      </p:sp>
      <p:sp>
        <p:nvSpPr>
          <p:cNvPr id="14" name="Text 11"/>
          <p:cNvSpPr/>
          <p:nvPr/>
        </p:nvSpPr>
        <p:spPr>
          <a:xfrm>
            <a:off x="4892040" y="1783080"/>
            <a:ext cx="3474720" cy="868680"/>
          </a:xfrm>
          <a:prstGeom prst="rect">
            <a:avLst/>
          </a:prstGeom>
          <a:noFill/>
          <a:ln/>
        </p:spPr>
        <p:txBody>
          <a:bodyPr wrap="square" lIns="0" tIns="0" rIns="0" bIns="0" rtlCol="0" anchor="ctr"/>
          <a:lstStyle/>
          <a:p>
            <a:pPr marL="342900" indent="-342900">
              <a:spcAft>
                <a:spcPts val="300"/>
              </a:spcAft>
              <a:buSzPct val="100000"/>
              <a:buChar char="•"/>
            </a:pPr>
            <a:r>
              <a:rPr lang="en-US" sz="950" dirty="0">
                <a:latin typeface="Calibri" pitchFamily="34" charset="0"/>
                <a:ea typeface="Calibri" pitchFamily="34" charset="-122"/>
                <a:cs typeface="Calibri" pitchFamily="34" charset="-120"/>
              </a:rPr>
              <a:t>Three.js WebGL canvas for desktop interactive 3D inspection.</a:t>
            </a:r>
            <a:endParaRPr lang="en-US" sz="950" dirty="0"/>
          </a:p>
          <a:p>
            <a:pPr marL="342900" indent="-342900">
              <a:spcAft>
                <a:spcPts val="300"/>
              </a:spcAft>
              <a:buSzPct val="100000"/>
              <a:buChar char="•"/>
            </a:pPr>
            <a:r>
              <a:rPr lang="en-US" sz="950" dirty="0">
                <a:latin typeface="Calibri" pitchFamily="34" charset="0"/>
                <a:ea typeface="Calibri" pitchFamily="34" charset="-122"/>
                <a:cs typeface="Calibri" pitchFamily="34" charset="-120"/>
              </a:rPr>
              <a:t>Native WebXR hit-testing for 6-DoF table surface detection.</a:t>
            </a:r>
            <a:endParaRPr lang="en-US" sz="950" dirty="0"/>
          </a:p>
          <a:p>
            <a:pPr marL="342900" indent="-342900">
              <a:spcAft>
                <a:spcPts val="300"/>
              </a:spcAft>
              <a:buSzPct val="100000"/>
              <a:buChar char="•"/>
            </a:pPr>
            <a:r>
              <a:rPr lang="en-US" sz="950" dirty="0">
                <a:latin typeface="Calibri" pitchFamily="34" charset="0"/>
                <a:ea typeface="Calibri" pitchFamily="34" charset="-122"/>
                <a:cs typeface="Calibri" pitchFamily="34" charset="-120"/>
              </a:rPr>
              <a:t>Google Scene Viewer Intent fallback for universal Android coverage.</a:t>
            </a:r>
            <a:endParaRPr lang="en-US" sz="950" dirty="0"/>
          </a:p>
        </p:txBody>
      </p:sp>
      <p:sp>
        <p:nvSpPr>
          <p:cNvPr id="15" name="Shape 12"/>
          <p:cNvSpPr/>
          <p:nvPr/>
        </p:nvSpPr>
        <p:spPr>
          <a:xfrm>
            <a:off x="548640" y="2880360"/>
            <a:ext cx="3931920" cy="1554480"/>
          </a:xfrm>
          <a:prstGeom prst="roundRect">
            <a:avLst>
              <a:gd name="adj" fmla="val 4706"/>
            </a:avLst>
          </a:prstGeom>
          <a:solidFill>
            <a:srgbClr val="F8FAFC"/>
          </a:solidFill>
          <a:ln w="12700">
            <a:solidFill>
              <a:srgbClr val="E2E8F0"/>
            </a:solidFill>
            <a:prstDash val="solid"/>
          </a:ln>
        </p:spPr>
      </p:sp>
      <p:sp>
        <p:nvSpPr>
          <p:cNvPr id="16" name="Text 13"/>
          <p:cNvSpPr/>
          <p:nvPr/>
        </p:nvSpPr>
        <p:spPr>
          <a:xfrm>
            <a:off x="777240" y="3017520"/>
            <a:ext cx="3474720" cy="22860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State &amp; Audio Systems</a:t>
            </a:r>
            <a:endParaRPr lang="en-US" sz="1200" dirty="0"/>
          </a:p>
        </p:txBody>
      </p:sp>
      <p:sp>
        <p:nvSpPr>
          <p:cNvPr id="17" name="Text 14"/>
          <p:cNvSpPr/>
          <p:nvPr/>
        </p:nvSpPr>
        <p:spPr>
          <a:xfrm>
            <a:off x="777240" y="3227832"/>
            <a:ext cx="3474720" cy="201168"/>
          </a:xfrm>
          <a:prstGeom prst="rect">
            <a:avLst/>
          </a:prstGeom>
          <a:noFill/>
          <a:ln/>
        </p:spPr>
        <p:txBody>
          <a:bodyPr wrap="square" lIns="0" tIns="0" rIns="0" bIns="0" rtlCol="0" anchor="ctr"/>
          <a:lstStyle/>
          <a:p>
            <a:pPr marL="0" indent="0">
              <a:buNone/>
            </a:pPr>
            <a:r>
              <a:rPr lang="en-US" sz="900" b="1" dirty="0">
                <a:latin typeface="Calibri" pitchFamily="34" charset="0"/>
                <a:ea typeface="Calibri" pitchFamily="34" charset="-122"/>
                <a:cs typeface="Calibri" pitchFamily="34" charset="-120"/>
              </a:rPr>
              <a:t>Zustand Global Store, React Hooks, HTML5 Web Audio API, QR Server API</a:t>
            </a:r>
            <a:endParaRPr lang="en-US" sz="900" dirty="0"/>
          </a:p>
        </p:txBody>
      </p:sp>
      <p:sp>
        <p:nvSpPr>
          <p:cNvPr id="18" name="Text 15"/>
          <p:cNvSpPr/>
          <p:nvPr/>
        </p:nvSpPr>
        <p:spPr>
          <a:xfrm>
            <a:off x="777240" y="3474720"/>
            <a:ext cx="3474720" cy="868680"/>
          </a:xfrm>
          <a:prstGeom prst="rect">
            <a:avLst/>
          </a:prstGeom>
          <a:noFill/>
          <a:ln/>
        </p:spPr>
        <p:txBody>
          <a:bodyPr wrap="square" lIns="0" tIns="0" rIns="0" bIns="0" rtlCol="0" anchor="ctr"/>
          <a:lstStyle/>
          <a:p>
            <a:pPr marL="342900" indent="-342900">
              <a:spcAft>
                <a:spcPts val="300"/>
              </a:spcAft>
              <a:buSzPct val="100000"/>
              <a:buChar char="•"/>
            </a:pPr>
            <a:r>
              <a:rPr lang="en-US" sz="950" dirty="0">
                <a:latin typeface="Calibri" pitchFamily="34" charset="0"/>
                <a:ea typeface="Calibri" pitchFamily="34" charset="-122"/>
                <a:cs typeface="Calibri" pitchFamily="34" charset="-120"/>
              </a:rPr>
              <a:t>Zustand lightweight state store for decoupled cart and KDS tickets.</a:t>
            </a:r>
            <a:endParaRPr lang="en-US" sz="950" dirty="0"/>
          </a:p>
          <a:p>
            <a:pPr marL="342900" indent="-342900">
              <a:spcAft>
                <a:spcPts val="300"/>
              </a:spcAft>
              <a:buSzPct val="100000"/>
              <a:buChar char="•"/>
            </a:pPr>
            <a:r>
              <a:rPr lang="en-US" sz="950" dirty="0">
                <a:latin typeface="Calibri" pitchFamily="34" charset="0"/>
                <a:ea typeface="Calibri" pitchFamily="34" charset="-122"/>
                <a:cs typeface="Calibri" pitchFamily="34" charset="-120"/>
              </a:rPr>
              <a:t>Synthesized audio chime alert for immediate kitchen order notification.</a:t>
            </a:r>
            <a:endParaRPr lang="en-US" sz="950" dirty="0"/>
          </a:p>
          <a:p>
            <a:pPr marL="342900" indent="-342900">
              <a:spcAft>
                <a:spcPts val="300"/>
              </a:spcAft>
              <a:buSzPct val="100000"/>
              <a:buChar char="•"/>
            </a:pPr>
            <a:r>
              <a:rPr lang="en-US" sz="950" dirty="0">
                <a:latin typeface="Calibri" pitchFamily="34" charset="0"/>
                <a:ea typeface="Calibri" pitchFamily="34" charset="-122"/>
                <a:cs typeface="Calibri" pitchFamily="34" charset="-120"/>
              </a:rPr>
              <a:t>Dynamic QR code generation for frictionless desktop-to-mobile handoff.</a:t>
            </a:r>
            <a:endParaRPr lang="en-US" sz="950" dirty="0"/>
          </a:p>
        </p:txBody>
      </p:sp>
      <p:sp>
        <p:nvSpPr>
          <p:cNvPr id="19" name="Shape 16"/>
          <p:cNvSpPr/>
          <p:nvPr/>
        </p:nvSpPr>
        <p:spPr>
          <a:xfrm>
            <a:off x="4663440" y="2880360"/>
            <a:ext cx="3931920" cy="1554480"/>
          </a:xfrm>
          <a:prstGeom prst="roundRect">
            <a:avLst>
              <a:gd name="adj" fmla="val 4706"/>
            </a:avLst>
          </a:prstGeom>
          <a:solidFill>
            <a:srgbClr val="F8FAFC"/>
          </a:solidFill>
          <a:ln w="12700">
            <a:solidFill>
              <a:srgbClr val="E2E8F0"/>
            </a:solidFill>
            <a:prstDash val="solid"/>
          </a:ln>
        </p:spPr>
      </p:sp>
      <p:sp>
        <p:nvSpPr>
          <p:cNvPr id="20" name="Text 17"/>
          <p:cNvSpPr/>
          <p:nvPr/>
        </p:nvSpPr>
        <p:spPr>
          <a:xfrm>
            <a:off x="4892040" y="3017520"/>
            <a:ext cx="3474720" cy="22860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Tooling, Compression &amp; Cloud</a:t>
            </a:r>
            <a:endParaRPr lang="en-US" sz="1200" dirty="0"/>
          </a:p>
        </p:txBody>
      </p:sp>
      <p:sp>
        <p:nvSpPr>
          <p:cNvPr id="21" name="Text 18"/>
          <p:cNvSpPr/>
          <p:nvPr/>
        </p:nvSpPr>
        <p:spPr>
          <a:xfrm>
            <a:off x="4892040" y="3227832"/>
            <a:ext cx="3474720" cy="201168"/>
          </a:xfrm>
          <a:prstGeom prst="rect">
            <a:avLst/>
          </a:prstGeom>
          <a:noFill/>
          <a:ln/>
        </p:spPr>
        <p:txBody>
          <a:bodyPr wrap="square" lIns="0" tIns="0" rIns="0" bIns="0" rtlCol="0" anchor="ctr"/>
          <a:lstStyle/>
          <a:p>
            <a:pPr marL="0" indent="0">
              <a:buNone/>
            </a:pPr>
            <a:r>
              <a:rPr lang="en-US" sz="900" b="1" dirty="0">
                <a:latin typeface="Calibri" pitchFamily="34" charset="0"/>
                <a:ea typeface="Calibri" pitchFamily="34" charset="-122"/>
                <a:cs typeface="Calibri" pitchFamily="34" charset="-120"/>
              </a:rPr>
              <a:t>Node.js 20, @gltf-transform/cli, Vercel Edge Platform, Git/GitHub</a:t>
            </a:r>
            <a:endParaRPr lang="en-US" sz="900" dirty="0"/>
          </a:p>
        </p:txBody>
      </p:sp>
      <p:sp>
        <p:nvSpPr>
          <p:cNvPr id="22" name="Text 19"/>
          <p:cNvSpPr/>
          <p:nvPr/>
        </p:nvSpPr>
        <p:spPr>
          <a:xfrm>
            <a:off x="4892040" y="3474720"/>
            <a:ext cx="3474720" cy="868680"/>
          </a:xfrm>
          <a:prstGeom prst="rect">
            <a:avLst/>
          </a:prstGeom>
          <a:noFill/>
          <a:ln/>
        </p:spPr>
        <p:txBody>
          <a:bodyPr wrap="square" lIns="0" tIns="0" rIns="0" bIns="0" rtlCol="0" anchor="ctr"/>
          <a:lstStyle/>
          <a:p>
            <a:pPr marL="342900" indent="-342900">
              <a:spcAft>
                <a:spcPts val="300"/>
              </a:spcAft>
              <a:buSzPct val="100000"/>
              <a:buChar char="•"/>
            </a:pPr>
            <a:r>
              <a:rPr lang="en-US" sz="950" dirty="0">
                <a:latin typeface="Calibri" pitchFamily="34" charset="0"/>
                <a:ea typeface="Calibri" pitchFamily="34" charset="-122"/>
                <a:cs typeface="Calibri" pitchFamily="34" charset="-120"/>
              </a:rPr>
              <a:t>gltf-transform Draco mesh quantization and WebP texture compression.</a:t>
            </a:r>
            <a:endParaRPr lang="en-US" sz="950" dirty="0"/>
          </a:p>
          <a:p>
            <a:pPr marL="342900" indent="-342900">
              <a:spcAft>
                <a:spcPts val="300"/>
              </a:spcAft>
              <a:buSzPct val="100000"/>
              <a:buChar char="•"/>
            </a:pPr>
            <a:r>
              <a:rPr lang="en-US" sz="950" dirty="0">
                <a:latin typeface="Calibri" pitchFamily="34" charset="0"/>
                <a:ea typeface="Calibri" pitchFamily="34" charset="-122"/>
                <a:cs typeface="Calibri" pitchFamily="34" charset="-120"/>
              </a:rPr>
              <a:t>Vercel Edge Cloud platform with custom binary MIME headers.</a:t>
            </a:r>
            <a:endParaRPr lang="en-US" sz="950" dirty="0"/>
          </a:p>
          <a:p>
            <a:pPr marL="342900" indent="-342900">
              <a:spcAft>
                <a:spcPts val="300"/>
              </a:spcAft>
              <a:buSzPct val="100000"/>
              <a:buChar char="•"/>
            </a:pPr>
            <a:r>
              <a:rPr lang="en-US" sz="950" dirty="0">
                <a:latin typeface="Calibri" pitchFamily="34" charset="0"/>
                <a:ea typeface="Calibri" pitchFamily="34" charset="-122"/>
                <a:cs typeface="Calibri" pitchFamily="34" charset="-120"/>
              </a:rPr>
              <a:t>Automated CI/CD deployment pipeline synchronized with GitHub main branch.</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Project Management: Agile Sprints &amp; Risk Analysis</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Rubric Criterion 4 (10 Marks)</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3931920" cy="3429000"/>
          </a:xfrm>
          <a:prstGeom prst="roundRect">
            <a:avLst>
              <a:gd name="adj" fmla="val 2133"/>
            </a:avLst>
          </a:prstGeom>
          <a:solidFill>
            <a:srgbClr val="F8FAFC"/>
          </a:solidFill>
          <a:ln w="12700">
            <a:solidFill>
              <a:srgbClr val="E2E8F0"/>
            </a:solidFill>
            <a:prstDash val="solid"/>
          </a:ln>
        </p:spPr>
      </p:sp>
      <p:sp>
        <p:nvSpPr>
          <p:cNvPr id="8" name="Text 5"/>
          <p:cNvSpPr/>
          <p:nvPr/>
        </p:nvSpPr>
        <p:spPr>
          <a:xfrm>
            <a:off x="731520" y="1371600"/>
            <a:ext cx="3566160" cy="256032"/>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AGILE SPRINTS &amp; MILESTONE TIMELINE</a:t>
            </a:r>
            <a:endParaRPr lang="en-US" sz="1200" dirty="0"/>
          </a:p>
        </p:txBody>
      </p:sp>
      <p:sp>
        <p:nvSpPr>
          <p:cNvPr id="9" name="Text 6"/>
          <p:cNvSpPr/>
          <p:nvPr/>
        </p:nvSpPr>
        <p:spPr>
          <a:xfrm>
            <a:off x="731520" y="1691640"/>
            <a:ext cx="3566160" cy="2743200"/>
          </a:xfrm>
          <a:prstGeom prst="rect">
            <a:avLst/>
          </a:prstGeom>
          <a:noFill/>
          <a:ln/>
        </p:spPr>
        <p:txBody>
          <a:bodyPr wrap="square" lIns="0" tIns="0" rIns="0" bIns="0" rtlCol="0" anchor="ctr"/>
          <a:lstStyle/>
          <a:p>
            <a:pPr marL="342900" indent="-342900">
              <a:spcAft>
                <a:spcPts val="500"/>
              </a:spcAft>
              <a:buSzPct val="100000"/>
              <a:buChar char="•"/>
            </a:pPr>
            <a:r>
              <a:rPr lang="en-US" sz="950" dirty="0">
                <a:latin typeface="Calibri" pitchFamily="34" charset="0"/>
                <a:ea typeface="Calibri" pitchFamily="34" charset="-122"/>
                <a:cs typeface="Calibri" pitchFamily="34" charset="-120"/>
              </a:rPr>
              <a:t>Sprint 1-2 (Phase 1): Requirement gathering, UX wireframing, and 3D photogrammetry food asset sourcing (Completed).</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Sprint 3-4 (Phase 2): Responsive menu development, TypeScript data schema, and dietary filtering engine (Completed).</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Sprint 5-6 (Phase 3): WebXR surface hit-testing engine and 3D model compression with Draco/WebP (Completed).</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Sprint 7-8 (Phase 4): Real-time Kitchen Display System, audio notifications, and Scene Viewer fallback (Completed).</a:t>
            </a:r>
            <a:endParaRPr lang="en-US" sz="950" dirty="0"/>
          </a:p>
          <a:p>
            <a:pPr marL="342900" indent="-342900">
              <a:spcAft>
                <a:spcPts val="500"/>
              </a:spcAft>
              <a:buSzPct val="100000"/>
              <a:buChar char="•"/>
            </a:pPr>
            <a:r>
              <a:rPr lang="en-US" sz="950" dirty="0">
                <a:latin typeface="Calibri" pitchFamily="34" charset="0"/>
                <a:ea typeface="Calibri" pitchFamily="34" charset="-122"/>
                <a:cs typeface="Calibri" pitchFamily="34" charset="-120"/>
              </a:rPr>
              <a:t>Sprint 9-10 (Phase 5): Cross-device testing, Vercel edge deployment, and research paper completion (Completed).</a:t>
            </a:r>
            <a:endParaRPr lang="en-US" sz="950" dirty="0"/>
          </a:p>
        </p:txBody>
      </p:sp>
      <p:sp>
        <p:nvSpPr>
          <p:cNvPr id="10" name="Shape 7"/>
          <p:cNvSpPr/>
          <p:nvPr/>
        </p:nvSpPr>
        <p:spPr>
          <a:xfrm>
            <a:off x="4663440" y="1188720"/>
            <a:ext cx="3931920" cy="3429000"/>
          </a:xfrm>
          <a:prstGeom prst="roundRect">
            <a:avLst>
              <a:gd name="adj" fmla="val 2133"/>
            </a:avLst>
          </a:prstGeom>
          <a:solidFill>
            <a:srgbClr val="F8FAFC"/>
          </a:solidFill>
          <a:ln w="12700">
            <a:solidFill>
              <a:srgbClr val="E2E8F0"/>
            </a:solidFill>
            <a:prstDash val="solid"/>
          </a:ln>
        </p:spPr>
      </p:sp>
      <p:sp>
        <p:nvSpPr>
          <p:cNvPr id="11" name="Text 8"/>
          <p:cNvSpPr/>
          <p:nvPr/>
        </p:nvSpPr>
        <p:spPr>
          <a:xfrm>
            <a:off x="4846320" y="1371600"/>
            <a:ext cx="3566160" cy="256032"/>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STRUCTURED RISK MANAGEMENT MATRIX</a:t>
            </a:r>
            <a:endParaRPr lang="en-US" sz="1200" dirty="0"/>
          </a:p>
        </p:txBody>
      </p:sp>
      <p:sp>
        <p:nvSpPr>
          <p:cNvPr id="12" name="Text 9"/>
          <p:cNvSpPr/>
          <p:nvPr/>
        </p:nvSpPr>
        <p:spPr>
          <a:xfrm>
            <a:off x="4846320" y="1691640"/>
            <a:ext cx="3566160" cy="2743200"/>
          </a:xfrm>
          <a:prstGeom prst="rect">
            <a:avLst/>
          </a:prstGeom>
          <a:noFill/>
          <a:ln/>
        </p:spPr>
        <p:txBody>
          <a:bodyPr wrap="square" lIns="0" tIns="0" rIns="0" bIns="0" rtlCol="0" anchor="ctr"/>
          <a:lstStyle/>
          <a:p>
            <a:pPr marL="342900" indent="-342900">
              <a:spcAft>
                <a:spcPts val="600"/>
              </a:spcAft>
              <a:buSzPct val="100000"/>
              <a:buChar char="•"/>
            </a:pPr>
            <a:r>
              <a:rPr lang="en-US" sz="950" dirty="0">
                <a:latin typeface="Calibri" pitchFamily="34" charset="0"/>
                <a:ea typeface="Calibri" pitchFamily="34" charset="-122"/>
                <a:cs typeface="Calibri" pitchFamily="34" charset="-120"/>
              </a:rPr>
              <a:t>Risk 1: 3D model downloads causing mobile browser timeouts &amp; OOM crashes.</a:t>
            </a:r>
            <a:endParaRPr lang="en-US" sz="950" dirty="0"/>
          </a:p>
          <a:p>
            <a:pPr marL="342900" indent="-342900">
              <a:spcAft>
                <a:spcPts val="600"/>
              </a:spcAft>
              <a:buSzPct val="100000"/>
              <a:buChar char="•"/>
            </a:pPr>
            <a:r>
              <a:rPr lang="en-US" sz="950" dirty="0">
                <a:latin typeface="Calibri" pitchFamily="34" charset="0"/>
                <a:ea typeface="Calibri" pitchFamily="34" charset="-122"/>
                <a:cs typeface="Calibri" pitchFamily="34" charset="-120"/>
              </a:rPr>
              <a:t>Mitigation: Deployed gltf-transform pipeline downscaling 8K textures to 2K WebP, cutting payloads by up to 78%.</a:t>
            </a:r>
            <a:endParaRPr lang="en-US" sz="950" dirty="0"/>
          </a:p>
          <a:p>
            <a:pPr marL="342900" indent="-342900">
              <a:spcAft>
                <a:spcPts val="600"/>
              </a:spcAft>
              <a:buSzPct val="100000"/>
              <a:buChar char="•"/>
            </a:pPr>
            <a:r>
              <a:rPr lang="en-US" sz="950" dirty="0">
                <a:latin typeface="Calibri" pitchFamily="34" charset="0"/>
                <a:ea typeface="Calibri" pitchFamily="34" charset="-122"/>
                <a:cs typeface="Calibri" pitchFamily="34" charset="-120"/>
              </a:rPr>
              <a:t>Risk 2: WebXR hardware/browser fragmentation across older Android &amp; iOS phones.</a:t>
            </a:r>
            <a:endParaRPr lang="en-US" sz="950" dirty="0"/>
          </a:p>
          <a:p>
            <a:pPr marL="342900" indent="-342900">
              <a:spcAft>
                <a:spcPts val="600"/>
              </a:spcAft>
              <a:buSzPct val="100000"/>
              <a:buChar char="•"/>
            </a:pPr>
            <a:r>
              <a:rPr lang="en-US" sz="950" dirty="0">
                <a:latin typeface="Calibri" pitchFamily="34" charset="0"/>
                <a:ea typeface="Calibri" pitchFamily="34" charset="-122"/>
                <a:cs typeface="Calibri" pitchFamily="34" charset="-120"/>
              </a:rPr>
              <a:t>Mitigation: Engineered dual-engine fallback: automatic redirect to Google Scene Viewer Intent via ARCore.</a:t>
            </a:r>
            <a:endParaRPr lang="en-US" sz="950" dirty="0"/>
          </a:p>
          <a:p>
            <a:pPr marL="342900" indent="-342900">
              <a:spcAft>
                <a:spcPts val="600"/>
              </a:spcAft>
              <a:buSzPct val="100000"/>
              <a:buChar char="•"/>
            </a:pPr>
            <a:r>
              <a:rPr lang="en-US" sz="950" dirty="0">
                <a:latin typeface="Calibri" pitchFamily="34" charset="0"/>
                <a:ea typeface="Calibri" pitchFamily="34" charset="-122"/>
                <a:cs typeface="Calibri" pitchFamily="34" charset="-120"/>
              </a:rPr>
              <a:t>Risk 3: Cross-Origin CORS and wrong MIME blocking GLB loading in external viewers.</a:t>
            </a:r>
            <a:endParaRPr lang="en-US" sz="950" dirty="0"/>
          </a:p>
          <a:p>
            <a:pPr marL="342900" indent="-342900">
              <a:spcAft>
                <a:spcPts val="600"/>
              </a:spcAft>
              <a:buSzPct val="100000"/>
              <a:buChar char="•"/>
            </a:pPr>
            <a:r>
              <a:rPr lang="en-US" sz="950" dirty="0">
                <a:latin typeface="Calibri" pitchFamily="34" charset="0"/>
                <a:ea typeface="Calibri" pitchFamily="34" charset="-122"/>
                <a:cs typeface="Calibri" pitchFamily="34" charset="-120"/>
              </a:rPr>
              <a:t>Mitigation: Configured vercel.json edge rules enforcing model/gltf-binary and CORS wildcard headers.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Teamwork, Task Allocation &amp; Collaboration</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Rubric Criterion 5 (10 Marks)</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2560320" cy="2377440"/>
          </a:xfrm>
          <a:prstGeom prst="roundRect">
            <a:avLst>
              <a:gd name="adj" fmla="val 3077"/>
            </a:avLst>
          </a:prstGeom>
          <a:solidFill>
            <a:srgbClr val="F8FAFC"/>
          </a:solidFill>
          <a:ln w="12700">
            <a:solidFill>
              <a:srgbClr val="E2E8F0"/>
            </a:solidFill>
            <a:prstDash val="solid"/>
          </a:ln>
        </p:spPr>
      </p:sp>
      <p:sp>
        <p:nvSpPr>
          <p:cNvPr id="8" name="Text 5"/>
          <p:cNvSpPr/>
          <p:nvPr/>
        </p:nvSpPr>
        <p:spPr>
          <a:xfrm>
            <a:off x="731520" y="1371600"/>
            <a:ext cx="2194560" cy="256032"/>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Manav Singh</a:t>
            </a:r>
            <a:endParaRPr lang="en-US" sz="1300" dirty="0"/>
          </a:p>
        </p:txBody>
      </p:sp>
      <p:sp>
        <p:nvSpPr>
          <p:cNvPr id="9" name="Text 6"/>
          <p:cNvSpPr/>
          <p:nvPr/>
        </p:nvSpPr>
        <p:spPr>
          <a:xfrm>
            <a:off x="731520" y="1627632"/>
            <a:ext cx="2194560" cy="228600"/>
          </a:xfrm>
          <a:prstGeom prst="rect">
            <a:avLst/>
          </a:prstGeom>
          <a:noFill/>
          <a:ln/>
        </p:spPr>
        <p:txBody>
          <a:bodyPr wrap="square" lIns="0" tIns="0" rIns="0" bIns="0" rtlCol="0" anchor="ctr"/>
          <a:lstStyle/>
          <a:p>
            <a:pPr marL="0" indent="0">
              <a:buNone/>
            </a:pPr>
            <a:r>
              <a:rPr lang="en-US" sz="950" b="1" dirty="0">
                <a:latin typeface="Calibri" pitchFamily="34" charset="0"/>
                <a:ea typeface="Calibri" pitchFamily="34" charset="-122"/>
                <a:cs typeface="Calibri" pitchFamily="34" charset="-120"/>
              </a:rPr>
              <a:t>Lead Full-Stack &amp; Spatial AR Engineer</a:t>
            </a:r>
            <a:endParaRPr lang="en-US" sz="950" dirty="0"/>
          </a:p>
        </p:txBody>
      </p:sp>
      <p:sp>
        <p:nvSpPr>
          <p:cNvPr id="10" name="Text 7"/>
          <p:cNvSpPr/>
          <p:nvPr/>
        </p:nvSpPr>
        <p:spPr>
          <a:xfrm>
            <a:off x="731520" y="1901952"/>
            <a:ext cx="2194560" cy="1554480"/>
          </a:xfrm>
          <a:prstGeom prst="rect">
            <a:avLst/>
          </a:prstGeom>
          <a:noFill/>
          <a:ln/>
        </p:spPr>
        <p:txBody>
          <a:bodyPr wrap="square" lIns="0" tIns="0" rIns="0" bIns="0" rtlCol="0" anchor="ctr"/>
          <a:lstStyle/>
          <a:p>
            <a:pPr marL="342900" indent="-342900">
              <a:spcAft>
                <a:spcPts val="400"/>
              </a:spcAft>
              <a:buSzPct val="100000"/>
              <a:buChar char="•"/>
            </a:pPr>
            <a:r>
              <a:rPr lang="en-US" sz="900" dirty="0">
                <a:latin typeface="Calibri" pitchFamily="34" charset="0"/>
                <a:ea typeface="Calibri" pitchFamily="34" charset="-122"/>
                <a:cs typeface="Calibri" pitchFamily="34" charset="-120"/>
              </a:rPr>
              <a:t>Engineered WebXR Device API hit-testing reticle &amp; table plane detection.</a:t>
            </a:r>
            <a:endParaRPr lang="en-US" sz="900" dirty="0"/>
          </a:p>
          <a:p>
            <a:pPr marL="342900" indent="-342900">
              <a:spcAft>
                <a:spcPts val="400"/>
              </a:spcAft>
              <a:buSzPct val="100000"/>
              <a:buChar char="•"/>
            </a:pPr>
            <a:r>
              <a:rPr lang="en-US" sz="900" dirty="0">
                <a:latin typeface="Calibri" pitchFamily="34" charset="0"/>
                <a:ea typeface="Calibri" pitchFamily="34" charset="-122"/>
                <a:cs typeface="Calibri" pitchFamily="34" charset="-120"/>
              </a:rPr>
              <a:t>Built Google Scene Viewer Android Intent fallback and mobile QR handoff.</a:t>
            </a:r>
            <a:endParaRPr lang="en-US" sz="900" dirty="0"/>
          </a:p>
          <a:p>
            <a:pPr marL="342900" indent="-342900">
              <a:spcAft>
                <a:spcPts val="400"/>
              </a:spcAft>
              <a:buSzPct val="100000"/>
              <a:buChar char="•"/>
            </a:pPr>
            <a:r>
              <a:rPr lang="en-US" sz="900" dirty="0">
                <a:latin typeface="Calibri" pitchFamily="34" charset="0"/>
                <a:ea typeface="Calibri" pitchFamily="34" charset="-122"/>
                <a:cs typeface="Calibri" pitchFamily="34" charset="-120"/>
              </a:rPr>
              <a:t>Executed 3D asset compression pipeline with Draco &amp; WebP textures.</a:t>
            </a:r>
            <a:endParaRPr lang="en-US" sz="900" dirty="0"/>
          </a:p>
          <a:p>
            <a:pPr marL="342900" indent="-342900">
              <a:spcAft>
                <a:spcPts val="400"/>
              </a:spcAft>
              <a:buSzPct val="100000"/>
              <a:buChar char="•"/>
            </a:pPr>
            <a:r>
              <a:rPr lang="en-US" sz="900" dirty="0">
                <a:latin typeface="Calibri" pitchFamily="34" charset="0"/>
                <a:ea typeface="Calibri" pitchFamily="34" charset="-122"/>
                <a:cs typeface="Calibri" pitchFamily="34" charset="-120"/>
              </a:rPr>
              <a:t>Configured Vercel edge deployment, custom MIME types &amp; CORS rules.</a:t>
            </a:r>
            <a:endParaRPr lang="en-US" sz="900" dirty="0"/>
          </a:p>
        </p:txBody>
      </p:sp>
      <p:sp>
        <p:nvSpPr>
          <p:cNvPr id="11" name="Shape 8"/>
          <p:cNvSpPr/>
          <p:nvPr/>
        </p:nvSpPr>
        <p:spPr>
          <a:xfrm>
            <a:off x="3291840" y="1188720"/>
            <a:ext cx="2560320" cy="2377440"/>
          </a:xfrm>
          <a:prstGeom prst="roundRect">
            <a:avLst>
              <a:gd name="adj" fmla="val 3077"/>
            </a:avLst>
          </a:prstGeom>
          <a:solidFill>
            <a:srgbClr val="F8FAFC"/>
          </a:solidFill>
          <a:ln w="12700">
            <a:solidFill>
              <a:srgbClr val="E2E8F0"/>
            </a:solidFill>
            <a:prstDash val="solid"/>
          </a:ln>
        </p:spPr>
      </p:sp>
      <p:sp>
        <p:nvSpPr>
          <p:cNvPr id="12" name="Text 9"/>
          <p:cNvSpPr/>
          <p:nvPr/>
        </p:nvSpPr>
        <p:spPr>
          <a:xfrm>
            <a:off x="3474720" y="1371600"/>
            <a:ext cx="2194560" cy="256032"/>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Sanskar Suryavanshi</a:t>
            </a:r>
            <a:endParaRPr lang="en-US" sz="1300" dirty="0"/>
          </a:p>
        </p:txBody>
      </p:sp>
      <p:sp>
        <p:nvSpPr>
          <p:cNvPr id="13" name="Text 10"/>
          <p:cNvSpPr/>
          <p:nvPr/>
        </p:nvSpPr>
        <p:spPr>
          <a:xfrm>
            <a:off x="3474720" y="1627632"/>
            <a:ext cx="2194560" cy="228600"/>
          </a:xfrm>
          <a:prstGeom prst="rect">
            <a:avLst/>
          </a:prstGeom>
          <a:noFill/>
          <a:ln/>
        </p:spPr>
        <p:txBody>
          <a:bodyPr wrap="square" lIns="0" tIns="0" rIns="0" bIns="0" rtlCol="0" anchor="ctr"/>
          <a:lstStyle/>
          <a:p>
            <a:pPr marL="0" indent="0">
              <a:buNone/>
            </a:pPr>
            <a:r>
              <a:rPr lang="en-US" sz="950" b="1" dirty="0">
                <a:latin typeface="Calibri" pitchFamily="34" charset="0"/>
                <a:ea typeface="Calibri" pitchFamily="34" charset="-122"/>
                <a:cs typeface="Calibri" pitchFamily="34" charset="-120"/>
              </a:rPr>
              <a:t>Frontend Architect &amp; UI/UX Specialist</a:t>
            </a:r>
            <a:endParaRPr lang="en-US" sz="950" dirty="0"/>
          </a:p>
        </p:txBody>
      </p:sp>
      <p:sp>
        <p:nvSpPr>
          <p:cNvPr id="14" name="Text 11"/>
          <p:cNvSpPr/>
          <p:nvPr/>
        </p:nvSpPr>
        <p:spPr>
          <a:xfrm>
            <a:off x="3474720" y="1901952"/>
            <a:ext cx="2194560" cy="1554480"/>
          </a:xfrm>
          <a:prstGeom prst="rect">
            <a:avLst/>
          </a:prstGeom>
          <a:noFill/>
          <a:ln/>
        </p:spPr>
        <p:txBody>
          <a:bodyPr wrap="square" lIns="0" tIns="0" rIns="0" bIns="0" rtlCol="0" anchor="ctr"/>
          <a:lstStyle/>
          <a:p>
            <a:pPr marL="342900" indent="-342900">
              <a:spcAft>
                <a:spcPts val="400"/>
              </a:spcAft>
              <a:buSzPct val="100000"/>
              <a:buChar char="•"/>
            </a:pPr>
            <a:r>
              <a:rPr lang="en-US" sz="900" dirty="0">
                <a:latin typeface="Calibri" pitchFamily="34" charset="0"/>
                <a:ea typeface="Calibri" pitchFamily="34" charset="-122"/>
                <a:cs typeface="Calibri" pitchFamily="34" charset="-120"/>
              </a:rPr>
              <a:t>Architected responsive customer menu portal with Tailwind CSS.</a:t>
            </a:r>
            <a:endParaRPr lang="en-US" sz="900" dirty="0"/>
          </a:p>
          <a:p>
            <a:pPr marL="342900" indent="-342900">
              <a:spcAft>
                <a:spcPts val="400"/>
              </a:spcAft>
              <a:buSzPct val="100000"/>
              <a:buChar char="•"/>
            </a:pPr>
            <a:r>
              <a:rPr lang="en-US" sz="900" dirty="0">
                <a:latin typeface="Calibri" pitchFamily="34" charset="0"/>
                <a:ea typeface="Calibri" pitchFamily="34" charset="-122"/>
                <a:cs typeface="Calibri" pitchFamily="34" charset="-120"/>
              </a:rPr>
              <a:t>Designed interactive Dish Detail Modal, allergen badges &amp; calorie counters.</a:t>
            </a:r>
            <a:endParaRPr lang="en-US" sz="900" dirty="0"/>
          </a:p>
          <a:p>
            <a:pPr marL="342900" indent="-342900">
              <a:spcAft>
                <a:spcPts val="400"/>
              </a:spcAft>
              <a:buSzPct val="100000"/>
              <a:buChar char="•"/>
            </a:pPr>
            <a:r>
              <a:rPr lang="en-US" sz="900" dirty="0">
                <a:latin typeface="Calibri" pitchFamily="34" charset="0"/>
                <a:ea typeface="Calibri" pitchFamily="34" charset="-122"/>
                <a:cs typeface="Calibri" pitchFamily="34" charset="-120"/>
              </a:rPr>
              <a:t>Implemented category filtering, dynamic search &amp; cart drawer UI.</a:t>
            </a:r>
            <a:endParaRPr lang="en-US" sz="900" dirty="0"/>
          </a:p>
          <a:p>
            <a:pPr marL="342900" indent="-342900">
              <a:spcAft>
                <a:spcPts val="400"/>
              </a:spcAft>
              <a:buSzPct val="100000"/>
              <a:buChar char="•"/>
            </a:pPr>
            <a:r>
              <a:rPr lang="en-US" sz="900" dirty="0">
                <a:latin typeface="Calibri" pitchFamily="34" charset="0"/>
                <a:ea typeface="Calibri" pitchFamily="34" charset="-122"/>
                <a:cs typeface="Calibri" pitchFamily="34" charset="-120"/>
              </a:rPr>
              <a:t>Ensured responsive design and touch-friendly mobile ergonomics.</a:t>
            </a:r>
            <a:endParaRPr lang="en-US" sz="900" dirty="0"/>
          </a:p>
        </p:txBody>
      </p:sp>
      <p:sp>
        <p:nvSpPr>
          <p:cNvPr id="15" name="Shape 12"/>
          <p:cNvSpPr/>
          <p:nvPr/>
        </p:nvSpPr>
        <p:spPr>
          <a:xfrm>
            <a:off x="6035040" y="1188720"/>
            <a:ext cx="2560320" cy="2377440"/>
          </a:xfrm>
          <a:prstGeom prst="roundRect">
            <a:avLst>
              <a:gd name="adj" fmla="val 3077"/>
            </a:avLst>
          </a:prstGeom>
          <a:solidFill>
            <a:srgbClr val="F8FAFC"/>
          </a:solidFill>
          <a:ln w="12700">
            <a:solidFill>
              <a:srgbClr val="E2E8F0"/>
            </a:solidFill>
            <a:prstDash val="solid"/>
          </a:ln>
        </p:spPr>
      </p:sp>
      <p:sp>
        <p:nvSpPr>
          <p:cNvPr id="16" name="Text 13"/>
          <p:cNvSpPr/>
          <p:nvPr/>
        </p:nvSpPr>
        <p:spPr>
          <a:xfrm>
            <a:off x="6217920" y="1371600"/>
            <a:ext cx="2194560" cy="256032"/>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Kesar Singh</a:t>
            </a:r>
            <a:endParaRPr lang="en-US" sz="1300" dirty="0"/>
          </a:p>
        </p:txBody>
      </p:sp>
      <p:sp>
        <p:nvSpPr>
          <p:cNvPr id="17" name="Text 14"/>
          <p:cNvSpPr/>
          <p:nvPr/>
        </p:nvSpPr>
        <p:spPr>
          <a:xfrm>
            <a:off x="6217920" y="1627632"/>
            <a:ext cx="2194560" cy="228600"/>
          </a:xfrm>
          <a:prstGeom prst="rect">
            <a:avLst/>
          </a:prstGeom>
          <a:noFill/>
          <a:ln/>
        </p:spPr>
        <p:txBody>
          <a:bodyPr wrap="square" lIns="0" tIns="0" rIns="0" bIns="0" rtlCol="0" anchor="ctr"/>
          <a:lstStyle/>
          <a:p>
            <a:pPr marL="0" indent="0">
              <a:buNone/>
            </a:pPr>
            <a:r>
              <a:rPr lang="en-US" sz="950" b="1" dirty="0">
                <a:latin typeface="Calibri" pitchFamily="34" charset="0"/>
                <a:ea typeface="Calibri" pitchFamily="34" charset="-122"/>
                <a:cs typeface="Calibri" pitchFamily="34" charset="-120"/>
              </a:rPr>
              <a:t>Systems Integration &amp; QA Lead</a:t>
            </a:r>
            <a:endParaRPr lang="en-US" sz="950" dirty="0"/>
          </a:p>
        </p:txBody>
      </p:sp>
      <p:sp>
        <p:nvSpPr>
          <p:cNvPr id="18" name="Text 15"/>
          <p:cNvSpPr/>
          <p:nvPr/>
        </p:nvSpPr>
        <p:spPr>
          <a:xfrm>
            <a:off x="6217920" y="1901952"/>
            <a:ext cx="2194560" cy="1554480"/>
          </a:xfrm>
          <a:prstGeom prst="rect">
            <a:avLst/>
          </a:prstGeom>
          <a:noFill/>
          <a:ln/>
        </p:spPr>
        <p:txBody>
          <a:bodyPr wrap="square" lIns="0" tIns="0" rIns="0" bIns="0" rtlCol="0" anchor="ctr"/>
          <a:lstStyle/>
          <a:p>
            <a:pPr marL="342900" indent="-342900">
              <a:spcAft>
                <a:spcPts val="400"/>
              </a:spcAft>
              <a:buSzPct val="100000"/>
              <a:buChar char="•"/>
            </a:pPr>
            <a:r>
              <a:rPr lang="en-US" sz="900" dirty="0">
                <a:latin typeface="Calibri" pitchFamily="34" charset="0"/>
                <a:ea typeface="Calibri" pitchFamily="34" charset="-122"/>
                <a:cs typeface="Calibri" pitchFamily="34" charset="-120"/>
              </a:rPr>
              <a:t>Developed real-time Kitchen Display System (KDS) Kanban board.</a:t>
            </a:r>
            <a:endParaRPr lang="en-US" sz="900" dirty="0"/>
          </a:p>
          <a:p>
            <a:pPr marL="342900" indent="-342900">
              <a:spcAft>
                <a:spcPts val="400"/>
              </a:spcAft>
              <a:buSzPct val="100000"/>
              <a:buChar char="•"/>
            </a:pPr>
            <a:r>
              <a:rPr lang="en-US" sz="900" dirty="0">
                <a:latin typeface="Calibri" pitchFamily="34" charset="0"/>
                <a:ea typeface="Calibri" pitchFamily="34" charset="-122"/>
                <a:cs typeface="Calibri" pitchFamily="34" charset="-120"/>
              </a:rPr>
              <a:t>Integrated Web Audio API sound dispatch for instant order alerts.</a:t>
            </a:r>
            <a:endParaRPr lang="en-US" sz="900" dirty="0"/>
          </a:p>
          <a:p>
            <a:pPr marL="342900" indent="-342900">
              <a:spcAft>
                <a:spcPts val="400"/>
              </a:spcAft>
              <a:buSzPct val="100000"/>
              <a:buChar char="•"/>
            </a:pPr>
            <a:r>
              <a:rPr lang="en-US" sz="900" dirty="0">
                <a:latin typeface="Calibri" pitchFamily="34" charset="0"/>
                <a:ea typeface="Calibri" pitchFamily="34" charset="-122"/>
                <a:cs typeface="Calibri" pitchFamily="34" charset="-120"/>
              </a:rPr>
              <a:t>Designed and executed comprehensive cross-device test case matrix.</a:t>
            </a:r>
            <a:endParaRPr lang="en-US" sz="900" dirty="0"/>
          </a:p>
          <a:p>
            <a:pPr marL="342900" indent="-342900">
              <a:spcAft>
                <a:spcPts val="400"/>
              </a:spcAft>
              <a:buSzPct val="100000"/>
              <a:buChar char="•"/>
            </a:pPr>
            <a:r>
              <a:rPr lang="en-US" sz="900" dirty="0">
                <a:latin typeface="Calibri" pitchFamily="34" charset="0"/>
                <a:ea typeface="Calibri" pitchFamily="34" charset="-122"/>
                <a:cs typeface="Calibri" pitchFamily="34" charset="-120"/>
              </a:rPr>
              <a:t>Conducted performance benchmarking, latency profiling &amp; paper validation.</a:t>
            </a:r>
            <a:endParaRPr lang="en-US" sz="900" dirty="0"/>
          </a:p>
        </p:txBody>
      </p:sp>
      <p:sp>
        <p:nvSpPr>
          <p:cNvPr id="19" name="Shape 16"/>
          <p:cNvSpPr/>
          <p:nvPr/>
        </p:nvSpPr>
        <p:spPr>
          <a:xfrm>
            <a:off x="548640" y="3749040"/>
            <a:ext cx="8046720" cy="914400"/>
          </a:xfrm>
          <a:prstGeom prst="roundRect">
            <a:avLst>
              <a:gd name="adj" fmla="val 8000"/>
            </a:avLst>
          </a:prstGeom>
          <a:solidFill>
            <a:srgbClr val="EFF6FF"/>
          </a:solidFill>
          <a:ln w="12700">
            <a:solidFill>
              <a:srgbClr val="BFDBFE"/>
            </a:solidFill>
            <a:prstDash val="solid"/>
          </a:ln>
        </p:spPr>
      </p:sp>
      <p:sp>
        <p:nvSpPr>
          <p:cNvPr id="20" name="Text 17"/>
          <p:cNvSpPr/>
          <p:nvPr/>
        </p:nvSpPr>
        <p:spPr>
          <a:xfrm>
            <a:off x="731520" y="3840480"/>
            <a:ext cx="7680960" cy="201168"/>
          </a:xfrm>
          <a:prstGeom prst="rect">
            <a:avLst/>
          </a:prstGeom>
          <a:noFill/>
          <a:ln/>
        </p:spPr>
        <p:txBody>
          <a:bodyPr wrap="square" lIns="0" tIns="0" rIns="0" bIns="0" rtlCol="0" anchor="ctr"/>
          <a:lstStyle/>
          <a:p>
            <a:pPr marL="0" indent="0">
              <a:buNone/>
            </a:pPr>
            <a:r>
              <a:rPr lang="en-US" sz="950" b="1" dirty="0">
                <a:latin typeface="Calibri" pitchFamily="34" charset="0"/>
                <a:ea typeface="Calibri" pitchFamily="34" charset="-122"/>
                <a:cs typeface="Calibri" pitchFamily="34" charset="-120"/>
              </a:rPr>
              <a:t>COLLABORATIVE METHODOLOGY &amp; REPOSITORY GOVERNANCE</a:t>
            </a:r>
            <a:endParaRPr lang="en-US" sz="950" dirty="0"/>
          </a:p>
        </p:txBody>
      </p:sp>
      <p:sp>
        <p:nvSpPr>
          <p:cNvPr id="21" name="Text 18"/>
          <p:cNvSpPr/>
          <p:nvPr/>
        </p:nvSpPr>
        <p:spPr>
          <a:xfrm>
            <a:off x="731520" y="4069080"/>
            <a:ext cx="7680960" cy="502920"/>
          </a:xfrm>
          <a:prstGeom prst="rect">
            <a:avLst/>
          </a:prstGeom>
          <a:noFill/>
          <a:ln/>
        </p:spPr>
        <p:txBody>
          <a:bodyPr wrap="square" lIns="0" tIns="0" rIns="0" bIns="0" rtlCol="0" anchor="ctr"/>
          <a:lstStyle/>
          <a:p>
            <a:pPr marL="342900" indent="-342900">
              <a:spcAft>
                <a:spcPts val="200"/>
              </a:spcAft>
              <a:buSzPct val="100000"/>
              <a:buChar char="•"/>
            </a:pPr>
            <a:r>
              <a:rPr lang="en-US" sz="900" dirty="0">
                <a:latin typeface="Calibri" pitchFamily="34" charset="0"/>
                <a:ea typeface="Calibri" pitchFamily="34" charset="-122"/>
                <a:cs typeface="Calibri" pitchFamily="34" charset="-120"/>
              </a:rPr>
              <a:t>Git Feature-Branch Workflow: Protected main branch on GitHub (MANAV0060/Smart-Restaurant) with mandatory pull request code reviews.</a:t>
            </a:r>
            <a:endParaRPr lang="en-US" sz="900" dirty="0"/>
          </a:p>
          <a:p>
            <a:pPr marL="342900" indent="-342900">
              <a:spcAft>
                <a:spcPts val="200"/>
              </a:spcAft>
              <a:buSzPct val="100000"/>
              <a:buChar char="•"/>
            </a:pPr>
            <a:r>
              <a:rPr lang="en-US" sz="900" dirty="0">
                <a:latin typeface="Calibri" pitchFamily="34" charset="0"/>
                <a:ea typeface="Calibri" pitchFamily="34" charset="-122"/>
                <a:cs typeface="Calibri" pitchFamily="34" charset="-120"/>
              </a:rPr>
              <a:t>Daily Standups &amp; Sprint Demos: Bi-weekly milestone reviews with mentor Prof. Vinitta Sunish to ensure alignment with TCET academic standards.</a:t>
            </a:r>
            <a:endParaRPr lang="en-US" sz="900" dirty="0"/>
          </a:p>
          <a:p>
            <a:pPr marL="342900" indent="-342900">
              <a:spcAft>
                <a:spcPts val="200"/>
              </a:spcAft>
              <a:buSzPct val="100000"/>
              <a:buChar char="•"/>
            </a:pPr>
            <a:r>
              <a:rPr lang="en-US" sz="900" dirty="0">
                <a:latin typeface="Calibri" pitchFamily="34" charset="0"/>
                <a:ea typeface="Calibri" pitchFamily="34" charset="-122"/>
                <a:cs typeface="Calibri" pitchFamily="34" charset="-120"/>
              </a:rPr>
              <a:t>Shared Testing Matrix: Collaborative device lab testing spanning Android (Samsung, Pixel) and iOS (Safari) hardware.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Cost Analysis, Budgeting &amp; Practical Feasibility</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Rubric Criterion 3 (5 Marks)</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4389120" cy="3429000"/>
          </a:xfrm>
          <a:prstGeom prst="roundRect">
            <a:avLst>
              <a:gd name="adj" fmla="val 2133"/>
            </a:avLst>
          </a:prstGeom>
          <a:solidFill>
            <a:srgbClr val="F8FAFC"/>
          </a:solidFill>
          <a:ln w="12700">
            <a:solidFill>
              <a:srgbClr val="E2E8F0"/>
            </a:solidFill>
            <a:prstDash val="solid"/>
          </a:ln>
        </p:spPr>
      </p:sp>
      <p:sp>
        <p:nvSpPr>
          <p:cNvPr id="8" name="Text 5"/>
          <p:cNvSpPr/>
          <p:nvPr/>
        </p:nvSpPr>
        <p:spPr>
          <a:xfrm>
            <a:off x="731520" y="1371600"/>
            <a:ext cx="4023360" cy="228600"/>
          </a:xfrm>
          <a:prstGeom prst="rect">
            <a:avLst/>
          </a:prstGeom>
          <a:noFill/>
          <a:ln/>
        </p:spPr>
        <p:txBody>
          <a:bodyPr wrap="square" lIns="0" tIns="0" rIns="0" bIns="0" rtlCol="0" anchor="ctr"/>
          <a:lstStyle/>
          <a:p>
            <a:pPr marL="0" indent="0">
              <a:buNone/>
            </a:pPr>
            <a:r>
              <a:rPr lang="en-US" sz="1100" b="1" dirty="0">
                <a:latin typeface="Cambria" pitchFamily="34" charset="0"/>
                <a:ea typeface="Cambria" pitchFamily="34" charset="-122"/>
                <a:cs typeface="Cambria" pitchFamily="34" charset="-120"/>
              </a:rPr>
              <a:t>3-YEAR TOTAL COST OF OWNERSHIP (10-TABLE BISTRO)</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4023360" cy="2651760"/>
        </p:xfrm>
        <a:graphic>
          <a:graphicData uri="http://schemas.openxmlformats.org/drawingml/2006/table">
            <a:tbl>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tblGrid>
              <a:tr h="44196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Expenditure Item</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Hardware POS Tablets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Smart Restaurant (Ours)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441960">
                <a:tc>
                  <a:txBody>
                    <a:bodyPr/>
                    <a:lstStyle/>
                    <a:p>
                      <a:pPr marL="0" indent="0" algn="ctr">
                        <a:buNone/>
                      </a:pPr>
                      <a:r>
                        <a:rPr lang="en-US" sz="900" b="1" dirty="0">
                          <a:solidFill>
                            <a:srgbClr val="0F172A"/>
                          </a:solidFill>
                          <a:latin typeface="Calibri" pitchFamily="34" charset="0"/>
                          <a:ea typeface="Calibri" pitchFamily="34" charset="-122"/>
                          <a:cs typeface="Calibri" pitchFamily="34" charset="-120"/>
                        </a:rPr>
                        <a:t>Hardware Devices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DC2626"/>
                          </a:solidFill>
                          <a:latin typeface="Calibri" pitchFamily="34" charset="0"/>
                          <a:ea typeface="Calibri" pitchFamily="34" charset="-122"/>
                          <a:cs typeface="Calibri" pitchFamily="34" charset="-120"/>
                        </a:rPr>
                        <a:t>₹3,50,000 (10 Tablets)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₹0 (Patron Phones)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1960">
                <a:tc>
                  <a:txBody>
                    <a:bodyPr/>
                    <a:lstStyle/>
                    <a:p>
                      <a:pPr marL="0" indent="0" algn="ctr">
                        <a:buNone/>
                      </a:pPr>
                      <a:r>
                        <a:rPr lang="en-US" sz="900" b="1" dirty="0">
                          <a:solidFill>
                            <a:srgbClr val="0F172A"/>
                          </a:solidFill>
                          <a:latin typeface="Calibri" pitchFamily="34" charset="0"/>
                          <a:ea typeface="Calibri" pitchFamily="34" charset="-122"/>
                          <a:cs typeface="Calibri" pitchFamily="34" charset="-120"/>
                        </a:rPr>
                        <a:t>Software Licensing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DC2626"/>
                          </a:solidFill>
                          <a:latin typeface="Calibri" pitchFamily="34" charset="0"/>
                          <a:ea typeface="Calibri" pitchFamily="34" charset="-122"/>
                          <a:cs typeface="Calibri" pitchFamily="34" charset="-120"/>
                        </a:rPr>
                        <a:t>₹80,000 / year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₹0 (Open Source Stack)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441960">
                <a:tc>
                  <a:txBody>
                    <a:bodyPr/>
                    <a:lstStyle/>
                    <a:p>
                      <a:pPr marL="0" indent="0" algn="ctr">
                        <a:buNone/>
                      </a:pPr>
                      <a:r>
                        <a:rPr lang="en-US" sz="900" b="1" dirty="0">
                          <a:solidFill>
                            <a:srgbClr val="0F172A"/>
                          </a:solidFill>
                          <a:latin typeface="Calibri" pitchFamily="34" charset="0"/>
                          <a:ea typeface="Calibri" pitchFamily="34" charset="-122"/>
                          <a:cs typeface="Calibri" pitchFamily="34" charset="-120"/>
                        </a:rPr>
                        <a:t>Hardware Maintenance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DC2626"/>
                          </a:solidFill>
                          <a:latin typeface="Calibri" pitchFamily="34" charset="0"/>
                          <a:ea typeface="Calibri" pitchFamily="34" charset="-122"/>
                          <a:cs typeface="Calibri" pitchFamily="34" charset="-120"/>
                        </a:rPr>
                        <a:t>₹40,000 / year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₹0 (No Table Hardware)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1960">
                <a:tc>
                  <a:txBody>
                    <a:bodyPr/>
                    <a:lstStyle/>
                    <a:p>
                      <a:pPr marL="0" indent="0" algn="ctr">
                        <a:buNone/>
                      </a:pPr>
                      <a:r>
                        <a:rPr lang="en-US" sz="900" b="1" dirty="0">
                          <a:solidFill>
                            <a:srgbClr val="0F172A"/>
                          </a:solidFill>
                          <a:latin typeface="Calibri" pitchFamily="34" charset="0"/>
                          <a:ea typeface="Calibri" pitchFamily="34" charset="-122"/>
                          <a:cs typeface="Calibri" pitchFamily="34" charset="-120"/>
                        </a:rPr>
                        <a:t>Cloud Edge Hosting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₹30,000 / year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₹15,000 / yr (Vercel)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441960">
                <a:tc>
                  <a:txBody>
                    <a:bodyPr/>
                    <a:lstStyle/>
                    <a:p>
                      <a:pPr marL="0" indent="0" algn="ctr">
                        <a:buNone/>
                      </a:pPr>
                      <a:r>
                        <a:rPr lang="en-US" sz="900" b="1" dirty="0">
                          <a:solidFill>
                            <a:srgbClr val="1E3A8A"/>
                          </a:solidFill>
                          <a:latin typeface="Calibri" pitchFamily="34" charset="0"/>
                          <a:ea typeface="Calibri" pitchFamily="34" charset="-122"/>
                          <a:cs typeface="Calibri" pitchFamily="34" charset="-120"/>
                        </a:rPr>
                        <a:t>3-Year Total Cost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₹7,10,000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₹45,000 (93.7% Savings!)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bl>
          </a:graphicData>
        </a:graphic>
      </p:graphicFrame>
      <p:sp>
        <p:nvSpPr>
          <p:cNvPr id="10" name="Shape 6"/>
          <p:cNvSpPr/>
          <p:nvPr/>
        </p:nvSpPr>
        <p:spPr>
          <a:xfrm>
            <a:off x="5120640" y="1188720"/>
            <a:ext cx="3474720" cy="3429000"/>
          </a:xfrm>
          <a:prstGeom prst="roundRect">
            <a:avLst>
              <a:gd name="adj" fmla="val 2133"/>
            </a:avLst>
          </a:prstGeom>
          <a:solidFill>
            <a:srgbClr val="F8FAFC"/>
          </a:solidFill>
          <a:ln w="12700">
            <a:solidFill>
              <a:srgbClr val="E2E8F0"/>
            </a:solidFill>
            <a:prstDash val="solid"/>
          </a:ln>
        </p:spPr>
      </p:sp>
      <p:sp>
        <p:nvSpPr>
          <p:cNvPr id="11" name="Text 7"/>
          <p:cNvSpPr/>
          <p:nvPr/>
        </p:nvSpPr>
        <p:spPr>
          <a:xfrm>
            <a:off x="5303520" y="1371600"/>
            <a:ext cx="3108960" cy="228600"/>
          </a:xfrm>
          <a:prstGeom prst="rect">
            <a:avLst/>
          </a:prstGeom>
          <a:noFill/>
          <a:ln/>
        </p:spPr>
        <p:txBody>
          <a:bodyPr wrap="square" lIns="0" tIns="0" rIns="0" bIns="0" rtlCol="0" anchor="ctr"/>
          <a:lstStyle/>
          <a:p>
            <a:pPr marL="0" indent="0">
              <a:buNone/>
            </a:pPr>
            <a:r>
              <a:rPr lang="en-US" sz="1100" b="1" dirty="0">
                <a:latin typeface="Cambria" pitchFamily="34" charset="0"/>
                <a:ea typeface="Cambria" pitchFamily="34" charset="-122"/>
                <a:cs typeface="Cambria" pitchFamily="34" charset="-120"/>
              </a:rPr>
              <a:t>TECHNICAL &amp; OPERATIONAL FEASIBILITY</a:t>
            </a:r>
            <a:endParaRPr lang="en-US" sz="1100" dirty="0"/>
          </a:p>
        </p:txBody>
      </p:sp>
      <p:sp>
        <p:nvSpPr>
          <p:cNvPr id="12" name="Text 8"/>
          <p:cNvSpPr/>
          <p:nvPr/>
        </p:nvSpPr>
        <p:spPr>
          <a:xfrm>
            <a:off x="5303520" y="1691640"/>
            <a:ext cx="3108960" cy="2743200"/>
          </a:xfrm>
          <a:prstGeom prst="rect">
            <a:avLst/>
          </a:prstGeom>
          <a:noFill/>
          <a:ln/>
        </p:spPr>
        <p:txBody>
          <a:bodyPr wrap="square" lIns="0" tIns="0" rIns="0" bIns="0" rtlCol="0" anchor="ctr"/>
          <a:lstStyle/>
          <a:p>
            <a:pPr marL="0" indent="0">
              <a:spcAft>
                <a:spcPts val="1000"/>
              </a:spcAft>
              <a:buNone/>
            </a:pPr>
            <a:r>
              <a:rPr lang="en-US" sz="950" dirty="0">
                <a:latin typeface="Calibri" pitchFamily="34" charset="0"/>
                <a:ea typeface="Calibri" pitchFamily="34" charset="-122"/>
                <a:cs typeface="Calibri" pitchFamily="34" charset="-120"/>
              </a:rPr>
              <a:t>• Economic Feasibility: Exceptional ROI: Eliminates hardware procurement entirely. A 10-table restaurant saves over ₹6.6 Lakhs ($8,000+) over 3 years, achieving instant ROI in Month 1.</a:t>
            </a:r>
            <a:endParaRPr lang="en-US" sz="950" dirty="0"/>
          </a:p>
          <a:p>
            <a:pPr marL="0" indent="0">
              <a:spcAft>
                <a:spcPts val="1000"/>
              </a:spcAft>
              <a:buNone/>
            </a:pPr>
            <a:r>
              <a:rPr lang="en-US" sz="950" dirty="0">
                <a:latin typeface="Calibri" pitchFamily="34" charset="0"/>
                <a:ea typeface="Calibri" pitchFamily="34" charset="-122"/>
                <a:cs typeface="Calibri" pitchFamily="34" charset="-120"/>
              </a:rPr>
              <a:t>• Technical Feasibility: Web Standards: Utilizes standardized W3C WebXR and WebGL APIs natively supported in Chrome, Edge, and Safari without proprietary SDK royalties.</a:t>
            </a:r>
            <a:endParaRPr lang="en-US" sz="950" dirty="0"/>
          </a:p>
          <a:p>
            <a:pPr marL="0" indent="0">
              <a:spcAft>
                <a:spcPts val="1000"/>
              </a:spcAft>
              <a:buNone/>
            </a:pPr>
            <a:r>
              <a:rPr lang="en-US" sz="950" dirty="0">
                <a:latin typeface="Calibri" pitchFamily="34" charset="0"/>
                <a:ea typeface="Calibri" pitchFamily="34" charset="-122"/>
                <a:cs typeface="Calibri" pitchFamily="34" charset="-120"/>
              </a:rPr>
              <a:t>• Operational Feasibility: Zero Friction: Diners scan and order without downloading apps; restaurant staff operate the KDS on any existing kitchen tablet or PC screen.</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100% Implementation: Working Modules &amp; Live Proof</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Rubric Criterion 7 (30 Marks)</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pic>
        <p:nvPicPr>
          <p:cNvPr id="7" name="Image 1" descr="d:\resrtorant\presentation_assets\back_to_menu_1790013320137.png"/>
          <p:cNvPicPr>
            <a:picLocks noChangeAspect="1"/>
          </p:cNvPicPr>
          <p:nvPr/>
        </p:nvPicPr>
        <p:blipFill>
          <a:blip r:embed="rId4"/>
          <a:stretch>
            <a:fillRect/>
          </a:stretch>
        </p:blipFill>
        <p:spPr>
          <a:xfrm>
            <a:off x="548640" y="1188720"/>
            <a:ext cx="3291840" cy="2103120"/>
          </a:xfrm>
          <a:prstGeom prst="rect">
            <a:avLst/>
          </a:prstGeom>
        </p:spPr>
      </p:pic>
      <p:sp>
        <p:nvSpPr>
          <p:cNvPr id="8" name="Shape 4"/>
          <p:cNvSpPr/>
          <p:nvPr/>
        </p:nvSpPr>
        <p:spPr>
          <a:xfrm>
            <a:off x="548640" y="1188720"/>
            <a:ext cx="3291840" cy="2103120"/>
          </a:xfrm>
          <a:prstGeom prst="rect">
            <a:avLst/>
          </a:prstGeom>
          <a:ln w="12700">
            <a:solidFill>
              <a:srgbClr val="E2E8F0"/>
            </a:solidFill>
            <a:prstDash val="solid"/>
          </a:ln>
        </p:spPr>
      </p:sp>
      <p:sp>
        <p:nvSpPr>
          <p:cNvPr id="9" name="Text 5"/>
          <p:cNvSpPr/>
          <p:nvPr/>
        </p:nvSpPr>
        <p:spPr>
          <a:xfrm>
            <a:off x="548640" y="3310128"/>
            <a:ext cx="3291840" cy="201168"/>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Figure 1: Live Menu Interface with Dietary Badges &amp; Calorie Counters</a:t>
            </a:r>
            <a:endParaRPr lang="en-US" sz="800" dirty="0"/>
          </a:p>
        </p:txBody>
      </p:sp>
      <p:pic>
        <p:nvPicPr>
          <p:cNvPr id="10" name="Image 2" descr="d:\resrtorant\presentation_assets\dish_anchored_placed_1790012727681.png"/>
          <p:cNvPicPr>
            <a:picLocks noChangeAspect="1"/>
          </p:cNvPicPr>
          <p:nvPr/>
        </p:nvPicPr>
        <p:blipFill>
          <a:blip r:embed="rId5"/>
          <a:stretch>
            <a:fillRect/>
          </a:stretch>
        </p:blipFill>
        <p:spPr>
          <a:xfrm>
            <a:off x="4023360" y="1188720"/>
            <a:ext cx="4572000" cy="2103120"/>
          </a:xfrm>
          <a:prstGeom prst="rect">
            <a:avLst/>
          </a:prstGeom>
        </p:spPr>
      </p:pic>
      <p:sp>
        <p:nvSpPr>
          <p:cNvPr id="11" name="Shape 6"/>
          <p:cNvSpPr/>
          <p:nvPr/>
        </p:nvSpPr>
        <p:spPr>
          <a:xfrm>
            <a:off x="4023360" y="1188720"/>
            <a:ext cx="4572000" cy="2103120"/>
          </a:xfrm>
          <a:prstGeom prst="rect">
            <a:avLst/>
          </a:prstGeom>
          <a:ln w="12700">
            <a:solidFill>
              <a:srgbClr val="E2E8F0"/>
            </a:solidFill>
            <a:prstDash val="solid"/>
          </a:ln>
        </p:spPr>
      </p:sp>
      <p:sp>
        <p:nvSpPr>
          <p:cNvPr id="12" name="Text 7"/>
          <p:cNvSpPr/>
          <p:nvPr/>
        </p:nvSpPr>
        <p:spPr>
          <a:xfrm>
            <a:off x="4023360" y="3310128"/>
            <a:ext cx="4572000" cy="201168"/>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Figure 2: Real-World 6-DoF WebXR Hit-Testing Surface Anchoring at 1:1 Scale</a:t>
            </a:r>
            <a:endParaRPr lang="en-US" sz="800" dirty="0"/>
          </a:p>
        </p:txBody>
      </p:sp>
      <p:sp>
        <p:nvSpPr>
          <p:cNvPr id="13" name="Shape 8"/>
          <p:cNvSpPr/>
          <p:nvPr/>
        </p:nvSpPr>
        <p:spPr>
          <a:xfrm>
            <a:off x="548640" y="3547872"/>
            <a:ext cx="8046720" cy="1115568"/>
          </a:xfrm>
          <a:prstGeom prst="roundRect">
            <a:avLst>
              <a:gd name="adj" fmla="val 6557"/>
            </a:avLst>
          </a:prstGeom>
          <a:solidFill>
            <a:srgbClr val="F8FAFC"/>
          </a:solidFill>
          <a:ln w="12700">
            <a:solidFill>
              <a:srgbClr val="059669"/>
            </a:solidFill>
            <a:prstDash val="solid"/>
          </a:ln>
        </p:spPr>
      </p:sp>
      <p:sp>
        <p:nvSpPr>
          <p:cNvPr id="14" name="Text 9"/>
          <p:cNvSpPr/>
          <p:nvPr/>
        </p:nvSpPr>
        <p:spPr>
          <a:xfrm>
            <a:off x="731520" y="3639312"/>
            <a:ext cx="7680960" cy="182880"/>
          </a:xfrm>
          <a:prstGeom prst="rect">
            <a:avLst/>
          </a:prstGeom>
          <a:noFill/>
          <a:ln/>
        </p:spPr>
        <p:txBody>
          <a:bodyPr wrap="square" lIns="0" tIns="0" rIns="0" bIns="0" rtlCol="0" anchor="ctr"/>
          <a:lstStyle/>
          <a:p>
            <a:pPr marL="0" indent="0">
              <a:buNone/>
            </a:pPr>
            <a:r>
              <a:rPr lang="en-US" sz="950" b="1" dirty="0">
                <a:solidFill>
                  <a:srgbClr val="059669"/>
                </a:solidFill>
                <a:latin typeface="Calibri" pitchFamily="34" charset="0"/>
                <a:ea typeface="Calibri" pitchFamily="34" charset="-122"/>
                <a:cs typeface="Calibri" pitchFamily="34" charset="-120"/>
              </a:rPr>
              <a:t>VERIFIED IMPLEMENTATION STATUS (ALL MODULES FULLY OPERATIONAL)</a:t>
            </a:r>
            <a:endParaRPr lang="en-US" sz="950" dirty="0"/>
          </a:p>
        </p:txBody>
      </p:sp>
      <p:sp>
        <p:nvSpPr>
          <p:cNvPr id="15" name="Text 10"/>
          <p:cNvSpPr/>
          <p:nvPr/>
        </p:nvSpPr>
        <p:spPr>
          <a:xfrm>
            <a:off x="731520" y="3858768"/>
            <a:ext cx="7680960" cy="731520"/>
          </a:xfrm>
          <a:prstGeom prst="rect">
            <a:avLst/>
          </a:prstGeom>
          <a:noFill/>
          <a:ln/>
        </p:spPr>
        <p:txBody>
          <a:bodyPr wrap="square" lIns="0" tIns="0" rIns="0" bIns="0" rtlCol="0" anchor="ctr"/>
          <a:lstStyle/>
          <a:p>
            <a:pPr marL="0" indent="0">
              <a:spcAft>
                <a:spcPts val="200"/>
              </a:spcAft>
              <a:buNone/>
            </a:pPr>
            <a:r>
              <a:rPr lang="en-US" sz="900" dirty="0">
                <a:solidFill>
                  <a:srgbClr val="0F172A"/>
                </a:solidFill>
                <a:latin typeface="Calibri" pitchFamily="34" charset="0"/>
                <a:ea typeface="Calibri" pitchFamily="34" charset="-122"/>
                <a:cs typeface="Calibri" pitchFamily="34" charset="-120"/>
              </a:rPr>
              <a:t>✓ Interactive Customer Menu: 12+ gourmet dishes with dietary filters, calorie breakdowns, and ingredient tracking.</a:t>
            </a:r>
            <a:endParaRPr lang="en-US" sz="900" dirty="0"/>
          </a:p>
          <a:p>
            <a:pPr marL="0" indent="0">
              <a:spcAft>
                <a:spcPts val="200"/>
              </a:spcAft>
              <a:buNone/>
            </a:pPr>
            <a:r>
              <a:rPr lang="en-US" sz="900" dirty="0">
                <a:solidFill>
                  <a:srgbClr val="0F172A"/>
                </a:solidFill>
                <a:latin typeface="Calibri" pitchFamily="34" charset="0"/>
                <a:ea typeface="Calibri" pitchFamily="34" charset="-122"/>
                <a:cs typeface="Calibri" pitchFamily="34" charset="-120"/>
              </a:rPr>
              <a:t>✓ 6-DoF WebXR Surface Tracker: Table plane hit-testing reticle, 1:1 metric scale, and 360° touch rotation gestures.</a:t>
            </a:r>
            <a:endParaRPr lang="en-US" sz="900" dirty="0"/>
          </a:p>
          <a:p>
            <a:pPr marL="0" indent="0">
              <a:spcAft>
                <a:spcPts val="200"/>
              </a:spcAft>
              <a:buNone/>
            </a:pPr>
            <a:r>
              <a:rPr lang="en-US" sz="900" dirty="0">
                <a:solidFill>
                  <a:srgbClr val="0F172A"/>
                </a:solidFill>
                <a:latin typeface="Calibri" pitchFamily="34" charset="0"/>
                <a:ea typeface="Calibri" pitchFamily="34" charset="-122"/>
                <a:cs typeface="Calibri" pitchFamily="34" charset="-120"/>
              </a:rPr>
              <a:t>✓ Universal Fallback Subsystem: Automated Android Scene Viewer Intent fallback ensuring 100% smartphone reach.</a:t>
            </a:r>
            <a:endParaRPr lang="en-US" sz="900" dirty="0"/>
          </a:p>
          <a:p>
            <a:pPr marL="0" indent="0">
              <a:spcAft>
                <a:spcPts val="200"/>
              </a:spcAft>
              <a:buNone/>
            </a:pPr>
            <a:r>
              <a:rPr lang="en-US" sz="900" dirty="0">
                <a:solidFill>
                  <a:srgbClr val="0F172A"/>
                </a:solidFill>
                <a:latin typeface="Calibri" pitchFamily="34" charset="0"/>
                <a:ea typeface="Calibri" pitchFamily="34" charset="-122"/>
                <a:cs typeface="Calibri" pitchFamily="34" charset="-120"/>
              </a:rPr>
              <a:t>✓ Kitchen Display System (KDS): Live Kanban order queue with acoustic notifications and stateful ticket advancement.</a:t>
            </a:r>
            <a:endParaRPr lang="en-US" sz="900" dirty="0"/>
          </a:p>
          <a:p>
            <a:pPr marL="0" indent="0">
              <a:spcAft>
                <a:spcPts val="200"/>
              </a:spcAft>
              <a:buNone/>
            </a:pPr>
            <a:r>
              <a:rPr lang="en-US" sz="900" dirty="0">
                <a:solidFill>
                  <a:srgbClr val="0F172A"/>
                </a:solidFill>
                <a:latin typeface="Calibri" pitchFamily="34" charset="0"/>
                <a:ea typeface="Calibri" pitchFamily="34" charset="-122"/>
                <a:cs typeface="Calibri" pitchFamily="34" charset="-120"/>
              </a:rPr>
              <a:t>✓ Production Cloud Deployment: Active on Vercel Edge with custom binary MIME headers at https://smart-restaurant-2za8.vercel.app/</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Operational Workflow &amp; Step-by-Step Diner Journey</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Live Model Demonstration</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pic>
        <p:nvPicPr>
          <p:cNvPr id="7" name="Image 1" descr="d:\resrtorant\presentation_assets\qr_handoff_modal_1790013103448.png"/>
          <p:cNvPicPr>
            <a:picLocks noChangeAspect="1"/>
          </p:cNvPicPr>
          <p:nvPr/>
        </p:nvPicPr>
        <p:blipFill>
          <a:blip r:embed="rId4"/>
          <a:stretch>
            <a:fillRect/>
          </a:stretch>
        </p:blipFill>
        <p:spPr>
          <a:xfrm>
            <a:off x="548640" y="1188720"/>
            <a:ext cx="3108960" cy="2057400"/>
          </a:xfrm>
          <a:prstGeom prst="rect">
            <a:avLst/>
          </a:prstGeom>
        </p:spPr>
      </p:pic>
      <p:sp>
        <p:nvSpPr>
          <p:cNvPr id="8" name="Shape 4"/>
          <p:cNvSpPr/>
          <p:nvPr/>
        </p:nvSpPr>
        <p:spPr>
          <a:xfrm>
            <a:off x="548640" y="1188720"/>
            <a:ext cx="3108960" cy="2057400"/>
          </a:xfrm>
          <a:prstGeom prst="rect">
            <a:avLst/>
          </a:prstGeom>
          <a:ln w="12700">
            <a:solidFill>
              <a:srgbClr val="E2E8F0"/>
            </a:solidFill>
            <a:prstDash val="solid"/>
          </a:ln>
        </p:spPr>
      </p:sp>
      <p:sp>
        <p:nvSpPr>
          <p:cNvPr id="9" name="Text 5"/>
          <p:cNvSpPr/>
          <p:nvPr/>
        </p:nvSpPr>
        <p:spPr>
          <a:xfrm>
            <a:off x="548640" y="3273552"/>
            <a:ext cx="3108960" cy="18288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Figure 3: Instant Mobile QR Handoff Modal</a:t>
            </a:r>
            <a:endParaRPr lang="en-US" sz="800" dirty="0"/>
          </a:p>
        </p:txBody>
      </p:sp>
      <p:pic>
        <p:nvPicPr>
          <p:cNvPr id="10" name="Image 2" descr="d:\resrtorant\presentation_assets\model_rotated_66deg_1790012883322.png"/>
          <p:cNvPicPr>
            <a:picLocks noChangeAspect="1"/>
          </p:cNvPicPr>
          <p:nvPr/>
        </p:nvPicPr>
        <p:blipFill>
          <a:blip r:embed="rId5"/>
          <a:stretch>
            <a:fillRect/>
          </a:stretch>
        </p:blipFill>
        <p:spPr>
          <a:xfrm>
            <a:off x="3840480" y="1188720"/>
            <a:ext cx="4754880" cy="2057400"/>
          </a:xfrm>
          <a:prstGeom prst="rect">
            <a:avLst/>
          </a:prstGeom>
        </p:spPr>
      </p:pic>
      <p:sp>
        <p:nvSpPr>
          <p:cNvPr id="11" name="Shape 6"/>
          <p:cNvSpPr/>
          <p:nvPr/>
        </p:nvSpPr>
        <p:spPr>
          <a:xfrm>
            <a:off x="3840480" y="1188720"/>
            <a:ext cx="4754880" cy="2057400"/>
          </a:xfrm>
          <a:prstGeom prst="rect">
            <a:avLst/>
          </a:prstGeom>
          <a:ln w="12700">
            <a:solidFill>
              <a:srgbClr val="E2E8F0"/>
            </a:solidFill>
            <a:prstDash val="solid"/>
          </a:ln>
        </p:spPr>
      </p:sp>
      <p:sp>
        <p:nvSpPr>
          <p:cNvPr id="12" name="Text 7"/>
          <p:cNvSpPr/>
          <p:nvPr/>
        </p:nvSpPr>
        <p:spPr>
          <a:xfrm>
            <a:off x="3840480" y="3273552"/>
            <a:ext cx="4754880" cy="182880"/>
          </a:xfrm>
          <a:prstGeom prst="rect">
            <a:avLst/>
          </a:prstGeom>
          <a:noFill/>
          <a:ln/>
        </p:spPr>
        <p:txBody>
          <a:bodyPr wrap="square" lIns="0" tIns="0" rIns="0" bIns="0" rtlCol="0" anchor="ctr"/>
          <a:lstStyle/>
          <a:p>
            <a:pPr marL="0" indent="0" algn="ctr">
              <a:buNone/>
            </a:pPr>
            <a:r>
              <a:rPr lang="en-US" sz="800" dirty="0">
                <a:solidFill>
                  <a:srgbClr val="64748B"/>
                </a:solidFill>
                <a:latin typeface="Calibri" pitchFamily="34" charset="0"/>
                <a:ea typeface="Calibri" pitchFamily="34" charset="-122"/>
                <a:cs typeface="Calibri" pitchFamily="34" charset="-120"/>
              </a:rPr>
              <a:t>Figure 4: 360° Touch Rotation &amp; Inspection of 3D Dish</a:t>
            </a:r>
            <a:endParaRPr lang="en-US" sz="800" dirty="0"/>
          </a:p>
        </p:txBody>
      </p:sp>
      <p:sp>
        <p:nvSpPr>
          <p:cNvPr id="13" name="Shape 8"/>
          <p:cNvSpPr/>
          <p:nvPr/>
        </p:nvSpPr>
        <p:spPr>
          <a:xfrm>
            <a:off x="548640" y="3493008"/>
            <a:ext cx="8046720" cy="1170432"/>
          </a:xfrm>
          <a:prstGeom prst="roundRect">
            <a:avLst>
              <a:gd name="adj" fmla="val 6250"/>
            </a:avLst>
          </a:prstGeom>
          <a:solidFill>
            <a:srgbClr val="F8FAFC"/>
          </a:solidFill>
          <a:ln w="12700">
            <a:solidFill>
              <a:srgbClr val="1E3A8A"/>
            </a:solidFill>
            <a:prstDash val="solid"/>
          </a:ln>
        </p:spPr>
      </p:sp>
      <p:sp>
        <p:nvSpPr>
          <p:cNvPr id="14" name="Text 9"/>
          <p:cNvSpPr/>
          <p:nvPr/>
        </p:nvSpPr>
        <p:spPr>
          <a:xfrm>
            <a:off x="731520" y="3584448"/>
            <a:ext cx="7680960" cy="182880"/>
          </a:xfrm>
          <a:prstGeom prst="rect">
            <a:avLst/>
          </a:prstGeom>
          <a:noFill/>
          <a:ln/>
        </p:spPr>
        <p:txBody>
          <a:bodyPr wrap="square" lIns="0" tIns="0" rIns="0" bIns="0" rtlCol="0" anchor="ctr"/>
          <a:lstStyle/>
          <a:p>
            <a:pPr marL="0" indent="0">
              <a:buNone/>
            </a:pPr>
            <a:r>
              <a:rPr lang="en-US" sz="950" b="1" dirty="0">
                <a:solidFill>
                  <a:srgbClr val="1E3A8A"/>
                </a:solidFill>
                <a:latin typeface="Calibri" pitchFamily="34" charset="0"/>
                <a:ea typeface="Calibri" pitchFamily="34" charset="-122"/>
                <a:cs typeface="Calibri" pitchFamily="34" charset="-120"/>
              </a:rPr>
              <a:t>END-TO-END OPERATIONAL LIFECYCLE (INPUT ➔ PROCESSING ➔ OUTPUT)</a:t>
            </a:r>
            <a:endParaRPr lang="en-US" sz="950" dirty="0"/>
          </a:p>
        </p:txBody>
      </p:sp>
      <p:sp>
        <p:nvSpPr>
          <p:cNvPr id="15" name="Text 10"/>
          <p:cNvSpPr/>
          <p:nvPr/>
        </p:nvSpPr>
        <p:spPr>
          <a:xfrm>
            <a:off x="731520" y="3785616"/>
            <a:ext cx="7680960" cy="822960"/>
          </a:xfrm>
          <a:prstGeom prst="rect">
            <a:avLst/>
          </a:prstGeom>
          <a:noFill/>
          <a:ln/>
        </p:spPr>
        <p:txBody>
          <a:bodyPr wrap="square" lIns="0" tIns="0" rIns="0" bIns="0" rtlCol="0" anchor="ctr"/>
          <a:lstStyle/>
          <a:p>
            <a:pPr marL="0" indent="0">
              <a:spcAft>
                <a:spcPts val="200"/>
              </a:spcAft>
              <a:buNone/>
            </a:pPr>
            <a:r>
              <a:rPr lang="en-US" sz="900" dirty="0">
                <a:solidFill>
                  <a:srgbClr val="334155"/>
                </a:solidFill>
                <a:latin typeface="Calibri" pitchFamily="34" charset="0"/>
                <a:ea typeface="Calibri" pitchFamily="34" charset="-122"/>
                <a:cs typeface="Calibri" pitchFamily="34" charset="-120"/>
              </a:rPr>
              <a:t>1. Table QR Scan: Diner scans tabletop QR code (`/?table=1`) to launch PWA with active session context.</a:t>
            </a:r>
            <a:endParaRPr lang="en-US" sz="850" dirty="0"/>
          </a:p>
          <a:p>
            <a:pPr marL="0" indent="0">
              <a:spcAft>
                <a:spcPts val="200"/>
              </a:spcAft>
              <a:buNone/>
            </a:pPr>
            <a:r>
              <a:rPr lang="en-US" sz="900" dirty="0">
                <a:solidFill>
                  <a:srgbClr val="334155"/>
                </a:solidFill>
                <a:latin typeface="Calibri" pitchFamily="34" charset="0"/>
                <a:ea typeface="Calibri" pitchFamily="34" charset="-122"/>
                <a:cs typeface="Calibri" pitchFamily="34" charset="-120"/>
              </a:rPr>
              <a:t>2. Menu Exploration: Filters dishes by dietary tags (Veg, Gluten-Free) and reviews calories/ingredients.</a:t>
            </a:r>
            <a:endParaRPr lang="en-US" sz="850" dirty="0"/>
          </a:p>
          <a:p>
            <a:pPr marL="0" indent="0">
              <a:spcAft>
                <a:spcPts val="200"/>
              </a:spcAft>
              <a:buNone/>
            </a:pPr>
            <a:r>
              <a:rPr lang="en-US" sz="900" dirty="0">
                <a:solidFill>
                  <a:srgbClr val="334155"/>
                </a:solidFill>
                <a:latin typeface="Calibri" pitchFamily="34" charset="0"/>
                <a:ea typeface="Calibri" pitchFamily="34" charset="-122"/>
                <a:cs typeface="Calibri" pitchFamily="34" charset="-120"/>
              </a:rPr>
              <a:t>3. Spatial AR Placement: Taps "View in 3D" -&gt; WebXR detects table plane and anchors 1:1 scale dish model.</a:t>
            </a:r>
            <a:endParaRPr lang="en-US" sz="850" dirty="0"/>
          </a:p>
          <a:p>
            <a:pPr marL="0" indent="0">
              <a:spcAft>
                <a:spcPts val="200"/>
              </a:spcAft>
              <a:buNone/>
            </a:pPr>
            <a:r>
              <a:rPr lang="en-US" sz="900" dirty="0">
                <a:solidFill>
                  <a:srgbClr val="334155"/>
                </a:solidFill>
                <a:latin typeface="Calibri" pitchFamily="34" charset="0"/>
                <a:ea typeface="Calibri" pitchFamily="34" charset="-122"/>
                <a:cs typeface="Calibri" pitchFamily="34" charset="-120"/>
              </a:rPr>
              <a:t>4. Customization &amp; Cart: Diner inspects portion size, rotates model 360°, adds cooking notes, and places order.</a:t>
            </a:r>
            <a:endParaRPr lang="en-US" sz="850" dirty="0"/>
          </a:p>
          <a:p>
            <a:pPr marL="0" indent="0">
              <a:spcAft>
                <a:spcPts val="200"/>
              </a:spcAft>
              <a:buNone/>
            </a:pPr>
            <a:r>
              <a:rPr lang="en-US" sz="900" dirty="0">
                <a:solidFill>
                  <a:srgbClr val="334155"/>
                </a:solidFill>
                <a:latin typeface="Calibri" pitchFamily="34" charset="0"/>
                <a:ea typeface="Calibri" pitchFamily="34" charset="-122"/>
                <a:cs typeface="Calibri" pitchFamily="34" charset="-120"/>
              </a:rPr>
              <a:t>5. Instant Kitchen Dispatch: KDS receives ticket with audio chime; chef marks status to "Preparing".</a:t>
            </a:r>
            <a:endParaRPr lang="en-US" sz="850" dirty="0"/>
          </a:p>
          <a:p>
            <a:pPr marL="0" indent="0">
              <a:spcAft>
                <a:spcPts val="200"/>
              </a:spcAft>
              <a:buNone/>
            </a:pPr>
            <a:r>
              <a:rPr lang="en-US" sz="900" dirty="0">
                <a:solidFill>
                  <a:srgbClr val="334155"/>
                </a:solidFill>
                <a:latin typeface="Calibri" pitchFamily="34" charset="0"/>
                <a:ea typeface="Calibri" pitchFamily="34" charset="-122"/>
                <a:cs typeface="Calibri" pitchFamily="34" charset="-120"/>
              </a:rPr>
              <a:t>6. Plating &amp; Fulfillment: Chef advances ticket to "Ready" and "Delivered" upon table delivery.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Testing Methodology, Test Matrix &amp; Verification</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Rubric Criterion 8 (5 Marks)</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2455816"/>
        </p:xfrm>
        <a:graphic>
          <a:graphicData uri="http://schemas.openxmlformats.org/drawingml/2006/table">
            <a:tbl>
              <a:tblPr/>
              <a:tblGrid>
                <a:gridCol w="1341120">
                  <a:extLst>
                    <a:ext uri="{9D8B030D-6E8A-4147-A177-3AD203B41FA5}">
                      <a16:colId xmlns:a16="http://schemas.microsoft.com/office/drawing/2014/main" val="20000"/>
                    </a:ext>
                  </a:extLst>
                </a:gridCol>
                <a:gridCol w="1341120">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gridCol w="1341120">
                  <a:extLst>
                    <a:ext uri="{9D8B030D-6E8A-4147-A177-3AD203B41FA5}">
                      <a16:colId xmlns:a16="http://schemas.microsoft.com/office/drawing/2014/main" val="20003"/>
                    </a:ext>
                  </a:extLst>
                </a:gridCol>
                <a:gridCol w="1341120">
                  <a:extLst>
                    <a:ext uri="{9D8B030D-6E8A-4147-A177-3AD203B41FA5}">
                      <a16:colId xmlns:a16="http://schemas.microsoft.com/office/drawing/2014/main" val="20004"/>
                    </a:ext>
                  </a:extLst>
                </a:gridCol>
                <a:gridCol w="1341120">
                  <a:extLst>
                    <a:ext uri="{9D8B030D-6E8A-4147-A177-3AD203B41FA5}">
                      <a16:colId xmlns:a16="http://schemas.microsoft.com/office/drawing/2014/main" val="20005"/>
                    </a:ext>
                  </a:extLst>
                </a:gridCol>
              </a:tblGrid>
              <a:tr h="339634">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Test ID</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Test Scenario</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Input Condition</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Expected Outcome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Actual Result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Status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8A"/>
                    </a:solidFill>
                  </a:tcPr>
                </a:tc>
                <a:extLst>
                  <a:ext uri="{0D108BD9-81ED-4DB2-BD59-A6C34878D82A}">
                    <a16:rowId xmlns:a16="http://schemas.microsoft.com/office/drawing/2014/main" val="10000"/>
                  </a:ext>
                </a:extLst>
              </a:tr>
              <a:tr h="339634">
                <a:tc>
                  <a:txBody>
                    <a:bodyPr/>
                    <a:lstStyle/>
                    <a:p>
                      <a:pPr marL="0" indent="0" algn="ctr">
                        <a:buNone/>
                      </a:pPr>
                      <a:r>
                        <a:rPr lang="en-US" sz="900" b="1" dirty="0">
                          <a:solidFill>
                            <a:srgbClr val="0F172A"/>
                          </a:solidFill>
                          <a:latin typeface="Calibri" pitchFamily="34" charset="0"/>
                          <a:ea typeface="Calibri" pitchFamily="34" charset="-122"/>
                          <a:cs typeface="Calibri" pitchFamily="34" charset="-120"/>
                        </a:rPr>
                        <a:t>TC-01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Table QR Session Init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Load `/?table=3`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Set tableId=3 in Cart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Cart bound to Table 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9634">
                <a:tc>
                  <a:txBody>
                    <a:bodyPr/>
                    <a:lstStyle/>
                    <a:p>
                      <a:pPr marL="0" indent="0" algn="ctr">
                        <a:buNone/>
                      </a:pPr>
                      <a:r>
                        <a:rPr lang="en-US" sz="900" b="1" dirty="0">
                          <a:solidFill>
                            <a:srgbClr val="0F172A"/>
                          </a:solidFill>
                          <a:latin typeface="Calibri" pitchFamily="34" charset="0"/>
                          <a:ea typeface="Calibri" pitchFamily="34" charset="-122"/>
                          <a:cs typeface="Calibri" pitchFamily="34" charset="-120"/>
                        </a:rPr>
                        <a:t>TC-02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WebXR Table Hit-Test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Aim at flat dining table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Reticle locks to plane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Stable plane detected</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39634">
                <a:tc>
                  <a:txBody>
                    <a:bodyPr/>
                    <a:lstStyle/>
                    <a:p>
                      <a:pPr marL="0" indent="0" algn="ctr">
                        <a:buNone/>
                      </a:pPr>
                      <a:r>
                        <a:rPr lang="en-US" sz="900" b="1" dirty="0">
                          <a:solidFill>
                            <a:srgbClr val="0F172A"/>
                          </a:solidFill>
                          <a:latin typeface="Calibri" pitchFamily="34" charset="0"/>
                          <a:ea typeface="Calibri" pitchFamily="34" charset="-122"/>
                          <a:cs typeface="Calibri" pitchFamily="34" charset="-120"/>
                        </a:rPr>
                        <a:t>TC-03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Scene Viewer Fallback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Launch on Android Chrome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Trigger AR intent URL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ARCore renders model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9634">
                <a:tc>
                  <a:txBody>
                    <a:bodyPr/>
                    <a:lstStyle/>
                    <a:p>
                      <a:pPr marL="0" indent="0" algn="ctr">
                        <a:buNone/>
                      </a:pPr>
                      <a:r>
                        <a:rPr lang="en-US" sz="900" b="1" dirty="0">
                          <a:solidFill>
                            <a:srgbClr val="0F172A"/>
                          </a:solidFill>
                          <a:latin typeface="Calibri" pitchFamily="34" charset="0"/>
                          <a:ea typeface="Calibri" pitchFamily="34" charset="-122"/>
                          <a:cs typeface="Calibri" pitchFamily="34" charset="-120"/>
                        </a:rPr>
                        <a:t>TC-04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glTF 3D Asset Latency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Fetch `burger.glb` (5.3MB)</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Download in &lt;2.5s over 4G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Downloaded in 1.8s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39634">
                <a:tc>
                  <a:txBody>
                    <a:bodyPr/>
                    <a:lstStyle/>
                    <a:p>
                      <a:pPr marL="0" indent="0" algn="ctr">
                        <a:buNone/>
                      </a:pPr>
                      <a:r>
                        <a:rPr lang="en-US" sz="900" b="1" dirty="0">
                          <a:solidFill>
                            <a:srgbClr val="0F172A"/>
                          </a:solidFill>
                          <a:latin typeface="Calibri" pitchFamily="34" charset="0"/>
                          <a:ea typeface="Calibri" pitchFamily="34" charset="-122"/>
                          <a:cs typeface="Calibri" pitchFamily="34" charset="-120"/>
                        </a:rPr>
                        <a:t>TC-05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Real-Time KDS Sync</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Submit customer order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Ticket lands with audio</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Instant ticket + chime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9634">
                <a:tc>
                  <a:txBody>
                    <a:bodyPr/>
                    <a:lstStyle/>
                    <a:p>
                      <a:pPr marL="0" indent="0" algn="ctr">
                        <a:buNone/>
                      </a:pPr>
                      <a:r>
                        <a:rPr lang="en-US" sz="900" b="1" dirty="0">
                          <a:solidFill>
                            <a:srgbClr val="0F172A"/>
                          </a:solidFill>
                          <a:latin typeface="Calibri" pitchFamily="34" charset="0"/>
                          <a:ea typeface="Calibri" pitchFamily="34" charset="-122"/>
                          <a:cs typeface="Calibri" pitchFamily="34" charset="-120"/>
                        </a:rPr>
                        <a:t>TC-06</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Cross-Device Responsiveness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iPhone 13, Galaxy S22, Pixel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Zero UI overlap/cutoff</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dirty="0">
                          <a:solidFill>
                            <a:srgbClr val="334155"/>
                          </a:solidFill>
                          <a:latin typeface="Calibri" pitchFamily="34" charset="0"/>
                          <a:ea typeface="Calibri" pitchFamily="34" charset="-122"/>
                          <a:cs typeface="Calibri" pitchFamily="34" charset="-120"/>
                        </a:rPr>
                        <a:t>Clean mobile layout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059669"/>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bl>
          </a:graphicData>
        </a:graphic>
      </p:graphicFrame>
      <p:sp>
        <p:nvSpPr>
          <p:cNvPr id="8" name="Shape 4"/>
          <p:cNvSpPr/>
          <p:nvPr/>
        </p:nvSpPr>
        <p:spPr>
          <a:xfrm>
            <a:off x="548640" y="3703320"/>
            <a:ext cx="8046720" cy="960120"/>
          </a:xfrm>
          <a:prstGeom prst="roundRect">
            <a:avLst>
              <a:gd name="adj" fmla="val 7619"/>
            </a:avLst>
          </a:prstGeom>
          <a:solidFill>
            <a:srgbClr val="F8FAFC"/>
          </a:solidFill>
          <a:ln w="12700">
            <a:solidFill>
              <a:srgbClr val="E2E8F0"/>
            </a:solidFill>
            <a:prstDash val="solid"/>
          </a:ln>
        </p:spPr>
      </p:sp>
      <p:sp>
        <p:nvSpPr>
          <p:cNvPr id="9" name="Text 5"/>
          <p:cNvSpPr/>
          <p:nvPr/>
        </p:nvSpPr>
        <p:spPr>
          <a:xfrm>
            <a:off x="731520" y="3794760"/>
            <a:ext cx="7680960" cy="182880"/>
          </a:xfrm>
          <a:prstGeom prst="rect">
            <a:avLst/>
          </a:prstGeom>
          <a:noFill/>
          <a:ln/>
        </p:spPr>
        <p:txBody>
          <a:bodyPr wrap="square" lIns="0" tIns="0" rIns="0" bIns="0" rtlCol="0" anchor="ctr"/>
          <a:lstStyle/>
          <a:p>
            <a:pPr marL="0" indent="0">
              <a:buNone/>
            </a:pPr>
            <a:r>
              <a:rPr lang="en-US" sz="950" b="1" dirty="0">
                <a:latin typeface="Calibri" pitchFamily="34" charset="0"/>
                <a:ea typeface="Calibri" pitchFamily="34" charset="-122"/>
                <a:cs typeface="Calibri" pitchFamily="34" charset="-120"/>
              </a:rPr>
              <a:t>TESTING METHODOLOGY &amp; VERIFICATION SUMMARY</a:t>
            </a:r>
            <a:endParaRPr lang="en-US" sz="950" dirty="0"/>
          </a:p>
        </p:txBody>
      </p:sp>
      <p:sp>
        <p:nvSpPr>
          <p:cNvPr id="10" name="Text 6"/>
          <p:cNvSpPr/>
          <p:nvPr/>
        </p:nvSpPr>
        <p:spPr>
          <a:xfrm>
            <a:off x="731520" y="4005072"/>
            <a:ext cx="7680960" cy="594360"/>
          </a:xfrm>
          <a:prstGeom prst="rect">
            <a:avLst/>
          </a:prstGeom>
          <a:noFill/>
          <a:ln/>
        </p:spPr>
        <p:txBody>
          <a:bodyPr wrap="square" lIns="0" tIns="0" rIns="0" bIns="0" rtlCol="0" anchor="ctr"/>
          <a:lstStyle/>
          <a:p>
            <a:pPr marL="342900" indent="-342900">
              <a:spcAft>
                <a:spcPts val="200"/>
              </a:spcAft>
              <a:buSzPct val="100000"/>
              <a:buChar char="•"/>
            </a:pPr>
            <a:r>
              <a:rPr lang="en-US" sz="880" dirty="0">
                <a:latin typeface="Calibri" pitchFamily="34" charset="0"/>
                <a:ea typeface="Calibri" pitchFamily="34" charset="-122"/>
                <a:cs typeface="Calibri" pitchFamily="34" charset="-120"/>
              </a:rPr>
              <a:t>Functional &amp; Unit Testing: Verified state reducers, cart calculations, table ID parsing, and dietary filter predicates.</a:t>
            </a:r>
            <a:endParaRPr lang="en-US" sz="880" dirty="0"/>
          </a:p>
          <a:p>
            <a:pPr marL="342900" indent="-342900">
              <a:spcAft>
                <a:spcPts val="200"/>
              </a:spcAft>
              <a:buSzPct val="100000"/>
              <a:buChar char="•"/>
            </a:pPr>
            <a:r>
              <a:rPr lang="en-US" sz="880" dirty="0">
                <a:latin typeface="Calibri" pitchFamily="34" charset="0"/>
                <a:ea typeface="Calibri" pitchFamily="34" charset="-122"/>
                <a:cs typeface="Calibri" pitchFamily="34" charset="-120"/>
              </a:rPr>
              <a:t>Integration &amp; AR Pipeline Testing: Validated WebXR session lifecycles, surface plane anchoring stability, and audio dispatch.</a:t>
            </a:r>
            <a:endParaRPr lang="en-US" sz="880" dirty="0"/>
          </a:p>
          <a:p>
            <a:pPr marL="342900" indent="-342900">
              <a:spcAft>
                <a:spcPts val="200"/>
              </a:spcAft>
              <a:buSzPct val="100000"/>
              <a:buChar char="•"/>
            </a:pPr>
            <a:r>
              <a:rPr lang="en-US" sz="880" dirty="0">
                <a:latin typeface="Calibri" pitchFamily="34" charset="0"/>
                <a:ea typeface="Calibri" pitchFamily="34" charset="-122"/>
                <a:cs typeface="Calibri" pitchFamily="34" charset="-120"/>
              </a:rPr>
              <a:t>Cross-Browser Validation: Verified compatibility across Chrome 120+, Samsung Internet, Safari iOS 17, and Edge with 100% pass rate.</a:t>
            </a:r>
            <a:endParaRPr lang="en-US" sz="8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Quantitative Performance Benchmarks &amp; Results</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Experimental Results</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graphicFrame>
        <p:nvGraphicFramePr>
          <p:cNvPr id="7" name="Chart 0"/>
          <p:cNvGraphicFramePr/>
          <p:nvPr/>
        </p:nvGraphicFramePr>
        <p:xfrm>
          <a:off x="548640" y="1188720"/>
          <a:ext cx="438912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5120640" y="1188720"/>
            <a:ext cx="3474720" cy="749808"/>
          </a:xfrm>
          <a:prstGeom prst="roundRect">
            <a:avLst>
              <a:gd name="adj" fmla="val 9756"/>
            </a:avLst>
          </a:prstGeom>
          <a:solidFill>
            <a:srgbClr val="F8FAFC"/>
          </a:solidFill>
          <a:ln w="12700">
            <a:solidFill>
              <a:srgbClr val="E2E8F0"/>
            </a:solidFill>
            <a:prstDash val="solid"/>
          </a:ln>
        </p:spPr>
      </p:sp>
      <p:sp>
        <p:nvSpPr>
          <p:cNvPr id="9" name="Text 5"/>
          <p:cNvSpPr/>
          <p:nvPr/>
        </p:nvSpPr>
        <p:spPr>
          <a:xfrm>
            <a:off x="5303520" y="1280160"/>
            <a:ext cx="2011680" cy="182880"/>
          </a:xfrm>
          <a:prstGeom prst="rect">
            <a:avLst/>
          </a:prstGeom>
          <a:noFill/>
          <a:ln/>
        </p:spPr>
        <p:txBody>
          <a:bodyPr wrap="square" lIns="0" tIns="0" rIns="0" bIns="0" rtlCol="0" anchor="ctr"/>
          <a:lstStyle/>
          <a:p>
            <a:pPr marL="0" indent="0">
              <a:buNone/>
            </a:pPr>
            <a:r>
              <a:rPr lang="en-US" sz="900" b="1" dirty="0">
                <a:solidFill>
                  <a:srgbClr val="2563EB"/>
                </a:solidFill>
                <a:latin typeface="Calibri" pitchFamily="34" charset="0"/>
                <a:ea typeface="Calibri" pitchFamily="34" charset="-122"/>
                <a:cs typeface="Calibri" pitchFamily="34" charset="-120"/>
              </a:rPr>
              <a:t>Mobile Load Latency</a:t>
            </a:r>
            <a:endParaRPr lang="en-US" sz="900" dirty="0"/>
          </a:p>
        </p:txBody>
      </p:sp>
      <p:sp>
        <p:nvSpPr>
          <p:cNvPr id="10" name="Text 6"/>
          <p:cNvSpPr/>
          <p:nvPr/>
        </p:nvSpPr>
        <p:spPr>
          <a:xfrm>
            <a:off x="7132320" y="1261872"/>
            <a:ext cx="1280160" cy="228600"/>
          </a:xfrm>
          <a:prstGeom prst="rect">
            <a:avLst/>
          </a:prstGeom>
          <a:noFill/>
          <a:ln/>
        </p:spPr>
        <p:txBody>
          <a:bodyPr wrap="square" lIns="0" tIns="0" rIns="0" bIns="0" rtlCol="0" anchor="ctr"/>
          <a:lstStyle/>
          <a:p>
            <a:pPr marL="0" indent="0" algn="r">
              <a:buNone/>
            </a:pPr>
            <a:r>
              <a:rPr lang="en-US" sz="1100" b="1" dirty="0">
                <a:solidFill>
                  <a:srgbClr val="0F172A"/>
                </a:solidFill>
                <a:latin typeface="Cambria" pitchFamily="34" charset="0"/>
                <a:ea typeface="Cambria" pitchFamily="34" charset="-122"/>
                <a:cs typeface="Cambria" pitchFamily="34" charset="-120"/>
              </a:rPr>
              <a:t>1.8 Seconds</a:t>
            </a:r>
            <a:endParaRPr lang="en-US" sz="1100" dirty="0"/>
          </a:p>
        </p:txBody>
      </p:sp>
      <p:sp>
        <p:nvSpPr>
          <p:cNvPr id="11" name="Text 7"/>
          <p:cNvSpPr/>
          <p:nvPr/>
        </p:nvSpPr>
        <p:spPr>
          <a:xfrm>
            <a:off x="5303520" y="1508760"/>
            <a:ext cx="3108960" cy="36576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Reduced from 14.2s (87% faster download) over 4G LTE mobile connections.</a:t>
            </a:r>
            <a:endParaRPr lang="en-US" sz="850" dirty="0"/>
          </a:p>
        </p:txBody>
      </p:sp>
      <p:sp>
        <p:nvSpPr>
          <p:cNvPr id="12" name="Shape 8"/>
          <p:cNvSpPr/>
          <p:nvPr/>
        </p:nvSpPr>
        <p:spPr>
          <a:xfrm>
            <a:off x="5120640" y="2029968"/>
            <a:ext cx="3474720" cy="749808"/>
          </a:xfrm>
          <a:prstGeom prst="roundRect">
            <a:avLst>
              <a:gd name="adj" fmla="val 9756"/>
            </a:avLst>
          </a:prstGeom>
          <a:solidFill>
            <a:srgbClr val="F8FAFC"/>
          </a:solidFill>
          <a:ln w="12700">
            <a:solidFill>
              <a:srgbClr val="E2E8F0"/>
            </a:solidFill>
            <a:prstDash val="solid"/>
          </a:ln>
        </p:spPr>
      </p:sp>
      <p:sp>
        <p:nvSpPr>
          <p:cNvPr id="13" name="Text 9"/>
          <p:cNvSpPr/>
          <p:nvPr/>
        </p:nvSpPr>
        <p:spPr>
          <a:xfrm>
            <a:off x="5303520" y="2121408"/>
            <a:ext cx="2011680" cy="18288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Sustained Frame Rate</a:t>
            </a:r>
            <a:endParaRPr lang="en-US" sz="900" dirty="0"/>
          </a:p>
        </p:txBody>
      </p:sp>
      <p:sp>
        <p:nvSpPr>
          <p:cNvPr id="14" name="Text 10"/>
          <p:cNvSpPr/>
          <p:nvPr/>
        </p:nvSpPr>
        <p:spPr>
          <a:xfrm>
            <a:off x="7132320" y="2103120"/>
            <a:ext cx="1280160" cy="228600"/>
          </a:xfrm>
          <a:prstGeom prst="rect">
            <a:avLst/>
          </a:prstGeom>
          <a:noFill/>
          <a:ln/>
        </p:spPr>
        <p:txBody>
          <a:bodyPr wrap="square" lIns="0" tIns="0" rIns="0" bIns="0" rtlCol="0" anchor="ctr"/>
          <a:lstStyle/>
          <a:p>
            <a:pPr marL="0" indent="0" algn="r">
              <a:buNone/>
            </a:pPr>
            <a:r>
              <a:rPr lang="en-US" sz="1100" b="1" dirty="0">
                <a:solidFill>
                  <a:srgbClr val="0F172A"/>
                </a:solidFill>
                <a:latin typeface="Cambria" pitchFamily="34" charset="0"/>
                <a:ea typeface="Cambria" pitchFamily="34" charset="-122"/>
                <a:cs typeface="Cambria" pitchFamily="34" charset="-120"/>
              </a:rPr>
              <a:t>58 – 60 FPS</a:t>
            </a:r>
            <a:endParaRPr lang="en-US" sz="1100" dirty="0"/>
          </a:p>
        </p:txBody>
      </p:sp>
      <p:sp>
        <p:nvSpPr>
          <p:cNvPr id="15" name="Text 11"/>
          <p:cNvSpPr/>
          <p:nvPr/>
        </p:nvSpPr>
        <p:spPr>
          <a:xfrm>
            <a:off x="5303520" y="2350008"/>
            <a:ext cx="3108960" cy="36576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Fluid 60 FPS WebGL rendering on mid-range devices with zero thermal throttling.</a:t>
            </a:r>
            <a:endParaRPr lang="en-US" sz="850" dirty="0"/>
          </a:p>
        </p:txBody>
      </p:sp>
      <p:sp>
        <p:nvSpPr>
          <p:cNvPr id="16" name="Shape 12"/>
          <p:cNvSpPr/>
          <p:nvPr/>
        </p:nvSpPr>
        <p:spPr>
          <a:xfrm>
            <a:off x="5120640" y="2871216"/>
            <a:ext cx="3474720" cy="749808"/>
          </a:xfrm>
          <a:prstGeom prst="roundRect">
            <a:avLst>
              <a:gd name="adj" fmla="val 9756"/>
            </a:avLst>
          </a:prstGeom>
          <a:solidFill>
            <a:srgbClr val="F8FAFC"/>
          </a:solidFill>
          <a:ln w="12700">
            <a:solidFill>
              <a:srgbClr val="E2E8F0"/>
            </a:solidFill>
            <a:prstDash val="solid"/>
          </a:ln>
        </p:spPr>
      </p:sp>
      <p:sp>
        <p:nvSpPr>
          <p:cNvPr id="17" name="Text 13"/>
          <p:cNvSpPr/>
          <p:nvPr/>
        </p:nvSpPr>
        <p:spPr>
          <a:xfrm>
            <a:off x="5303520" y="2962656"/>
            <a:ext cx="2011680" cy="182880"/>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Peak Memory Footprint</a:t>
            </a:r>
            <a:endParaRPr lang="en-US" sz="900" dirty="0"/>
          </a:p>
        </p:txBody>
      </p:sp>
      <p:sp>
        <p:nvSpPr>
          <p:cNvPr id="18" name="Text 14"/>
          <p:cNvSpPr/>
          <p:nvPr/>
        </p:nvSpPr>
        <p:spPr>
          <a:xfrm>
            <a:off x="7132320" y="2944368"/>
            <a:ext cx="1280160" cy="228600"/>
          </a:xfrm>
          <a:prstGeom prst="rect">
            <a:avLst/>
          </a:prstGeom>
          <a:noFill/>
          <a:ln/>
        </p:spPr>
        <p:txBody>
          <a:bodyPr wrap="square" lIns="0" tIns="0" rIns="0" bIns="0" rtlCol="0" anchor="ctr"/>
          <a:lstStyle/>
          <a:p>
            <a:pPr marL="0" indent="0" algn="r">
              <a:buNone/>
            </a:pPr>
            <a:r>
              <a:rPr lang="en-US" sz="1100" b="1" dirty="0">
                <a:solidFill>
                  <a:srgbClr val="0F172A"/>
                </a:solidFill>
                <a:latin typeface="Cambria" pitchFamily="34" charset="0"/>
                <a:ea typeface="Cambria" pitchFamily="34" charset="-122"/>
                <a:cs typeface="Cambria" pitchFamily="34" charset="-120"/>
              </a:rPr>
              <a:t>110 MB Heap</a:t>
            </a:r>
            <a:endParaRPr lang="en-US" sz="1100" dirty="0"/>
          </a:p>
        </p:txBody>
      </p:sp>
      <p:sp>
        <p:nvSpPr>
          <p:cNvPr id="19" name="Text 15"/>
          <p:cNvSpPr/>
          <p:nvPr/>
        </p:nvSpPr>
        <p:spPr>
          <a:xfrm>
            <a:off x="5303520" y="3191256"/>
            <a:ext cx="3108960" cy="36576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Reduced from 380MB JS heap allocation, completely eliminating mobile OOM crashes.</a:t>
            </a:r>
            <a:endParaRPr lang="en-US" sz="850" dirty="0"/>
          </a:p>
        </p:txBody>
      </p:sp>
      <p:sp>
        <p:nvSpPr>
          <p:cNvPr id="20" name="Shape 16"/>
          <p:cNvSpPr/>
          <p:nvPr/>
        </p:nvSpPr>
        <p:spPr>
          <a:xfrm>
            <a:off x="5120640" y="3712464"/>
            <a:ext cx="3474720" cy="749808"/>
          </a:xfrm>
          <a:prstGeom prst="roundRect">
            <a:avLst>
              <a:gd name="adj" fmla="val 9756"/>
            </a:avLst>
          </a:prstGeom>
          <a:solidFill>
            <a:srgbClr val="F8FAFC"/>
          </a:solidFill>
          <a:ln w="12700">
            <a:solidFill>
              <a:srgbClr val="E2E8F0"/>
            </a:solidFill>
            <a:prstDash val="solid"/>
          </a:ln>
        </p:spPr>
      </p:sp>
      <p:sp>
        <p:nvSpPr>
          <p:cNvPr id="21" name="Text 17"/>
          <p:cNvSpPr/>
          <p:nvPr/>
        </p:nvSpPr>
        <p:spPr>
          <a:xfrm>
            <a:off x="5303520" y="3803904"/>
            <a:ext cx="2011680" cy="182880"/>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User Ordering Confidence</a:t>
            </a:r>
            <a:endParaRPr lang="en-US" sz="900" dirty="0"/>
          </a:p>
        </p:txBody>
      </p:sp>
      <p:sp>
        <p:nvSpPr>
          <p:cNvPr id="22" name="Text 18"/>
          <p:cNvSpPr/>
          <p:nvPr/>
        </p:nvSpPr>
        <p:spPr>
          <a:xfrm>
            <a:off x="7132320" y="3785616"/>
            <a:ext cx="1280160" cy="228600"/>
          </a:xfrm>
          <a:prstGeom prst="rect">
            <a:avLst/>
          </a:prstGeom>
          <a:noFill/>
          <a:ln/>
        </p:spPr>
        <p:txBody>
          <a:bodyPr wrap="square" lIns="0" tIns="0" rIns="0" bIns="0" rtlCol="0" anchor="ctr"/>
          <a:lstStyle/>
          <a:p>
            <a:pPr marL="0" indent="0" algn="r">
              <a:buNone/>
            </a:pPr>
            <a:r>
              <a:rPr lang="en-US" sz="1100" b="1" dirty="0">
                <a:solidFill>
                  <a:srgbClr val="0F172A"/>
                </a:solidFill>
                <a:latin typeface="Cambria" pitchFamily="34" charset="0"/>
                <a:ea typeface="Cambria" pitchFamily="34" charset="-122"/>
                <a:cs typeface="Cambria" pitchFamily="34" charset="-120"/>
              </a:rPr>
              <a:t>89.4% Rating</a:t>
            </a:r>
            <a:endParaRPr lang="en-US" sz="1100" dirty="0"/>
          </a:p>
        </p:txBody>
      </p:sp>
      <p:sp>
        <p:nvSpPr>
          <p:cNvPr id="23" name="Text 19"/>
          <p:cNvSpPr/>
          <p:nvPr/>
        </p:nvSpPr>
        <p:spPr>
          <a:xfrm>
            <a:off x="5303520" y="4032504"/>
            <a:ext cx="3108960" cy="36576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Patrons reported higher portion certainty and reduced hesitation during menu selection.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Research Paper: Academic Contribution &amp; Status</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Rubric Criterion 9 (20 Marks)</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8046720" cy="868680"/>
          </a:xfrm>
          <a:prstGeom prst="roundRect">
            <a:avLst>
              <a:gd name="adj" fmla="val 8421"/>
            </a:avLst>
          </a:prstGeom>
          <a:solidFill>
            <a:srgbClr val="EFF6FF"/>
          </a:solidFill>
          <a:ln w="12700">
            <a:solidFill>
              <a:srgbClr val="BFDBFE"/>
            </a:solidFill>
            <a:prstDash val="solid"/>
          </a:ln>
        </p:spPr>
      </p:sp>
      <p:sp>
        <p:nvSpPr>
          <p:cNvPr id="8" name="Text 5"/>
          <p:cNvSpPr/>
          <p:nvPr/>
        </p:nvSpPr>
        <p:spPr>
          <a:xfrm>
            <a:off x="731520" y="1280160"/>
            <a:ext cx="7680960" cy="182880"/>
          </a:xfrm>
          <a:prstGeom prst="rect">
            <a:avLst/>
          </a:prstGeom>
          <a:noFill/>
          <a:ln/>
        </p:spPr>
        <p:txBody>
          <a:bodyPr wrap="square" lIns="0" tIns="0" rIns="0" bIns="0" rtlCol="0" anchor="ctr"/>
          <a:lstStyle/>
          <a:p>
            <a:pPr marL="0" indent="0">
              <a:buNone/>
            </a:pPr>
            <a:r>
              <a:rPr lang="en-US" sz="900" b="1" dirty="0">
                <a:latin typeface="Calibri" pitchFamily="34" charset="0"/>
                <a:ea typeface="Calibri" pitchFamily="34" charset="-122"/>
                <a:cs typeface="Calibri" pitchFamily="34" charset="-120"/>
              </a:rPr>
              <a:t>RESEARCH PAPER TITLE &amp; CITATION</a:t>
            </a:r>
            <a:endParaRPr lang="en-US" sz="900" dirty="0"/>
          </a:p>
        </p:txBody>
      </p:sp>
      <p:sp>
        <p:nvSpPr>
          <p:cNvPr id="9" name="Text 6"/>
          <p:cNvSpPr/>
          <p:nvPr/>
        </p:nvSpPr>
        <p:spPr>
          <a:xfrm>
            <a:off x="731520" y="1463040"/>
            <a:ext cx="7680960" cy="32004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A Zero-Install WebXR and Cloud-Assisted Spatial Computing Architecture for Contactless Smart Restaurant Menus</a:t>
            </a:r>
            <a:endParaRPr lang="en-US" sz="1300" dirty="0"/>
          </a:p>
        </p:txBody>
      </p:sp>
      <p:sp>
        <p:nvSpPr>
          <p:cNvPr id="10" name="Text 7"/>
          <p:cNvSpPr/>
          <p:nvPr/>
        </p:nvSpPr>
        <p:spPr>
          <a:xfrm>
            <a:off x="731520" y="1783080"/>
            <a:ext cx="7680960" cy="201168"/>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Authors: Manav Singh, Sanskar Suryavanshi, Kesar Singh  |  Guide: Prof. Vinitta Sunish  |  TCET Mumbai</a:t>
            </a:r>
            <a:endParaRPr lang="en-US" sz="950" dirty="0"/>
          </a:p>
        </p:txBody>
      </p:sp>
      <p:sp>
        <p:nvSpPr>
          <p:cNvPr id="11" name="Shape 8"/>
          <p:cNvSpPr/>
          <p:nvPr/>
        </p:nvSpPr>
        <p:spPr>
          <a:xfrm>
            <a:off x="548640" y="2194560"/>
            <a:ext cx="2560320" cy="2423160"/>
          </a:xfrm>
          <a:prstGeom prst="roundRect">
            <a:avLst>
              <a:gd name="adj" fmla="val 3019"/>
            </a:avLst>
          </a:prstGeom>
          <a:solidFill>
            <a:srgbClr val="F8FAFC"/>
          </a:solidFill>
          <a:ln w="12700">
            <a:solidFill>
              <a:srgbClr val="E2E8F0"/>
            </a:solidFill>
            <a:prstDash val="solid"/>
          </a:ln>
        </p:spPr>
      </p:sp>
      <p:sp>
        <p:nvSpPr>
          <p:cNvPr id="12" name="Text 9"/>
          <p:cNvSpPr/>
          <p:nvPr/>
        </p:nvSpPr>
        <p:spPr>
          <a:xfrm>
            <a:off x="731520" y="2377440"/>
            <a:ext cx="2194560" cy="32004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Methodology &amp; Spatial Pipeline</a:t>
            </a:r>
            <a:endParaRPr lang="en-US" sz="1200" dirty="0"/>
          </a:p>
        </p:txBody>
      </p:sp>
      <p:sp>
        <p:nvSpPr>
          <p:cNvPr id="13" name="Text 10"/>
          <p:cNvSpPr/>
          <p:nvPr/>
        </p:nvSpPr>
        <p:spPr>
          <a:xfrm>
            <a:off x="731520" y="2788920"/>
            <a:ext cx="2194560" cy="1645920"/>
          </a:xfrm>
          <a:prstGeom prst="rect">
            <a:avLst/>
          </a:prstGeom>
          <a:noFill/>
          <a:ln/>
        </p:spPr>
        <p:txBody>
          <a:bodyPr wrap="square" lIns="0" tIns="0" rIns="0" bIns="0" rtlCol="0" anchor="ctr"/>
          <a:lstStyle/>
          <a:p>
            <a:pPr marL="342900" indent="-342900">
              <a:spcAft>
                <a:spcPts val="400"/>
              </a:spcAft>
              <a:buSzPct val="100000"/>
              <a:buChar char="•"/>
            </a:pPr>
            <a:r>
              <a:rPr lang="en-US" sz="950" dirty="0">
                <a:latin typeface="Calibri" pitchFamily="34" charset="0"/>
                <a:ea typeface="Calibri" pitchFamily="34" charset="-122"/>
                <a:cs typeface="Calibri" pitchFamily="34" charset="-120"/>
              </a:rPr>
              <a:t>Formulated mathematical ray-plane intersection model using WebXR `requestHitTestSource`.</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Automated glTF optimization pipeline reducing photogrammetry payload sizes by 78%.</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Architected dual-engine spatial fallback sniffing device capabilities dynamically.</a:t>
            </a:r>
            <a:endParaRPr lang="en-US" sz="950" dirty="0"/>
          </a:p>
        </p:txBody>
      </p:sp>
      <p:sp>
        <p:nvSpPr>
          <p:cNvPr id="14" name="Shape 11"/>
          <p:cNvSpPr/>
          <p:nvPr/>
        </p:nvSpPr>
        <p:spPr>
          <a:xfrm>
            <a:off x="3291840" y="2194560"/>
            <a:ext cx="2560320" cy="2423160"/>
          </a:xfrm>
          <a:prstGeom prst="roundRect">
            <a:avLst>
              <a:gd name="adj" fmla="val 3019"/>
            </a:avLst>
          </a:prstGeom>
          <a:solidFill>
            <a:srgbClr val="F8FAFC"/>
          </a:solidFill>
          <a:ln w="12700">
            <a:solidFill>
              <a:srgbClr val="E2E8F0"/>
            </a:solidFill>
            <a:prstDash val="solid"/>
          </a:ln>
        </p:spPr>
      </p:sp>
      <p:sp>
        <p:nvSpPr>
          <p:cNvPr id="15" name="Text 12"/>
          <p:cNvSpPr/>
          <p:nvPr/>
        </p:nvSpPr>
        <p:spPr>
          <a:xfrm>
            <a:off x="3474720" y="2377440"/>
            <a:ext cx="2194560" cy="32004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Core Research Contribution</a:t>
            </a:r>
            <a:endParaRPr lang="en-US" sz="1200" dirty="0"/>
          </a:p>
        </p:txBody>
      </p:sp>
      <p:sp>
        <p:nvSpPr>
          <p:cNvPr id="16" name="Text 13"/>
          <p:cNvSpPr/>
          <p:nvPr/>
        </p:nvSpPr>
        <p:spPr>
          <a:xfrm>
            <a:off x="3474720" y="2788920"/>
            <a:ext cx="2194560" cy="1645920"/>
          </a:xfrm>
          <a:prstGeom prst="rect">
            <a:avLst/>
          </a:prstGeom>
          <a:noFill/>
          <a:ln/>
        </p:spPr>
        <p:txBody>
          <a:bodyPr wrap="square" lIns="0" tIns="0" rIns="0" bIns="0" rtlCol="0" anchor="ctr"/>
          <a:lstStyle/>
          <a:p>
            <a:pPr marL="342900" indent="-342900">
              <a:spcAft>
                <a:spcPts val="400"/>
              </a:spcAft>
              <a:buSzPct val="100000"/>
              <a:buChar char="•"/>
            </a:pPr>
            <a:r>
              <a:rPr lang="en-US" sz="950" dirty="0">
                <a:latin typeface="Calibri" pitchFamily="34" charset="0"/>
                <a:ea typeface="Calibri" pitchFamily="34" charset="-122"/>
                <a:cs typeface="Calibri" pitchFamily="34" charset="-120"/>
              </a:rPr>
              <a:t>Proved zero-install WebXR achieves comparable tracking stability (98% surface lock) to native apps.</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Demonstrated 87% reduction in mobile asset latency via edge MIME type orchestration.</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Established empirical benchmark for browser-based 3D food portion visualization.</a:t>
            </a:r>
            <a:endParaRPr lang="en-US" sz="950" dirty="0"/>
          </a:p>
        </p:txBody>
      </p:sp>
      <p:sp>
        <p:nvSpPr>
          <p:cNvPr id="17" name="Shape 14"/>
          <p:cNvSpPr/>
          <p:nvPr/>
        </p:nvSpPr>
        <p:spPr>
          <a:xfrm>
            <a:off x="6035040" y="2194560"/>
            <a:ext cx="2560320" cy="2423160"/>
          </a:xfrm>
          <a:prstGeom prst="roundRect">
            <a:avLst>
              <a:gd name="adj" fmla="val 3019"/>
            </a:avLst>
          </a:prstGeom>
          <a:solidFill>
            <a:srgbClr val="F8FAFC"/>
          </a:solidFill>
          <a:ln w="12700">
            <a:solidFill>
              <a:srgbClr val="E2E8F0"/>
            </a:solidFill>
            <a:prstDash val="solid"/>
          </a:ln>
        </p:spPr>
      </p:sp>
      <p:sp>
        <p:nvSpPr>
          <p:cNvPr id="18" name="Text 15"/>
          <p:cNvSpPr/>
          <p:nvPr/>
        </p:nvSpPr>
        <p:spPr>
          <a:xfrm>
            <a:off x="6217920" y="2377440"/>
            <a:ext cx="2194560" cy="320040"/>
          </a:xfrm>
          <a:prstGeom prst="rect">
            <a:avLst/>
          </a:prstGeom>
          <a:noFill/>
          <a:ln/>
        </p:spPr>
        <p:txBody>
          <a:bodyPr wrap="square" lIns="0" tIns="0" rIns="0" bIns="0" rtlCol="0" anchor="ctr"/>
          <a:lstStyle/>
          <a:p>
            <a:pPr marL="0" indent="0">
              <a:buNone/>
            </a:pPr>
            <a:r>
              <a:rPr lang="en-US" sz="1200" b="1" dirty="0">
                <a:latin typeface="Cambria" pitchFamily="34" charset="0"/>
                <a:ea typeface="Cambria" pitchFamily="34" charset="-122"/>
                <a:cs typeface="Cambria" pitchFamily="34" charset="-120"/>
              </a:rPr>
              <a:t>Validation &amp; Publication Status</a:t>
            </a:r>
            <a:endParaRPr lang="en-US" sz="1200" dirty="0"/>
          </a:p>
        </p:txBody>
      </p:sp>
      <p:sp>
        <p:nvSpPr>
          <p:cNvPr id="19" name="Text 16"/>
          <p:cNvSpPr/>
          <p:nvPr/>
        </p:nvSpPr>
        <p:spPr>
          <a:xfrm>
            <a:off x="6217920" y="2788920"/>
            <a:ext cx="2194560" cy="1645920"/>
          </a:xfrm>
          <a:prstGeom prst="rect">
            <a:avLst/>
          </a:prstGeom>
          <a:noFill/>
          <a:ln/>
        </p:spPr>
        <p:txBody>
          <a:bodyPr wrap="square" lIns="0" tIns="0" rIns="0" bIns="0" rtlCol="0" anchor="ctr"/>
          <a:lstStyle/>
          <a:p>
            <a:pPr marL="342900" indent="-342900">
              <a:spcAft>
                <a:spcPts val="400"/>
              </a:spcAft>
              <a:buSzPct val="100000"/>
              <a:buChar char="•"/>
            </a:pPr>
            <a:r>
              <a:rPr lang="en-US" sz="950" dirty="0">
                <a:latin typeface="Calibri" pitchFamily="34" charset="0"/>
                <a:ea typeface="Calibri" pitchFamily="34" charset="-122"/>
                <a:cs typeface="Calibri" pitchFamily="34" charset="-120"/>
              </a:rPr>
              <a:t>Validated on 15+ physical devices across Android (Snapdragon/Exynos) and iOS (A15/A16).</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Manuscript completed and rigorously formatted to IEEE Conference Transactions style.</a:t>
            </a:r>
            <a:endParaRPr lang="en-US" sz="950" dirty="0"/>
          </a:p>
          <a:p>
            <a:pPr marL="342900" indent="-342900">
              <a:spcAft>
                <a:spcPts val="400"/>
              </a:spcAft>
              <a:buSzPct val="100000"/>
              <a:buChar char="•"/>
            </a:pPr>
            <a:r>
              <a:rPr lang="en-US" sz="950" dirty="0">
                <a:latin typeface="Calibri" pitchFamily="34" charset="0"/>
                <a:ea typeface="Calibri" pitchFamily="34" charset="-122"/>
                <a:cs typeface="Calibri" pitchFamily="34" charset="-120"/>
              </a:rPr>
              <a:t>Submitted for peer review at an upcoming IEEE/Scopus Indexed International Conference.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Key Achievements &amp; Overall Summary</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latin typeface="Calibri" pitchFamily="34" charset="0"/>
                <a:ea typeface="Calibri" pitchFamily="34" charset="-122"/>
                <a:cs typeface="Calibri" pitchFamily="34" charset="-120"/>
              </a:rPr>
              <a:t>Project Conclusion</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3931920" cy="1554480"/>
          </a:xfrm>
          <a:prstGeom prst="roundRect">
            <a:avLst>
              <a:gd name="adj" fmla="val 4706"/>
            </a:avLst>
          </a:prstGeom>
          <a:solidFill>
            <a:srgbClr val="F8FAFC"/>
          </a:solidFill>
          <a:ln w="12700">
            <a:solidFill>
              <a:srgbClr val="E2E8F0"/>
            </a:solidFill>
            <a:prstDash val="solid"/>
          </a:ln>
        </p:spPr>
      </p:sp>
      <p:sp>
        <p:nvSpPr>
          <p:cNvPr id="8" name="Text 5"/>
          <p:cNvSpPr/>
          <p:nvPr/>
        </p:nvSpPr>
        <p:spPr>
          <a:xfrm>
            <a:off x="777240" y="1371600"/>
            <a:ext cx="3474720" cy="274320"/>
          </a:xfrm>
          <a:prstGeom prst="rect">
            <a:avLst/>
          </a:prstGeom>
          <a:noFill/>
          <a:ln/>
        </p:spPr>
        <p:txBody>
          <a:bodyPr wrap="square" lIns="0" tIns="0" rIns="0" bIns="0" rtlCol="0" anchor="ctr"/>
          <a:lstStyle/>
          <a:p>
            <a:pPr marL="0" indent="0">
              <a:buNone/>
            </a:pPr>
            <a:r>
              <a:rPr lang="en-US" sz="1250" b="1" dirty="0">
                <a:latin typeface="Cambria" pitchFamily="34" charset="0"/>
                <a:ea typeface="Cambria" pitchFamily="34" charset="-122"/>
                <a:cs typeface="Cambria" pitchFamily="34" charset="-120"/>
              </a:rPr>
              <a:t>Production-Grade System Deployed Live</a:t>
            </a:r>
            <a:endParaRPr lang="en-US" sz="1250" dirty="0"/>
          </a:p>
        </p:txBody>
      </p:sp>
      <p:sp>
        <p:nvSpPr>
          <p:cNvPr id="9" name="Text 6"/>
          <p:cNvSpPr/>
          <p:nvPr/>
        </p:nvSpPr>
        <p:spPr>
          <a:xfrm>
            <a:off x="777240" y="1691640"/>
            <a:ext cx="3474720" cy="914400"/>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Delivered an Intelligent AI-Powered Restaurant Ordering System Using Augmented Reality active on Vercel at `https://smart-restaurant-2za8.vercel.app/`. Both diner AR ordering and real-time KDS kitchen tracking operate seamlessly.</a:t>
            </a:r>
            <a:endParaRPr lang="en-US" sz="950" dirty="0"/>
          </a:p>
        </p:txBody>
      </p:sp>
      <p:sp>
        <p:nvSpPr>
          <p:cNvPr id="10" name="Shape 7"/>
          <p:cNvSpPr/>
          <p:nvPr/>
        </p:nvSpPr>
        <p:spPr>
          <a:xfrm>
            <a:off x="4663440" y="1188720"/>
            <a:ext cx="3931920" cy="1554480"/>
          </a:xfrm>
          <a:prstGeom prst="roundRect">
            <a:avLst>
              <a:gd name="adj" fmla="val 4706"/>
            </a:avLst>
          </a:prstGeom>
          <a:solidFill>
            <a:srgbClr val="F8FAFC"/>
          </a:solidFill>
          <a:ln w="12700">
            <a:solidFill>
              <a:srgbClr val="E2E8F0"/>
            </a:solidFill>
            <a:prstDash val="solid"/>
          </a:ln>
        </p:spPr>
      </p:sp>
      <p:sp>
        <p:nvSpPr>
          <p:cNvPr id="11" name="Text 8"/>
          <p:cNvSpPr/>
          <p:nvPr/>
        </p:nvSpPr>
        <p:spPr>
          <a:xfrm>
            <a:off x="4892040" y="1371600"/>
            <a:ext cx="3474720" cy="274320"/>
          </a:xfrm>
          <a:prstGeom prst="rect">
            <a:avLst/>
          </a:prstGeom>
          <a:noFill/>
          <a:ln/>
        </p:spPr>
        <p:txBody>
          <a:bodyPr wrap="square" lIns="0" tIns="0" rIns="0" bIns="0" rtlCol="0" anchor="ctr"/>
          <a:lstStyle/>
          <a:p>
            <a:pPr marL="0" indent="0">
              <a:buNone/>
            </a:pPr>
            <a:r>
              <a:rPr lang="en-US" sz="1250" b="1" dirty="0">
                <a:latin typeface="Cambria" pitchFamily="34" charset="0"/>
                <a:ea typeface="Cambria" pitchFamily="34" charset="-122"/>
                <a:cs typeface="Cambria" pitchFamily="34" charset="-120"/>
              </a:rPr>
              <a:t>Frictionless Spatial Computing Viability</a:t>
            </a:r>
            <a:endParaRPr lang="en-US" sz="1250" dirty="0"/>
          </a:p>
        </p:txBody>
      </p:sp>
      <p:sp>
        <p:nvSpPr>
          <p:cNvPr id="12" name="Text 9"/>
          <p:cNvSpPr/>
          <p:nvPr/>
        </p:nvSpPr>
        <p:spPr>
          <a:xfrm>
            <a:off x="4892040" y="1691640"/>
            <a:ext cx="3474720" cy="914400"/>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Overcame historical limitations of mobile web AR by coupling native WebXR 6-DoF hit testing with Scene Viewer intent fallbacks, achieving 60 FPS rendering and sub-2 second model load times with zero app downloads.</a:t>
            </a:r>
            <a:endParaRPr lang="en-US" sz="950" dirty="0"/>
          </a:p>
        </p:txBody>
      </p:sp>
      <p:sp>
        <p:nvSpPr>
          <p:cNvPr id="13" name="Shape 10"/>
          <p:cNvSpPr/>
          <p:nvPr/>
        </p:nvSpPr>
        <p:spPr>
          <a:xfrm>
            <a:off x="548640" y="2880360"/>
            <a:ext cx="3931920" cy="1554480"/>
          </a:xfrm>
          <a:prstGeom prst="roundRect">
            <a:avLst>
              <a:gd name="adj" fmla="val 4706"/>
            </a:avLst>
          </a:prstGeom>
          <a:solidFill>
            <a:srgbClr val="F8FAFC"/>
          </a:solidFill>
          <a:ln w="12700">
            <a:solidFill>
              <a:srgbClr val="E2E8F0"/>
            </a:solidFill>
            <a:prstDash val="solid"/>
          </a:ln>
        </p:spPr>
      </p:sp>
      <p:sp>
        <p:nvSpPr>
          <p:cNvPr id="14" name="Text 11"/>
          <p:cNvSpPr/>
          <p:nvPr/>
        </p:nvSpPr>
        <p:spPr>
          <a:xfrm>
            <a:off x="777240" y="3063240"/>
            <a:ext cx="3474720" cy="274320"/>
          </a:xfrm>
          <a:prstGeom prst="rect">
            <a:avLst/>
          </a:prstGeom>
          <a:noFill/>
          <a:ln/>
        </p:spPr>
        <p:txBody>
          <a:bodyPr wrap="square" lIns="0" tIns="0" rIns="0" bIns="0" rtlCol="0" anchor="ctr"/>
          <a:lstStyle/>
          <a:p>
            <a:pPr marL="0" indent="0">
              <a:buNone/>
            </a:pPr>
            <a:r>
              <a:rPr lang="en-US" sz="1250" b="1" dirty="0">
                <a:latin typeface="Cambria" pitchFamily="34" charset="0"/>
                <a:ea typeface="Cambria" pitchFamily="34" charset="-122"/>
                <a:cs typeface="Cambria" pitchFamily="34" charset="-120"/>
              </a:rPr>
              <a:t>93.7% TCO Reduction &amp; Sustainability</a:t>
            </a:r>
            <a:endParaRPr lang="en-US" sz="1250" dirty="0"/>
          </a:p>
        </p:txBody>
      </p:sp>
      <p:sp>
        <p:nvSpPr>
          <p:cNvPr id="15" name="Text 12"/>
          <p:cNvSpPr/>
          <p:nvPr/>
        </p:nvSpPr>
        <p:spPr>
          <a:xfrm>
            <a:off x="777240" y="3383280"/>
            <a:ext cx="3474720" cy="914400"/>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Replaced expensive tabletop POS tablets with patrons' existing smartphones, saving over ₹6.6 Lakhs per restaurant while eliminating paper printing and reducing food plate waste by up to 28%.</a:t>
            </a:r>
            <a:endParaRPr lang="en-US" sz="950" dirty="0"/>
          </a:p>
        </p:txBody>
      </p:sp>
      <p:sp>
        <p:nvSpPr>
          <p:cNvPr id="16" name="Shape 13"/>
          <p:cNvSpPr/>
          <p:nvPr/>
        </p:nvSpPr>
        <p:spPr>
          <a:xfrm>
            <a:off x="4663440" y="2880360"/>
            <a:ext cx="3931920" cy="1554480"/>
          </a:xfrm>
          <a:prstGeom prst="roundRect">
            <a:avLst>
              <a:gd name="adj" fmla="val 4706"/>
            </a:avLst>
          </a:prstGeom>
          <a:solidFill>
            <a:srgbClr val="F8FAFC"/>
          </a:solidFill>
          <a:ln w="12700">
            <a:solidFill>
              <a:srgbClr val="E2E8F0"/>
            </a:solidFill>
            <a:prstDash val="solid"/>
          </a:ln>
        </p:spPr>
      </p:sp>
      <p:sp>
        <p:nvSpPr>
          <p:cNvPr id="17" name="Text 14"/>
          <p:cNvSpPr/>
          <p:nvPr/>
        </p:nvSpPr>
        <p:spPr>
          <a:xfrm>
            <a:off x="4892040" y="3063240"/>
            <a:ext cx="3474720" cy="274320"/>
          </a:xfrm>
          <a:prstGeom prst="rect">
            <a:avLst/>
          </a:prstGeom>
          <a:noFill/>
          <a:ln/>
        </p:spPr>
        <p:txBody>
          <a:bodyPr wrap="square" lIns="0" tIns="0" rIns="0" bIns="0" rtlCol="0" anchor="ctr"/>
          <a:lstStyle/>
          <a:p>
            <a:pPr marL="0" indent="0">
              <a:buNone/>
            </a:pPr>
            <a:r>
              <a:rPr lang="en-US" sz="1250" b="1" dirty="0">
                <a:latin typeface="Cambria" pitchFamily="34" charset="0"/>
                <a:ea typeface="Cambria" pitchFamily="34" charset="-122"/>
                <a:cs typeface="Cambria" pitchFamily="34" charset="-120"/>
              </a:rPr>
              <a:t>Completed Research Paper in Review</a:t>
            </a:r>
            <a:endParaRPr lang="en-US" sz="1250" dirty="0"/>
          </a:p>
        </p:txBody>
      </p:sp>
      <p:sp>
        <p:nvSpPr>
          <p:cNvPr id="18" name="Text 15"/>
          <p:cNvSpPr/>
          <p:nvPr/>
        </p:nvSpPr>
        <p:spPr>
          <a:xfrm>
            <a:off x="4892040" y="3383280"/>
            <a:ext cx="3474720" cy="914400"/>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Documented technical findings, mathematical raycast formulations, and performance benchmarks in a complete IEEE-compliant research paper submitted for peer-reviewed conference publication.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Future Scope &amp; Commercial Scalability</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Roadmap &amp; Horizons</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3931920" cy="1554480"/>
          </a:xfrm>
          <a:prstGeom prst="roundRect">
            <a:avLst>
              <a:gd name="adj" fmla="val 4706"/>
            </a:avLst>
          </a:prstGeom>
          <a:solidFill>
            <a:srgbClr val="F8FAFC"/>
          </a:solidFill>
          <a:ln w="12700">
            <a:solidFill>
              <a:srgbClr val="E2E8F0"/>
            </a:solidFill>
            <a:prstDash val="solid"/>
          </a:ln>
        </p:spPr>
      </p:sp>
      <p:sp>
        <p:nvSpPr>
          <p:cNvPr id="8" name="Text 5"/>
          <p:cNvSpPr/>
          <p:nvPr/>
        </p:nvSpPr>
        <p:spPr>
          <a:xfrm>
            <a:off x="777240" y="1371600"/>
            <a:ext cx="3474720" cy="27432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Multi-User Synchronized AR Dining</a:t>
            </a:r>
            <a:endParaRPr lang="en-US" sz="1300" dirty="0"/>
          </a:p>
        </p:txBody>
      </p:sp>
      <p:sp>
        <p:nvSpPr>
          <p:cNvPr id="9" name="Text 6"/>
          <p:cNvSpPr/>
          <p:nvPr/>
        </p:nvSpPr>
        <p:spPr>
          <a:xfrm>
            <a:off x="777240" y="1691640"/>
            <a:ext cx="3474720" cy="914400"/>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Integrating WebRTC mesh data channels to allow entire dining groups at the same table to share a synchronized virtual space, previewing banquet platters together in real time.</a:t>
            </a:r>
            <a:endParaRPr lang="en-US" sz="950" dirty="0"/>
          </a:p>
        </p:txBody>
      </p:sp>
      <p:sp>
        <p:nvSpPr>
          <p:cNvPr id="10" name="Shape 7"/>
          <p:cNvSpPr/>
          <p:nvPr/>
        </p:nvSpPr>
        <p:spPr>
          <a:xfrm>
            <a:off x="4663440" y="1188720"/>
            <a:ext cx="3931920" cy="1554480"/>
          </a:xfrm>
          <a:prstGeom prst="roundRect">
            <a:avLst>
              <a:gd name="adj" fmla="val 4706"/>
            </a:avLst>
          </a:prstGeom>
          <a:solidFill>
            <a:srgbClr val="F8FAFC"/>
          </a:solidFill>
          <a:ln w="12700">
            <a:solidFill>
              <a:srgbClr val="E2E8F0"/>
            </a:solidFill>
            <a:prstDash val="solid"/>
          </a:ln>
        </p:spPr>
      </p:sp>
      <p:sp>
        <p:nvSpPr>
          <p:cNvPr id="11" name="Text 8"/>
          <p:cNvSpPr/>
          <p:nvPr/>
        </p:nvSpPr>
        <p:spPr>
          <a:xfrm>
            <a:off x="4892040" y="1371600"/>
            <a:ext cx="3474720" cy="27432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Generative AI Voice Sommelier</a:t>
            </a:r>
            <a:endParaRPr lang="en-US" sz="1300" dirty="0"/>
          </a:p>
        </p:txBody>
      </p:sp>
      <p:sp>
        <p:nvSpPr>
          <p:cNvPr id="12" name="Text 9"/>
          <p:cNvSpPr/>
          <p:nvPr/>
        </p:nvSpPr>
        <p:spPr>
          <a:xfrm>
            <a:off x="4892040" y="1691640"/>
            <a:ext cx="3474720" cy="914400"/>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Deploying an on-device lightweight LLM voice interface capable of answering natural-language dietary questions and suggesting personalized wine/beverage pairings.</a:t>
            </a:r>
            <a:endParaRPr lang="en-US" sz="950" dirty="0"/>
          </a:p>
        </p:txBody>
      </p:sp>
      <p:sp>
        <p:nvSpPr>
          <p:cNvPr id="13" name="Shape 10"/>
          <p:cNvSpPr/>
          <p:nvPr/>
        </p:nvSpPr>
        <p:spPr>
          <a:xfrm>
            <a:off x="548640" y="2880360"/>
            <a:ext cx="3931920" cy="1554480"/>
          </a:xfrm>
          <a:prstGeom prst="roundRect">
            <a:avLst>
              <a:gd name="adj" fmla="val 4706"/>
            </a:avLst>
          </a:prstGeom>
          <a:solidFill>
            <a:srgbClr val="F8FAFC"/>
          </a:solidFill>
          <a:ln w="12700">
            <a:solidFill>
              <a:srgbClr val="E2E8F0"/>
            </a:solidFill>
            <a:prstDash val="solid"/>
          </a:ln>
        </p:spPr>
      </p:sp>
      <p:sp>
        <p:nvSpPr>
          <p:cNvPr id="14" name="Text 11"/>
          <p:cNvSpPr/>
          <p:nvPr/>
        </p:nvSpPr>
        <p:spPr>
          <a:xfrm>
            <a:off x="777240" y="3063240"/>
            <a:ext cx="3474720" cy="27432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Computer Vision Plating QA Inspection</a:t>
            </a:r>
            <a:endParaRPr lang="en-US" sz="1300" dirty="0"/>
          </a:p>
        </p:txBody>
      </p:sp>
      <p:sp>
        <p:nvSpPr>
          <p:cNvPr id="15" name="Text 12"/>
          <p:cNvSpPr/>
          <p:nvPr/>
        </p:nvSpPr>
        <p:spPr>
          <a:xfrm>
            <a:off x="777240" y="3383280"/>
            <a:ext cx="3474720" cy="914400"/>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Installing overhead camera vision models in the kitchen to verify that plated dishes match the 3D visual standard in volume, garnish, and temperature before dispatch.</a:t>
            </a:r>
            <a:endParaRPr lang="en-US" sz="950" dirty="0"/>
          </a:p>
        </p:txBody>
      </p:sp>
      <p:sp>
        <p:nvSpPr>
          <p:cNvPr id="16" name="Shape 13"/>
          <p:cNvSpPr/>
          <p:nvPr/>
        </p:nvSpPr>
        <p:spPr>
          <a:xfrm>
            <a:off x="4663440" y="2880360"/>
            <a:ext cx="3931920" cy="1554480"/>
          </a:xfrm>
          <a:prstGeom prst="roundRect">
            <a:avLst>
              <a:gd name="adj" fmla="val 4706"/>
            </a:avLst>
          </a:prstGeom>
          <a:solidFill>
            <a:srgbClr val="F8FAFC"/>
          </a:solidFill>
          <a:ln w="12700">
            <a:solidFill>
              <a:srgbClr val="E2E8F0"/>
            </a:solidFill>
            <a:prstDash val="solid"/>
          </a:ln>
        </p:spPr>
      </p:sp>
      <p:sp>
        <p:nvSpPr>
          <p:cNvPr id="17" name="Text 14"/>
          <p:cNvSpPr/>
          <p:nvPr/>
        </p:nvSpPr>
        <p:spPr>
          <a:xfrm>
            <a:off x="4892040" y="3063240"/>
            <a:ext cx="3474720" cy="274320"/>
          </a:xfrm>
          <a:prstGeom prst="rect">
            <a:avLst/>
          </a:prstGeom>
          <a:noFill/>
          <a:ln/>
        </p:spPr>
        <p:txBody>
          <a:bodyPr wrap="square" lIns="0" tIns="0" rIns="0" bIns="0" rtlCol="0" anchor="ctr"/>
          <a:lstStyle/>
          <a:p>
            <a:pPr marL="0" indent="0">
              <a:buNone/>
            </a:pPr>
            <a:r>
              <a:rPr lang="en-US" sz="1300" b="1" dirty="0">
                <a:latin typeface="Cambria" pitchFamily="34" charset="0"/>
                <a:ea typeface="Cambria" pitchFamily="34" charset="-122"/>
                <a:cs typeface="Cambria" pitchFamily="34" charset="-120"/>
              </a:rPr>
              <a:t>IoT Smart Table Sensor Integration</a:t>
            </a:r>
            <a:endParaRPr lang="en-US" sz="1300" dirty="0"/>
          </a:p>
        </p:txBody>
      </p:sp>
      <p:sp>
        <p:nvSpPr>
          <p:cNvPr id="18" name="Text 15"/>
          <p:cNvSpPr/>
          <p:nvPr/>
        </p:nvSpPr>
        <p:spPr>
          <a:xfrm>
            <a:off x="4892040" y="3383280"/>
            <a:ext cx="3474720" cy="914400"/>
          </a:xfrm>
          <a:prstGeom prst="rect">
            <a:avLst/>
          </a:prstGeom>
          <a:noFill/>
          <a:ln/>
        </p:spPr>
        <p:txBody>
          <a:bodyPr wrap="square" lIns="0" tIns="0" rIns="0" bIns="0" rtlCol="0" anchor="ctr"/>
          <a:lstStyle/>
          <a:p>
            <a:pPr marL="0" indent="0">
              <a:buNone/>
            </a:pPr>
            <a:r>
              <a:rPr lang="en-US" sz="950" dirty="0">
                <a:latin typeface="Calibri" pitchFamily="34" charset="0"/>
                <a:ea typeface="Calibri" pitchFamily="34" charset="-122"/>
                <a:cs typeface="Calibri" pitchFamily="34" charset="-120"/>
              </a:rPr>
              <a:t>Pairing with Bluetooth load-cell weight sensors embedded beneath tables to detect empty beverage glasses and trigger automated refill alerts to waitstaff.</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pic>
        <p:nvPicPr>
          <p:cNvPr id="2" name="Image 0" descr="d:\resrtorant\presentation_assets\tcet_header.jpeg"/>
          <p:cNvPicPr>
            <a:picLocks noChangeAspect="1"/>
          </p:cNvPicPr>
          <p:nvPr/>
        </p:nvPicPr>
        <p:blipFill>
          <a:blip r:embed="rId3"/>
          <a:stretch>
            <a:fillRect/>
          </a:stretch>
        </p:blipFill>
        <p:spPr>
          <a:xfrm>
            <a:off x="0" y="0"/>
            <a:ext cx="9144000" cy="749808"/>
          </a:xfrm>
          <a:prstGeom prst="rect">
            <a:avLst/>
          </a:prstGeom>
        </p:spPr>
      </p:pic>
      <p:sp>
        <p:nvSpPr>
          <p:cNvPr id="3" name="Text 0"/>
          <p:cNvSpPr/>
          <p:nvPr/>
        </p:nvSpPr>
        <p:spPr>
          <a:xfrm>
            <a:off x="548640" y="822960"/>
            <a:ext cx="5943600" cy="329184"/>
          </a:xfrm>
          <a:prstGeom prst="rect">
            <a:avLst/>
          </a:prstGeom>
          <a:noFill/>
          <a:ln/>
        </p:spPr>
        <p:txBody>
          <a:bodyPr wrap="square" lIns="0" tIns="0" rIns="0" bIns="0" rtlCol="0" anchor="ctr"/>
          <a:lstStyle/>
          <a:p>
            <a:pPr marL="0" indent="0">
              <a:buNone/>
            </a:pPr>
            <a:r>
              <a:rPr lang="en-US" sz="1650" b="1" dirty="0">
                <a:latin typeface="Cambria" pitchFamily="34" charset="0"/>
                <a:ea typeface="Cambria" pitchFamily="34" charset="-122"/>
                <a:cs typeface="Cambria" pitchFamily="34" charset="-120"/>
              </a:rPr>
              <a:t>References, Technical Standards &amp; Literature Citations</a:t>
            </a:r>
            <a:endParaRPr lang="en-US" sz="1650" dirty="0"/>
          </a:p>
        </p:txBody>
      </p:sp>
      <p:sp>
        <p:nvSpPr>
          <p:cNvPr id="4" name="Text 1"/>
          <p:cNvSpPr/>
          <p:nvPr/>
        </p:nvSpPr>
        <p:spPr>
          <a:xfrm>
            <a:off x="6492240" y="841248"/>
            <a:ext cx="2103120" cy="274320"/>
          </a:xfrm>
          <a:prstGeom prst="rect">
            <a:avLst/>
          </a:prstGeom>
          <a:noFill/>
          <a:ln/>
        </p:spPr>
        <p:txBody>
          <a:bodyPr wrap="square" lIns="0" tIns="0" rIns="0" bIns="0" rtlCol="0" anchor="ctr"/>
          <a:lstStyle/>
          <a:p>
            <a:pPr marL="0" indent="0" algn="r">
              <a:buNone/>
            </a:pPr>
            <a:r>
              <a:rPr lang="en-US" sz="950" b="1" dirty="0">
                <a:solidFill>
                  <a:srgbClr val="2563EB"/>
                </a:solidFill>
                <a:latin typeface="Calibri" pitchFamily="34" charset="0"/>
                <a:ea typeface="Calibri" pitchFamily="34" charset="-122"/>
                <a:cs typeface="Calibri" pitchFamily="34" charset="-120"/>
              </a:rPr>
              <a:t>Academic Bibliography</a:t>
            </a:r>
            <a:endParaRPr lang="en-US" sz="950" dirty="0"/>
          </a:p>
        </p:txBody>
      </p:sp>
      <p:sp>
        <p:nvSpPr>
          <p:cNvPr id="5" name="Text 2"/>
          <p:cNvSpPr/>
          <p:nvPr/>
        </p:nvSpPr>
        <p:spPr>
          <a:xfrm>
            <a:off x="548640" y="4800600"/>
            <a:ext cx="54864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Department of Computer Engineering, TCET | A.Y. 2026–27 | Presentation III</a:t>
            </a:r>
            <a:endParaRPr lang="en-US" sz="900" dirty="0"/>
          </a:p>
        </p:txBody>
      </p:sp>
      <p:sp>
        <p:nvSpPr>
          <p:cNvPr id="6" name="Text 3"/>
          <p:cNvSpPr/>
          <p:nvPr/>
        </p:nvSpPr>
        <p:spPr>
          <a:xfrm>
            <a:off x="6217920" y="4800600"/>
            <a:ext cx="2377440" cy="228600"/>
          </a:xfrm>
          <a:prstGeom prst="rect">
            <a:avLst/>
          </a:prstGeom>
          <a:noFill/>
          <a:ln/>
        </p:spPr>
        <p:txBody>
          <a:bodyPr wrap="square" lIns="0" tIns="0" rIns="0" bIns="0" rtlCol="0" anchor="ctr"/>
          <a:lstStyle/>
          <a:p>
            <a:pPr marL="0" indent="0" algn="r">
              <a:buNone/>
            </a:pPr>
            <a:r>
              <a:rPr lang="en-US" sz="900" dirty="0">
                <a:solidFill>
                  <a:srgbClr val="2563EB"/>
                </a:solidFill>
                <a:latin typeface="Calibri" pitchFamily="34" charset="0"/>
                <a:ea typeface="Calibri" pitchFamily="34" charset="-122"/>
                <a:cs typeface="Calibri" pitchFamily="34" charset="-120"/>
              </a:rPr>
              <a:t>https://smart-restaurant-2za8.vercel.app/</a:t>
            </a:r>
            <a:endParaRPr lang="en-US" sz="900" dirty="0"/>
          </a:p>
        </p:txBody>
      </p:sp>
      <p:sp>
        <p:nvSpPr>
          <p:cNvPr id="7" name="Shape 4"/>
          <p:cNvSpPr/>
          <p:nvPr/>
        </p:nvSpPr>
        <p:spPr>
          <a:xfrm>
            <a:off x="548640" y="1188720"/>
            <a:ext cx="8046720" cy="3429000"/>
          </a:xfrm>
          <a:prstGeom prst="roundRect">
            <a:avLst>
              <a:gd name="adj" fmla="val 2133"/>
            </a:avLst>
          </a:prstGeom>
          <a:solidFill>
            <a:srgbClr val="F8FAFC"/>
          </a:solidFill>
          <a:ln w="12700">
            <a:solidFill>
              <a:srgbClr val="E2E8F0"/>
            </a:solidFill>
            <a:prstDash val="solid"/>
          </a:ln>
        </p:spPr>
      </p:sp>
      <p:sp>
        <p:nvSpPr>
          <p:cNvPr id="8" name="Text 5"/>
          <p:cNvSpPr/>
          <p:nvPr/>
        </p:nvSpPr>
        <p:spPr>
          <a:xfrm>
            <a:off x="731520" y="1371600"/>
            <a:ext cx="7680960" cy="3017520"/>
          </a:xfrm>
          <a:prstGeom prst="rect">
            <a:avLst/>
          </a:prstGeom>
          <a:noFill/>
          <a:ln/>
        </p:spPr>
        <p:txBody>
          <a:bodyPr wrap="square" lIns="0" tIns="0" rIns="0" bIns="0" rtlCol="0" anchor="ctr"/>
          <a:lstStyle/>
          <a:p>
            <a:pPr marL="0" indent="0">
              <a:spcAft>
                <a:spcPts val="800"/>
              </a:spcAft>
              <a:buNone/>
            </a:pPr>
            <a:r>
              <a:rPr lang="en-US" sz="950" dirty="0">
                <a:solidFill>
                  <a:srgbClr val="334155"/>
                </a:solidFill>
                <a:latin typeface="Calibri" pitchFamily="34" charset="0"/>
                <a:ea typeface="Calibri" pitchFamily="34" charset="-122"/>
                <a:cs typeface="Calibri" pitchFamily="34" charset="-120"/>
              </a:rPr>
              <a:t>1. W3C WebXR Working Group, "WebXR Device API Specification," World Wide Web Consortium (W3C) Candidate Recommendation, Oct. 2024. Available: https://www.w3.org/TR/webxr/</a:t>
            </a:r>
            <a:endParaRPr lang="en-US" sz="950" dirty="0"/>
          </a:p>
          <a:p>
            <a:pPr marL="0" indent="0">
              <a:spcAft>
                <a:spcPts val="800"/>
              </a:spcAft>
              <a:buNone/>
            </a:pPr>
            <a:r>
              <a:rPr lang="en-US" sz="950" dirty="0">
                <a:solidFill>
                  <a:srgbClr val="334155"/>
                </a:solidFill>
                <a:latin typeface="Calibri" pitchFamily="34" charset="0"/>
                <a:ea typeface="Calibri" pitchFamily="34" charset="-122"/>
                <a:cs typeface="Calibri" pitchFamily="34" charset="-120"/>
              </a:rPr>
              <a:t>2. Khronos Group, "glTF 2.0 Specification and KHR_draco_mesh_compression Extension," Khronos 3D Formats Working Group, 2023. Available: https://www.khronos.org/gltf/</a:t>
            </a:r>
            <a:endParaRPr lang="en-US" sz="950" dirty="0"/>
          </a:p>
          <a:p>
            <a:pPr marL="0" indent="0">
              <a:spcAft>
                <a:spcPts val="800"/>
              </a:spcAft>
              <a:buNone/>
            </a:pPr>
            <a:r>
              <a:rPr lang="en-US" sz="950" dirty="0">
                <a:solidFill>
                  <a:srgbClr val="334155"/>
                </a:solidFill>
                <a:latin typeface="Calibri" pitchFamily="34" charset="0"/>
                <a:ea typeface="Calibri" pitchFamily="34" charset="-122"/>
                <a:cs typeface="Calibri" pitchFamily="34" charset="-120"/>
              </a:rPr>
              <a:t>3. Google Developers, "Google Scene Viewer Specification &amp; ARCore Developer Guide," Google LLC, 2025. Available: https://developers.google.com/ar/develop/scene-viewer</a:t>
            </a:r>
            <a:endParaRPr lang="en-US" sz="950" dirty="0"/>
          </a:p>
          <a:p>
            <a:pPr marL="0" indent="0">
              <a:spcAft>
                <a:spcPts val="800"/>
              </a:spcAft>
              <a:buNone/>
            </a:pPr>
            <a:r>
              <a:rPr lang="en-US" sz="950" dirty="0">
                <a:solidFill>
                  <a:srgbClr val="334155"/>
                </a:solidFill>
                <a:latin typeface="Calibri" pitchFamily="34" charset="0"/>
                <a:ea typeface="Calibri" pitchFamily="34" charset="-122"/>
                <a:cs typeface="Calibri" pitchFamily="34" charset="-120"/>
              </a:rPr>
              <a:t>4. S. Sharma, P. Kumar, and M. Verma, "Augmented Reality in Hospitality: Enhancing Customer Engagement, Portion Perception, and Reducing Food Waste," IEEE Transactions on Engineering Management, vol. 71, pp. 1120–1132, 2024.</a:t>
            </a:r>
            <a:endParaRPr lang="en-US" sz="950" dirty="0"/>
          </a:p>
          <a:p>
            <a:pPr marL="0" indent="0">
              <a:spcAft>
                <a:spcPts val="800"/>
              </a:spcAft>
              <a:buNone/>
            </a:pPr>
            <a:r>
              <a:rPr lang="en-US" sz="950" dirty="0">
                <a:solidFill>
                  <a:srgbClr val="334155"/>
                </a:solidFill>
                <a:latin typeface="Calibri" pitchFamily="34" charset="0"/>
                <a:ea typeface="Calibri" pitchFamily="34" charset="-122"/>
                <a:cs typeface="Calibri" pitchFamily="34" charset="-120"/>
              </a:rPr>
              <a:t>5. R. Chen and L. Zhang, "Zero-Install Spatial Computing on Mobile Web: Architectural Trade-Offs in WebGL and WebXR," in Proc. ACM Conf. on Human Factors in Computing Systems (CHI '24), Honolulu, HI, USA, 2024, pp. 1–14.</a:t>
            </a:r>
            <a:endParaRPr lang="en-US" sz="950" dirty="0"/>
          </a:p>
          <a:p>
            <a:pPr marL="0" indent="0">
              <a:spcAft>
                <a:spcPts val="800"/>
              </a:spcAft>
              <a:buNone/>
            </a:pPr>
            <a:r>
              <a:rPr lang="en-US" sz="950" dirty="0">
                <a:solidFill>
                  <a:srgbClr val="334155"/>
                </a:solidFill>
                <a:latin typeface="Calibri" pitchFamily="34" charset="0"/>
                <a:ea typeface="Calibri" pitchFamily="34" charset="-122"/>
                <a:cs typeface="Calibri" pitchFamily="34" charset="-120"/>
              </a:rPr>
              <a:t>6. E. Cabello and Three.js Contributors, "Three.js JavaScript 3D WebGL Library Documentation (r128+)," 2024. Available: https://threejs.org/docs/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5074</Words>
  <Application>Microsoft Office PowerPoint</Application>
  <PresentationFormat>On-screen Show (16:9)</PresentationFormat>
  <Paragraphs>447</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Thakur College of Engineering and Technology (TCET)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Intelligent AI-Powered Restaurant Ordering System Using Augmented Reality - Presentation III Final Evaluation</dc:title>
  <dc:subject>PptxGenJS Presentation</dc:subject>
  <dc:creator>Manav Singh, Sanskar Suryavanshi, Kesar Singh</dc:creator>
  <cp:lastModifiedBy>Sumit Singh</cp:lastModifiedBy>
  <cp:revision>2</cp:revision>
  <dcterms:created xsi:type="dcterms:W3CDTF">2026-09-23T09:22:44Z</dcterms:created>
  <dcterms:modified xsi:type="dcterms:W3CDTF">2026-09-23T12:23:26Z</dcterms:modified>
</cp:coreProperties>
</file>