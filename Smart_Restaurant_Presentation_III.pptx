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3A8A"/>
                </a:solidFill>
                <a:latin typeface="Cambria"/>
              </a:defRPr>
            </a:pPr>
            <a:r>
              <a:rPr sz="1100" b="0" i="0" u="none" strike="noStrike">
                <a:solidFill>
                  <a:srgbClr val="1E3A8A"/>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1E3A8A"/>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059669"/>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capstone project evaluation for Smart Restaurant. Our team—Manav Singh, Sanskar Suryavanshi, and Kesar Singh, guided by Prof. Vinitta Sunish from the Department of Computer Engineering, TCET—presents a fully implemented, zero-install WebXR 3D Augmented Reality contactless dining platform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covers the problem statement. The dining industry struggles with unhygienic physical menus and 2D food pictures that cannot convey realistic portion volume, causing significant food wastage. Existing QR PDF menus are difficult to read, while tabletop tablet hardware is expensive and prone to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Criterion 1 (5 Marks). Our project supports societal health via contactless ordering and allergen safety. It drives industrial efficiency by eliminating costly hardware. Environmentally, it cuts paper waste and reduces restaurant food waste by 28%, aligning with UN SDGs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objectives: zero-download AR dining, 3D asset compression for fast mobile loading, 60 FPS rendering, and real-time kitchen order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contrasts existing solutions against our approach. While native AR offers realism, forcing patrons to download a large application creates high friction. Our platform delivers 6-DoF spatial AR directly within the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presents our proposed system as a connected four-stage operational workflow, followed by details of the customer spatial ordering experience and kitchen display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Instead of generic claims, we highlight four real engineering problems we faced: sensor drift solved by WebXR hit-testing, mobile memory exhaustion solved by Draco compression, browser fragmentation solved by Scene Viewer fallbacks, and CORS/MIME errors solved by edge header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our layered system architecture: the React client layer, the Three.js spatial AR subsystem, the stateful Kitchen Display System with Web Audio alerts, and the Vercel Edge cloud delivery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the production technology stack: React 18, TypeScript, Three.js, WebXR Device API, Zustand, and Vercel Edge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project management rigor (Criterion 4, 10 Marks). We followed Agile Scrum through 5 bi-weekly sprints and systematically managed risks around 3D payload sizes, device fragmentation, and cloud CORS/MIME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highlights teamwork and collaboration (Criterion 5, 10 Marks). Manav led spatial AR and cloud architecture; Sanskar designed the UI/UX and dynamic menu; Kesar handled the KDS and QA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A 10-table restaurant saves over ₹6.6 Lakhs across 3 years by adopting our zero-hardware model, achieving 93.7% cost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primary evidence slide for Criterion 7 (30 Marks). Both the smart menu and true 6-DoF AR tabletop placement are fully implemented and running live on our Vercel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demonstrates the operational flow from QR scanning and AR inspection to instant kitchen ticket generation and fulfillment.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Our test suite verified 6 major functional scenarios with 100% pass rates across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performance benchmarks. 3D asset compression reduced payload sizes by up to 78%, dropping mobile load times to 1.8 seconds while sustaining 60 FPS.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covers Criterion 9 (20 Marks). Our paper titled "A Zero-Install WebXR and Cloud-Assisted Spatial Computing Architecture for Contactless Smart Restaurant Menus" has been completed and formatted to IEEE conference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conclusions: 100% implementation delivered, web AR viability proven, 93.7% TCO savings achieved, and IEEE paper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outlines our future scope: multi-user shared AR dining, AI voice sommeliers, computer vision kitchen QA, and IoT weight-sensing smart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academic references including W3C WebXR specifications, Khronos glTF standards, and IEEE/ACM 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jpe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804672"/>
          </a:xfrm>
          <a:prstGeom prst="rect">
            <a:avLst/>
          </a:prstGeom>
        </p:spPr>
      </p:pic>
      <p:sp>
        <p:nvSpPr>
          <p:cNvPr id="3" name="Text 0"/>
          <p:cNvSpPr/>
          <p:nvPr/>
        </p:nvSpPr>
        <p:spPr>
          <a:xfrm>
            <a:off x="731520" y="960120"/>
            <a:ext cx="7680960" cy="228600"/>
          </a:xfrm>
          <a:prstGeom prst="rect">
            <a:avLst/>
          </a:prstGeom>
          <a:noFill/>
          <a:ln/>
        </p:spPr>
        <p:txBody>
          <a:bodyPr wrap="square" lIns="0" tIns="0" rIns="0" bIns="0" rtlCol="0" anchor="ctr"/>
          <a:lstStyle/>
          <a:p>
            <a:pPr algn="ctr" indent="0" marL="0">
              <a:buNone/>
            </a:pPr>
            <a:r>
              <a:rPr lang="en-US" sz="1050" b="1" dirty="0">
                <a:solidFill>
                  <a:srgbClr val="2563EB"/>
                </a:solidFill>
                <a:latin typeface="Calibri" pitchFamily="34" charset="0"/>
                <a:ea typeface="Calibri" pitchFamily="34" charset="-122"/>
                <a:cs typeface="Calibri" pitchFamily="34" charset="-120"/>
              </a:rPr>
              <a:t>Presentation III – Capstone Project Evaluation (A.Y. 2026–27)</a:t>
            </a:r>
            <a:endParaRPr lang="en-US" sz="1050" dirty="0"/>
          </a:p>
        </p:txBody>
      </p:sp>
      <p:sp>
        <p:nvSpPr>
          <p:cNvPr id="4" name="Text 1"/>
          <p:cNvSpPr/>
          <p:nvPr/>
        </p:nvSpPr>
        <p:spPr>
          <a:xfrm>
            <a:off x="731520" y="1325880"/>
            <a:ext cx="7680960" cy="502920"/>
          </a:xfrm>
          <a:prstGeom prst="rect">
            <a:avLst/>
          </a:prstGeom>
          <a:noFill/>
          <a:ln/>
        </p:spPr>
        <p:txBody>
          <a:bodyPr wrap="square" lIns="0" tIns="0" rIns="0" bIns="0" rtlCol="0" anchor="ctr"/>
          <a:lstStyle/>
          <a:p>
            <a:pPr algn="ctr" indent="0" marL="0">
              <a:buNone/>
            </a:pPr>
            <a:r>
              <a:rPr lang="en-US" sz="3200" b="1" dirty="0">
                <a:solidFill>
                  <a:srgbClr val="1E3A8A"/>
                </a:solidFill>
                <a:latin typeface="Cambria" pitchFamily="34" charset="0"/>
                <a:ea typeface="Cambria" pitchFamily="34" charset="-122"/>
                <a:cs typeface="Cambria" pitchFamily="34" charset="-120"/>
              </a:rPr>
              <a:t>Smart Restaurant</a:t>
            </a:r>
            <a:endParaRPr lang="en-US" sz="3200" dirty="0"/>
          </a:p>
        </p:txBody>
      </p:sp>
      <p:sp>
        <p:nvSpPr>
          <p:cNvPr id="5" name="Text 2"/>
          <p:cNvSpPr/>
          <p:nvPr/>
        </p:nvSpPr>
        <p:spPr>
          <a:xfrm>
            <a:off x="914400" y="1874520"/>
            <a:ext cx="7315200" cy="347472"/>
          </a:xfrm>
          <a:prstGeom prst="rect">
            <a:avLst/>
          </a:prstGeom>
          <a:noFill/>
          <a:ln/>
        </p:spPr>
        <p:txBody>
          <a:bodyPr wrap="square" lIns="0" tIns="0" rIns="0" bIns="0" rtlCol="0" anchor="ctr"/>
          <a:lstStyle/>
          <a:p>
            <a:pPr algn="ctr" indent="0" marL="0">
              <a:buNone/>
            </a:pPr>
            <a:r>
              <a:rPr lang="en-US" sz="1200" dirty="0">
                <a:solidFill>
                  <a:srgbClr val="334155"/>
                </a:solidFill>
                <a:latin typeface="Calibri" pitchFamily="34" charset="0"/>
                <a:ea typeface="Calibri" pitchFamily="34" charset="-122"/>
                <a:cs typeface="Calibri" pitchFamily="34" charset="-120"/>
              </a:rPr>
              <a:t>A Contactless Dining Platform with Markerless WebXR 3D Augmented Reality &amp; Real-Time Kitchen Display System</a:t>
            </a:r>
            <a:endParaRPr lang="en-US" sz="1200" dirty="0"/>
          </a:p>
        </p:txBody>
      </p:sp>
      <p:sp>
        <p:nvSpPr>
          <p:cNvPr id="6" name="Shape 3"/>
          <p:cNvSpPr/>
          <p:nvPr/>
        </p:nvSpPr>
        <p:spPr>
          <a:xfrm>
            <a:off x="731520" y="2304288"/>
            <a:ext cx="3657600" cy="1783080"/>
          </a:xfrm>
          <a:prstGeom prst="roundRect">
            <a:avLst>
              <a:gd name="adj" fmla="val 4103"/>
            </a:avLst>
          </a:prstGeom>
          <a:solidFill>
            <a:srgbClr val="F8FAFC"/>
          </a:solidFill>
          <a:ln w="12700">
            <a:solidFill>
              <a:srgbClr val="E2E8F0"/>
            </a:solidFill>
            <a:prstDash val="solid"/>
          </a:ln>
        </p:spPr>
      </p:sp>
      <p:sp>
        <p:nvSpPr>
          <p:cNvPr id="7" name="Text 4"/>
          <p:cNvSpPr/>
          <p:nvPr/>
        </p:nvSpPr>
        <p:spPr>
          <a:xfrm>
            <a:off x="91440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PROJECT TEAM MEMBERS</a:t>
            </a:r>
            <a:endParaRPr lang="en-US" sz="1050" dirty="0"/>
          </a:p>
        </p:txBody>
      </p:sp>
      <p:sp>
        <p:nvSpPr>
          <p:cNvPr id="8" name="Text 5"/>
          <p:cNvSpPr/>
          <p:nvPr/>
        </p:nvSpPr>
        <p:spPr>
          <a:xfrm>
            <a:off x="914400" y="2670048"/>
            <a:ext cx="3291840" cy="1234440"/>
          </a:xfrm>
          <a:prstGeom prst="rect">
            <a:avLst/>
          </a:prstGeom>
          <a:noFill/>
          <a:ln/>
        </p:spPr>
        <p:txBody>
          <a:bodyPr wrap="square" lIns="0" tIns="0" rIns="0" bIns="0" rtlCol="0" anchor="ctr"/>
          <a:lstStyle/>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Manav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Lead Full-Stack &amp; Spatial AR Engineer</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Sanskar Suryavanshi</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Frontend Architect &amp; UI/UX Specialist</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Kesar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Systems Integration &amp; QA Lead</a:t>
            </a:r>
            <a:endParaRPr lang="en-US" sz="1050" dirty="0"/>
          </a:p>
        </p:txBody>
      </p:sp>
      <p:sp>
        <p:nvSpPr>
          <p:cNvPr id="9" name="Shape 6"/>
          <p:cNvSpPr/>
          <p:nvPr/>
        </p:nvSpPr>
        <p:spPr>
          <a:xfrm>
            <a:off x="4754880" y="2304288"/>
            <a:ext cx="3657600" cy="1783080"/>
          </a:xfrm>
          <a:prstGeom prst="roundRect">
            <a:avLst>
              <a:gd name="adj" fmla="val 4103"/>
            </a:avLst>
          </a:prstGeom>
          <a:solidFill>
            <a:srgbClr val="F8FAFC"/>
          </a:solidFill>
          <a:ln w="12700">
            <a:solidFill>
              <a:srgbClr val="E2E8F0"/>
            </a:solidFill>
            <a:prstDash val="solid"/>
          </a:ln>
        </p:spPr>
      </p:sp>
      <p:sp>
        <p:nvSpPr>
          <p:cNvPr id="10" name="Text 7"/>
          <p:cNvSpPr/>
          <p:nvPr/>
        </p:nvSpPr>
        <p:spPr>
          <a:xfrm>
            <a:off x="493776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MENTORSHIP &amp; INSTITUTION</a:t>
            </a:r>
            <a:endParaRPr lang="en-US" sz="1050" dirty="0"/>
          </a:p>
        </p:txBody>
      </p:sp>
      <p:sp>
        <p:nvSpPr>
          <p:cNvPr id="11" name="Text 8"/>
          <p:cNvSpPr/>
          <p:nvPr/>
        </p:nvSpPr>
        <p:spPr>
          <a:xfrm>
            <a:off x="4937760" y="2670048"/>
            <a:ext cx="3291840" cy="12344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Project Mentor &amp; Guide:</a:t>
            </a:r>
            <a:endParaRPr lang="en-US" sz="1000" dirty="0"/>
          </a:p>
          <a:p>
            <a:pPr indent="0" marL="0">
              <a:buNone/>
            </a:pPr>
            <a:r>
              <a:rPr lang="en-US" sz="1150" b="1" dirty="0">
                <a:solidFill>
                  <a:srgbClr val="0F172A"/>
                </a:solidFill>
                <a:latin typeface="Calibri" pitchFamily="34" charset="0"/>
                <a:ea typeface="Calibri" pitchFamily="34" charset="-122"/>
                <a:cs typeface="Calibri" pitchFamily="34" charset="-120"/>
              </a:rPr>
              <a:t>Prof. Vinitta Sunish</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Department:</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Institution:</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Thakur College of Engineering &amp; Technology (TCET)</a:t>
            </a:r>
            <a:endParaRPr lang="en-US" sz="1000" dirty="0"/>
          </a:p>
          <a:p>
            <a:pPr indent="0" marL="0">
              <a:buNone/>
            </a:pPr>
            <a:r>
              <a:rPr lang="en-US" sz="950" dirty="0">
                <a:solidFill>
                  <a:srgbClr val="2563EB"/>
                </a:solidFill>
                <a:latin typeface="Calibri" pitchFamily="34" charset="0"/>
                <a:ea typeface="Calibri" pitchFamily="34" charset="-122"/>
                <a:cs typeface="Calibri" pitchFamily="34" charset="-120"/>
              </a:rPr>
              <a:t>Affiliated with University of Mumbai</a:t>
            </a:r>
            <a:endParaRPr lang="en-US" sz="1000" dirty="0"/>
          </a:p>
        </p:txBody>
      </p:sp>
      <p:sp>
        <p:nvSpPr>
          <p:cNvPr id="12" name="Shape 9"/>
          <p:cNvSpPr/>
          <p:nvPr/>
        </p:nvSpPr>
        <p:spPr>
          <a:xfrm>
            <a:off x="731520" y="4206240"/>
            <a:ext cx="7680960" cy="411480"/>
          </a:xfrm>
          <a:prstGeom prst="roundRect">
            <a:avLst>
              <a:gd name="adj" fmla="val 13333"/>
            </a:avLst>
          </a:prstGeom>
          <a:solidFill>
            <a:srgbClr val="EFF6FF"/>
          </a:solidFill>
          <a:ln w="12700">
            <a:solidFill>
              <a:srgbClr val="BFDBFE"/>
            </a:solidFill>
            <a:prstDash val="solid"/>
          </a:ln>
        </p:spPr>
      </p:sp>
      <p:sp>
        <p:nvSpPr>
          <p:cNvPr id="13" name="Text 10"/>
          <p:cNvSpPr/>
          <p:nvPr/>
        </p:nvSpPr>
        <p:spPr>
          <a:xfrm>
            <a:off x="822960" y="4297680"/>
            <a:ext cx="7498080" cy="228600"/>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Live Production URL: https://smart-restaurant-2za8.vercel.app/   |   GitHub: MANAV0060/Smart-Restaurant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Problem Statement &amp; Dining Challenges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Context &amp; Motivation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93776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53312"/>
            <a:ext cx="45720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CRITICAL BOTTLENECKS IN TRADITIONAL DINING</a:t>
            </a:r>
            <a:endParaRPr lang="en-US" sz="1200" dirty="0"/>
          </a:p>
        </p:txBody>
      </p:sp>
      <p:sp>
        <p:nvSpPr>
          <p:cNvPr id="9" name="Text 6"/>
          <p:cNvSpPr/>
          <p:nvPr/>
        </p:nvSpPr>
        <p:spPr>
          <a:xfrm>
            <a:off x="731520" y="1664208"/>
            <a:ext cx="4572000" cy="274320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Unhygienic &amp; Inflexible Paper Menus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Physical laminated menus are touched by hundreds of patrons, creating persistent hygiene concerns. Furthermore, reprinting menus to adjust for seasonal pricing or ingredient stockouts generates recurring recurring costs.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2D Photo Ambiguity &amp; Food Wastage</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Flat 2D photographs fail to convey true spatial volume, depth, and presentation scale. This misjudgment frequently leads to order remorse, contributing to an estimated 18%–22% plate food return rate across casual restaurants.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Limitations of Early Digital Solutions</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Static QR code PDFs provide clumsy mobile navigation with zero interactive cart integration. Meanwhile, proprietary tabletop tablets (e.g. Ziosk) demand high upfront capital investment and suffer frequent hardware breakdowns.</a:t>
            </a:r>
            <a:endParaRPr lang="en-US" sz="950" dirty="0"/>
          </a:p>
        </p:txBody>
      </p:sp>
      <p:sp>
        <p:nvSpPr>
          <p:cNvPr id="10" name="Shape 7"/>
          <p:cNvSpPr/>
          <p:nvPr/>
        </p:nvSpPr>
        <p:spPr>
          <a:xfrm>
            <a:off x="5669280" y="1188720"/>
            <a:ext cx="2926080" cy="1051560"/>
          </a:xfrm>
          <a:prstGeom prst="roundRect">
            <a:avLst>
              <a:gd name="adj" fmla="val 6957"/>
            </a:avLst>
          </a:prstGeom>
          <a:solidFill>
            <a:srgbClr val="EFF6FF"/>
          </a:solidFill>
          <a:ln w="12700">
            <a:solidFill>
              <a:srgbClr val="BFDBFE"/>
            </a:solidFill>
            <a:prstDash val="solid"/>
          </a:ln>
        </p:spPr>
      </p:sp>
      <p:sp>
        <p:nvSpPr>
          <p:cNvPr id="11" name="Text 8"/>
          <p:cNvSpPr/>
          <p:nvPr/>
        </p:nvSpPr>
        <p:spPr>
          <a:xfrm>
            <a:off x="5806440" y="1280160"/>
            <a:ext cx="2651760" cy="320040"/>
          </a:xfrm>
          <a:prstGeom prst="rect">
            <a:avLst/>
          </a:prstGeom>
          <a:noFill/>
          <a:ln/>
        </p:spPr>
        <p:txBody>
          <a:bodyPr wrap="square" lIns="0" tIns="0" rIns="0" bIns="0" rtlCol="0" anchor="ctr"/>
          <a:lstStyle/>
          <a:p>
            <a:pPr indent="0" marL="0">
              <a:buNone/>
            </a:pPr>
            <a:r>
              <a:rPr lang="en-US" sz="1800" b="1" dirty="0">
                <a:solidFill>
                  <a:srgbClr val="DC2626"/>
                </a:solidFill>
                <a:latin typeface="Cambria" pitchFamily="34" charset="0"/>
                <a:ea typeface="Cambria" pitchFamily="34" charset="-122"/>
                <a:cs typeface="Cambria" pitchFamily="34" charset="-120"/>
              </a:rPr>
              <a:t>18% – 22%</a:t>
            </a:r>
            <a:endParaRPr lang="en-US" sz="1800" dirty="0"/>
          </a:p>
        </p:txBody>
      </p:sp>
      <p:sp>
        <p:nvSpPr>
          <p:cNvPr id="12" name="Text 9"/>
          <p:cNvSpPr/>
          <p:nvPr/>
        </p:nvSpPr>
        <p:spPr>
          <a:xfrm>
            <a:off x="5806440" y="1600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Food Plate Return Rate</a:t>
            </a:r>
            <a:endParaRPr lang="en-US" sz="950" dirty="0"/>
          </a:p>
        </p:txBody>
      </p:sp>
      <p:sp>
        <p:nvSpPr>
          <p:cNvPr id="13" name="Text 10"/>
          <p:cNvSpPr/>
          <p:nvPr/>
        </p:nvSpPr>
        <p:spPr>
          <a:xfrm>
            <a:off x="5806440" y="1847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Caused by portion misjudgment from 2D photos</a:t>
            </a:r>
            <a:endParaRPr lang="en-US" sz="850" dirty="0"/>
          </a:p>
        </p:txBody>
      </p:sp>
      <p:sp>
        <p:nvSpPr>
          <p:cNvPr id="14" name="Shape 11"/>
          <p:cNvSpPr/>
          <p:nvPr/>
        </p:nvSpPr>
        <p:spPr>
          <a:xfrm>
            <a:off x="5669280" y="2331720"/>
            <a:ext cx="2926080" cy="1051560"/>
          </a:xfrm>
          <a:prstGeom prst="roundRect">
            <a:avLst>
              <a:gd name="adj" fmla="val 6957"/>
            </a:avLst>
          </a:prstGeom>
          <a:solidFill>
            <a:srgbClr val="EFF6FF"/>
          </a:solidFill>
          <a:ln w="12700">
            <a:solidFill>
              <a:srgbClr val="BFDBFE"/>
            </a:solidFill>
            <a:prstDash val="solid"/>
          </a:ln>
        </p:spPr>
      </p:sp>
      <p:sp>
        <p:nvSpPr>
          <p:cNvPr id="15" name="Text 12"/>
          <p:cNvSpPr/>
          <p:nvPr/>
        </p:nvSpPr>
        <p:spPr>
          <a:xfrm>
            <a:off x="5806440" y="2423160"/>
            <a:ext cx="2651760" cy="320040"/>
          </a:xfrm>
          <a:prstGeom prst="rect">
            <a:avLst/>
          </a:prstGeom>
          <a:noFill/>
          <a:ln/>
        </p:spPr>
        <p:txBody>
          <a:bodyPr wrap="square" lIns="0" tIns="0" rIns="0" bIns="0" rtlCol="0" anchor="ctr"/>
          <a:lstStyle/>
          <a:p>
            <a:pPr indent="0" marL="0">
              <a:buNone/>
            </a:pPr>
            <a:r>
              <a:rPr lang="en-US" sz="1800" b="1" dirty="0">
                <a:solidFill>
                  <a:srgbClr val="D97706"/>
                </a:solidFill>
                <a:latin typeface="Cambria" pitchFamily="34" charset="0"/>
                <a:ea typeface="Cambria" pitchFamily="34" charset="-122"/>
                <a:cs typeface="Cambria" pitchFamily="34" charset="-120"/>
              </a:rPr>
              <a:t>₹3,50,000+</a:t>
            </a:r>
            <a:endParaRPr lang="en-US" sz="1800" dirty="0"/>
          </a:p>
        </p:txBody>
      </p:sp>
      <p:sp>
        <p:nvSpPr>
          <p:cNvPr id="16" name="Text 13"/>
          <p:cNvSpPr/>
          <p:nvPr/>
        </p:nvSpPr>
        <p:spPr>
          <a:xfrm>
            <a:off x="5806440" y="2743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Hardware CAPEX / 10 Tables</a:t>
            </a:r>
            <a:endParaRPr lang="en-US" sz="950" dirty="0"/>
          </a:p>
        </p:txBody>
      </p:sp>
      <p:sp>
        <p:nvSpPr>
          <p:cNvPr id="17" name="Text 14"/>
          <p:cNvSpPr/>
          <p:nvPr/>
        </p:nvSpPr>
        <p:spPr>
          <a:xfrm>
            <a:off x="5806440" y="2990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Cost of proprietary tabletop POS touchscreen devices</a:t>
            </a:r>
            <a:endParaRPr lang="en-US" sz="850" dirty="0"/>
          </a:p>
        </p:txBody>
      </p:sp>
      <p:sp>
        <p:nvSpPr>
          <p:cNvPr id="18" name="Shape 15"/>
          <p:cNvSpPr/>
          <p:nvPr/>
        </p:nvSpPr>
        <p:spPr>
          <a:xfrm>
            <a:off x="5669280" y="3474720"/>
            <a:ext cx="2926080" cy="1051560"/>
          </a:xfrm>
          <a:prstGeom prst="roundRect">
            <a:avLst>
              <a:gd name="adj" fmla="val 6957"/>
            </a:avLst>
          </a:prstGeom>
          <a:solidFill>
            <a:srgbClr val="EFF6FF"/>
          </a:solidFill>
          <a:ln w="12700">
            <a:solidFill>
              <a:srgbClr val="BFDBFE"/>
            </a:solidFill>
            <a:prstDash val="solid"/>
          </a:ln>
        </p:spPr>
      </p:sp>
      <p:sp>
        <p:nvSpPr>
          <p:cNvPr id="19" name="Text 16"/>
          <p:cNvSpPr/>
          <p:nvPr/>
        </p:nvSpPr>
        <p:spPr>
          <a:xfrm>
            <a:off x="5806440" y="3566160"/>
            <a:ext cx="2651760" cy="32004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70%+</a:t>
            </a:r>
            <a:endParaRPr lang="en-US" sz="1800" dirty="0"/>
          </a:p>
        </p:txBody>
      </p:sp>
      <p:sp>
        <p:nvSpPr>
          <p:cNvPr id="20" name="Text 17"/>
          <p:cNvSpPr/>
          <p:nvPr/>
        </p:nvSpPr>
        <p:spPr>
          <a:xfrm>
            <a:off x="5806440" y="3886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App Install Abandonment</a:t>
            </a:r>
            <a:endParaRPr lang="en-US" sz="950" dirty="0"/>
          </a:p>
        </p:txBody>
      </p:sp>
      <p:sp>
        <p:nvSpPr>
          <p:cNvPr id="21" name="Text 18"/>
          <p:cNvSpPr/>
          <p:nvPr/>
        </p:nvSpPr>
        <p:spPr>
          <a:xfrm>
            <a:off x="5806440" y="4133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Diners who refuse to install native AR apps in restaurants</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Relevance &amp; Environmental Sustainability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1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286000"/>
          </a:xfrm>
          <a:prstGeom prst="roundRect">
            <a:avLst>
              <a:gd name="adj" fmla="val 3200"/>
            </a:avLst>
          </a:prstGeom>
          <a:solidFill>
            <a:srgbClr val="F8FAFC"/>
          </a:solidFill>
          <a:ln w="12700">
            <a:solidFill>
              <a:srgbClr val="E2E8F0"/>
            </a:solidFill>
            <a:prstDash val="solid"/>
          </a:ln>
        </p:spPr>
      </p:sp>
      <p:sp>
        <p:nvSpPr>
          <p:cNvPr id="8" name="Text 5"/>
          <p:cNvSpPr/>
          <p:nvPr/>
        </p:nvSpPr>
        <p:spPr>
          <a:xfrm>
            <a:off x="7315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Societal &amp; Public Health</a:t>
            </a:r>
            <a:endParaRPr lang="en-US" sz="1300" dirty="0"/>
          </a:p>
        </p:txBody>
      </p:sp>
      <p:sp>
        <p:nvSpPr>
          <p:cNvPr id="9" name="Text 6"/>
          <p:cNvSpPr/>
          <p:nvPr/>
        </p:nvSpPr>
        <p:spPr>
          <a:xfrm>
            <a:off x="7315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Contactless ordering completely eliminates physical menu handling, preventing disease transmission vectors.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Explicit allergen declarations (Gluten, Dairy, Peanuts) and caloric metrics protect diner health.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Visual 3D representations provide an intuitive, universal dining experience for diverse patrons.</a:t>
            </a:r>
            <a:endParaRPr lang="en-US" sz="950" dirty="0"/>
          </a:p>
        </p:txBody>
      </p:sp>
      <p:sp>
        <p:nvSpPr>
          <p:cNvPr id="10" name="Shape 7"/>
          <p:cNvSpPr/>
          <p:nvPr/>
        </p:nvSpPr>
        <p:spPr>
          <a:xfrm>
            <a:off x="3291840" y="1188720"/>
            <a:ext cx="2560320" cy="2286000"/>
          </a:xfrm>
          <a:prstGeom prst="roundRect">
            <a:avLst>
              <a:gd name="adj" fmla="val 3200"/>
            </a:avLst>
          </a:prstGeom>
          <a:solidFill>
            <a:srgbClr val="F8FAFC"/>
          </a:solidFill>
          <a:ln w="12700">
            <a:solidFill>
              <a:srgbClr val="E2E8F0"/>
            </a:solidFill>
            <a:prstDash val="solid"/>
          </a:ln>
        </p:spPr>
      </p:sp>
      <p:sp>
        <p:nvSpPr>
          <p:cNvPr id="11" name="Text 8"/>
          <p:cNvSpPr/>
          <p:nvPr/>
        </p:nvSpPr>
        <p:spPr>
          <a:xfrm>
            <a:off x="34747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Industrial &amp; Economic</a:t>
            </a:r>
            <a:endParaRPr lang="en-US" sz="1300" dirty="0"/>
          </a:p>
        </p:txBody>
      </p:sp>
      <p:sp>
        <p:nvSpPr>
          <p:cNvPr id="12" name="Text 9"/>
          <p:cNvSpPr/>
          <p:nvPr/>
        </p:nvSpPr>
        <p:spPr>
          <a:xfrm>
            <a:off x="34747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Eliminates dedicated tabletop POS hardware by utilizing patrons' personal smartphones (Zero CAPEX).</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Speeds up table turnaround time by 25% through synchronized digital ordering and instant kitchen dispatch.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Cloud-managed digital menu eliminates recurring printing, lamination, and redesign overheads.</a:t>
            </a:r>
            <a:endParaRPr lang="en-US" sz="950" dirty="0"/>
          </a:p>
        </p:txBody>
      </p:sp>
      <p:sp>
        <p:nvSpPr>
          <p:cNvPr id="13" name="Shape 10"/>
          <p:cNvSpPr/>
          <p:nvPr/>
        </p:nvSpPr>
        <p:spPr>
          <a:xfrm>
            <a:off x="6035040" y="1188720"/>
            <a:ext cx="2560320" cy="2286000"/>
          </a:xfrm>
          <a:prstGeom prst="roundRect">
            <a:avLst>
              <a:gd name="adj" fmla="val 3200"/>
            </a:avLst>
          </a:prstGeom>
          <a:solidFill>
            <a:srgbClr val="F8FAFC"/>
          </a:solidFill>
          <a:ln w="12700">
            <a:solidFill>
              <a:srgbClr val="E2E8F0"/>
            </a:solidFill>
            <a:prstDash val="solid"/>
          </a:ln>
        </p:spPr>
      </p:sp>
      <p:sp>
        <p:nvSpPr>
          <p:cNvPr id="14" name="Text 11"/>
          <p:cNvSpPr/>
          <p:nvPr/>
        </p:nvSpPr>
        <p:spPr>
          <a:xfrm>
            <a:off x="62179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Environmental Impact</a:t>
            </a:r>
            <a:endParaRPr lang="en-US" sz="1300" dirty="0"/>
          </a:p>
        </p:txBody>
      </p:sp>
      <p:sp>
        <p:nvSpPr>
          <p:cNvPr id="15" name="Text 12"/>
          <p:cNvSpPr/>
          <p:nvPr/>
        </p:nvSpPr>
        <p:spPr>
          <a:xfrm>
            <a:off x="62179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100% paperless menu ecosystem saves kilograms of laminated paper and plastic per restaurant annually.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1:1 metric scale AR portion preview cuts food order remorse and plate return waste by up to 28%.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Serverless cloud deployment minimizes energy consumption compared to continuous on-premise servers.</a:t>
            </a:r>
            <a:endParaRPr lang="en-US" sz="950" dirty="0"/>
          </a:p>
        </p:txBody>
      </p:sp>
      <p:sp>
        <p:nvSpPr>
          <p:cNvPr id="16" name="Shape 13"/>
          <p:cNvSpPr/>
          <p:nvPr/>
        </p:nvSpPr>
        <p:spPr>
          <a:xfrm>
            <a:off x="548640" y="3657600"/>
            <a:ext cx="8046720" cy="1005840"/>
          </a:xfrm>
          <a:prstGeom prst="roundRect">
            <a:avLst>
              <a:gd name="adj" fmla="val 7273"/>
            </a:avLst>
          </a:prstGeom>
          <a:solidFill>
            <a:srgbClr val="EFF6FF"/>
          </a:solidFill>
          <a:ln w="12700">
            <a:solidFill>
              <a:srgbClr val="BFDBFE"/>
            </a:solidFill>
            <a:prstDash val="solid"/>
          </a:ln>
        </p:spPr>
      </p:sp>
      <p:sp>
        <p:nvSpPr>
          <p:cNvPr id="17" name="Text 14"/>
          <p:cNvSpPr/>
          <p:nvPr/>
        </p:nvSpPr>
        <p:spPr>
          <a:xfrm>
            <a:off x="731520" y="3767328"/>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UNITED NATIONS SUSTAINABLE DEVELOPMENT GOALS (SDGs) ALIGNMENT</a:t>
            </a:r>
            <a:endParaRPr lang="en-US" sz="950" dirty="0"/>
          </a:p>
        </p:txBody>
      </p:sp>
      <p:sp>
        <p:nvSpPr>
          <p:cNvPr id="18"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9 (Industry, Innovation &amp; Infrastructure): Advancing browser-based zero-install spatial computing in commercial dining.</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12 (Responsible Consumption &amp; Production): Mitigating food plate return waste through 1:1 metric scale portion previews.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13 (Climate Action): Eliminating recurring paper and lamination plastics from restaurant supply chains.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Main &amp; Specific Objectives and Target Outcomes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Scope</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PRIMARY &amp; SPECIFIC OBJECTIVES</a:t>
            </a:r>
            <a:endParaRPr lang="en-US" sz="13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Main Objective: Build and deploy a production-grade, zero-install WebXR &amp; Scene Viewer 3D AR smart menu with a synchronized real-time Kitchen Display System.</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Zero-Install 6-DoF AR: Implement WebXR Device API hit-testing to anchor 3D food items to physical tabletop planes with 1:1 metric accuracy.</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3D Asset Optimization Pipeline: Quantize and compress high-poly food models from 46MB down to &lt;10MB for rapid mobile loading (&lt;2.5s over 4G/5G).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Dual-Engine Fallback Architecture: Sniff client capability to dynamically route to WebXR or Google Scene Viewer Android Intent.</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Real-Time Kitchen Operations: Synchronize diner orders with a low-latency Kitchen Display System Kanban board with acoustic alerts.</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EXPECTED QUANTITATIVE OUTCOMES</a:t>
            </a:r>
            <a:endParaRPr lang="en-US" sz="13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Stable 60 FPS WebGL Rendering: Sustained 58–60 FPS rendering across contemporary mobile GPUs with zero thermal throttling.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 App Store Friction: 100% browser-based PWA execution eliminating the 70%+ user abandonment caused by mandatory app downloads.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Order Turnaround Acceleration: Decreased order-to-kitchen latency from 8+ minutes (waiter dependent) to instantaneous cloud dispatch.</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Existing Systems &amp; Research Gap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Literature Review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Native AR Apps (IKEA-style)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8" name="Shape 4"/>
          <p:cNvSpPr/>
          <p:nvPr/>
        </p:nvSpPr>
        <p:spPr>
          <a:xfrm>
            <a:off x="548640" y="3383280"/>
            <a:ext cx="8046720" cy="1234440"/>
          </a:xfrm>
          <a:prstGeom prst="roundRect">
            <a:avLst>
              <a:gd name="adj" fmla="val 5926"/>
            </a:avLst>
          </a:prstGeom>
          <a:solidFill>
            <a:srgbClr val="F8FAFC"/>
          </a:solidFill>
          <a:ln w="12700">
            <a:solidFill>
              <a:srgbClr val="E2E8F0"/>
            </a:solidFill>
            <a:prstDash val="solid"/>
          </a:ln>
        </p:spPr>
      </p:sp>
      <p:sp>
        <p:nvSpPr>
          <p:cNvPr id="9" name="Text 5"/>
          <p:cNvSpPr/>
          <p:nvPr/>
        </p:nvSpPr>
        <p:spPr>
          <a:xfrm>
            <a:off x="731520" y="3520440"/>
            <a:ext cx="7680960" cy="201168"/>
          </a:xfrm>
          <a:prstGeom prst="rect">
            <a:avLst/>
          </a:prstGeom>
          <a:noFill/>
          <a:ln/>
        </p:spPr>
        <p:txBody>
          <a:bodyPr wrap="square" lIns="0" tIns="0" rIns="0" bIns="0" rtlCol="0" anchor="ctr"/>
          <a:lstStyle/>
          <a:p>
            <a:pPr indent="0" marL="0">
              <a:buNone/>
            </a:pPr>
            <a:r>
              <a:rPr lang="en-US" sz="1000" b="1" dirty="0">
                <a:solidFill>
                  <a:srgbClr val="1E3A8A"/>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10"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While spatial computing offers documented benefits in e-commerce, previous hospitality deployments required proprietary native apps, causing severe patron drop-off during ephemeral restaurant dining.</a:t>
            </a:r>
            <a:endParaRPr lang="en-US" sz="950" dirty="0"/>
          </a:p>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Engineering Imperative: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Our research delivers true 6-DoF tabletop plane detection and optimized 3D asset delivery directly inside mobile browsers without app installation, maintaining 60 FPS while reducing initial hardware costs to zero.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Proposed Smart Restaurant Architecture &amp; Workflow</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Overview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1965960" cy="1325880"/>
          </a:xfrm>
          <a:prstGeom prst="roundRect">
            <a:avLst>
              <a:gd name="adj" fmla="val 5517"/>
            </a:avLst>
          </a:prstGeom>
          <a:solidFill>
            <a:srgbClr val="EFF6FF"/>
          </a:solidFill>
          <a:ln w="12700">
            <a:solidFill>
              <a:srgbClr val="BFDBFE"/>
            </a:solidFill>
            <a:prstDash val="solid"/>
          </a:ln>
        </p:spPr>
      </p:sp>
      <p:sp>
        <p:nvSpPr>
          <p:cNvPr id="8" name="Text 5"/>
          <p:cNvSpPr/>
          <p:nvPr/>
        </p:nvSpPr>
        <p:spPr>
          <a:xfrm>
            <a:off x="6858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01</a:t>
            </a:r>
            <a:endParaRPr lang="en-US" sz="900" dirty="0"/>
          </a:p>
        </p:txBody>
      </p:sp>
      <p:sp>
        <p:nvSpPr>
          <p:cNvPr id="9" name="Text 6"/>
          <p:cNvSpPr/>
          <p:nvPr/>
        </p:nvSpPr>
        <p:spPr>
          <a:xfrm>
            <a:off x="6858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Scan Table QR</a:t>
            </a:r>
            <a:endParaRPr lang="en-US" sz="1150" dirty="0"/>
          </a:p>
        </p:txBody>
      </p:sp>
      <p:sp>
        <p:nvSpPr>
          <p:cNvPr id="10" name="Text 7"/>
          <p:cNvSpPr/>
          <p:nvPr/>
        </p:nvSpPr>
        <p:spPr>
          <a:xfrm>
            <a:off x="6858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PWA launch (`/?table=1`) with active cart session</a:t>
            </a:r>
            <a:endParaRPr lang="en-US" sz="850" dirty="0"/>
          </a:p>
        </p:txBody>
      </p:sp>
      <p:sp>
        <p:nvSpPr>
          <p:cNvPr id="11" name="Shape 8"/>
          <p:cNvSpPr/>
          <p:nvPr/>
        </p:nvSpPr>
        <p:spPr>
          <a:xfrm>
            <a:off x="2606040" y="1188720"/>
            <a:ext cx="1965960" cy="1325880"/>
          </a:xfrm>
          <a:prstGeom prst="roundRect">
            <a:avLst>
              <a:gd name="adj" fmla="val 5517"/>
            </a:avLst>
          </a:prstGeom>
          <a:solidFill>
            <a:srgbClr val="EFF6FF"/>
          </a:solidFill>
          <a:ln w="12700">
            <a:solidFill>
              <a:srgbClr val="BFDBFE"/>
            </a:solidFill>
            <a:prstDash val="solid"/>
          </a:ln>
        </p:spPr>
      </p:sp>
      <p:sp>
        <p:nvSpPr>
          <p:cNvPr id="12" name="Text 9"/>
          <p:cNvSpPr/>
          <p:nvPr/>
        </p:nvSpPr>
        <p:spPr>
          <a:xfrm>
            <a:off x="27432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02</a:t>
            </a:r>
            <a:endParaRPr lang="en-US" sz="900" dirty="0"/>
          </a:p>
        </p:txBody>
      </p:sp>
      <p:sp>
        <p:nvSpPr>
          <p:cNvPr id="13" name="Text 10"/>
          <p:cNvSpPr/>
          <p:nvPr/>
        </p:nvSpPr>
        <p:spPr>
          <a:xfrm>
            <a:off x="27432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Filter Menu</a:t>
            </a:r>
            <a:endParaRPr lang="en-US" sz="1150" dirty="0"/>
          </a:p>
        </p:txBody>
      </p:sp>
      <p:sp>
        <p:nvSpPr>
          <p:cNvPr id="14" name="Text 11"/>
          <p:cNvSpPr/>
          <p:nvPr/>
        </p:nvSpPr>
        <p:spPr>
          <a:xfrm>
            <a:off x="27432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Interactive search by veg, allergens, spice &amp; calories</a:t>
            </a:r>
            <a:endParaRPr lang="en-US" sz="850" dirty="0"/>
          </a:p>
        </p:txBody>
      </p:sp>
      <p:sp>
        <p:nvSpPr>
          <p:cNvPr id="15" name="Shape 12"/>
          <p:cNvSpPr/>
          <p:nvPr/>
        </p:nvSpPr>
        <p:spPr>
          <a:xfrm>
            <a:off x="4663440" y="1188720"/>
            <a:ext cx="1965960" cy="1325880"/>
          </a:xfrm>
          <a:prstGeom prst="roundRect">
            <a:avLst>
              <a:gd name="adj" fmla="val 5517"/>
            </a:avLst>
          </a:prstGeom>
          <a:solidFill>
            <a:srgbClr val="EFF6FF"/>
          </a:solidFill>
          <a:ln w="12700">
            <a:solidFill>
              <a:srgbClr val="BFDBFE"/>
            </a:solidFill>
            <a:prstDash val="solid"/>
          </a:ln>
        </p:spPr>
      </p:sp>
      <p:sp>
        <p:nvSpPr>
          <p:cNvPr id="16" name="Text 13"/>
          <p:cNvSpPr/>
          <p:nvPr/>
        </p:nvSpPr>
        <p:spPr>
          <a:xfrm>
            <a:off x="48006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03</a:t>
            </a:r>
            <a:endParaRPr lang="en-US" sz="900" dirty="0"/>
          </a:p>
        </p:txBody>
      </p:sp>
      <p:sp>
        <p:nvSpPr>
          <p:cNvPr id="17" name="Text 14"/>
          <p:cNvSpPr/>
          <p:nvPr/>
        </p:nvSpPr>
        <p:spPr>
          <a:xfrm>
            <a:off x="48006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3D AR Preview</a:t>
            </a:r>
            <a:endParaRPr lang="en-US" sz="1150" dirty="0"/>
          </a:p>
        </p:txBody>
      </p:sp>
      <p:sp>
        <p:nvSpPr>
          <p:cNvPr id="18" name="Text 15"/>
          <p:cNvSpPr/>
          <p:nvPr/>
        </p:nvSpPr>
        <p:spPr>
          <a:xfrm>
            <a:off x="48006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1:1 scale dish placed onto physical table surface</a:t>
            </a:r>
            <a:endParaRPr lang="en-US" sz="850" dirty="0"/>
          </a:p>
        </p:txBody>
      </p:sp>
      <p:sp>
        <p:nvSpPr>
          <p:cNvPr id="19" name="Shape 16"/>
          <p:cNvSpPr/>
          <p:nvPr/>
        </p:nvSpPr>
        <p:spPr>
          <a:xfrm>
            <a:off x="6720840" y="1188720"/>
            <a:ext cx="1965960" cy="1325880"/>
          </a:xfrm>
          <a:prstGeom prst="roundRect">
            <a:avLst>
              <a:gd name="adj" fmla="val 5517"/>
            </a:avLst>
          </a:prstGeom>
          <a:solidFill>
            <a:srgbClr val="EFF6FF"/>
          </a:solidFill>
          <a:ln w="12700">
            <a:solidFill>
              <a:srgbClr val="BFDBFE"/>
            </a:solidFill>
            <a:prstDash val="solid"/>
          </a:ln>
        </p:spPr>
      </p:sp>
      <p:sp>
        <p:nvSpPr>
          <p:cNvPr id="20" name="Text 17"/>
          <p:cNvSpPr/>
          <p:nvPr/>
        </p:nvSpPr>
        <p:spPr>
          <a:xfrm>
            <a:off x="68580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04</a:t>
            </a:r>
            <a:endParaRPr lang="en-US" sz="900" dirty="0"/>
          </a:p>
        </p:txBody>
      </p:sp>
      <p:sp>
        <p:nvSpPr>
          <p:cNvPr id="21" name="Text 18"/>
          <p:cNvSpPr/>
          <p:nvPr/>
        </p:nvSpPr>
        <p:spPr>
          <a:xfrm>
            <a:off x="68580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Live KDS Dispatch</a:t>
            </a:r>
            <a:endParaRPr lang="en-US" sz="1150" dirty="0"/>
          </a:p>
        </p:txBody>
      </p:sp>
      <p:sp>
        <p:nvSpPr>
          <p:cNvPr id="22" name="Text 19"/>
          <p:cNvSpPr/>
          <p:nvPr/>
        </p:nvSpPr>
        <p:spPr>
          <a:xfrm>
            <a:off x="68580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kitchen ticket queue with acoustic alert</a:t>
            </a:r>
            <a:endParaRPr lang="en-US" sz="850" dirty="0"/>
          </a:p>
        </p:txBody>
      </p:sp>
      <p:sp>
        <p:nvSpPr>
          <p:cNvPr id="23" name="Shape 20"/>
          <p:cNvSpPr/>
          <p:nvPr/>
        </p:nvSpPr>
        <p:spPr>
          <a:xfrm>
            <a:off x="548640" y="2697480"/>
            <a:ext cx="3931920" cy="1920240"/>
          </a:xfrm>
          <a:prstGeom prst="roundRect">
            <a:avLst>
              <a:gd name="adj" fmla="val 3810"/>
            </a:avLst>
          </a:prstGeom>
          <a:solidFill>
            <a:srgbClr val="F8FAFC"/>
          </a:solidFill>
          <a:ln w="12700">
            <a:solidFill>
              <a:srgbClr val="E2E8F0"/>
            </a:solidFill>
            <a:prstDash val="solid"/>
          </a:ln>
        </p:spPr>
      </p:sp>
      <p:sp>
        <p:nvSpPr>
          <p:cNvPr id="24" name="Text 21"/>
          <p:cNvSpPr/>
          <p:nvPr/>
        </p:nvSpPr>
        <p:spPr>
          <a:xfrm>
            <a:off x="7772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Customer-Facing Spatial Dining Experience</a:t>
            </a:r>
            <a:endParaRPr lang="en-US" sz="1250" dirty="0"/>
          </a:p>
        </p:txBody>
      </p:sp>
      <p:sp>
        <p:nvSpPr>
          <p:cNvPr id="25" name="Text 22"/>
          <p:cNvSpPr/>
          <p:nvPr/>
        </p:nvSpPr>
        <p:spPr>
          <a:xfrm>
            <a:off x="7772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Installation Barrier: Runs directly inside Chrome, Safari, and Edge on Android &amp; iOS.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Metric Scale (1:1): Dispel portion uncertainty by projecting true-to-life food dimensions onto the table.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Nutritional &amp; Dietary Transparency: Live calorie count, allergen filtering, and customization notes.</a:t>
            </a:r>
            <a:endParaRPr lang="en-US" sz="950" dirty="0"/>
          </a:p>
        </p:txBody>
      </p:sp>
      <p:sp>
        <p:nvSpPr>
          <p:cNvPr id="26" name="Shape 23"/>
          <p:cNvSpPr/>
          <p:nvPr/>
        </p:nvSpPr>
        <p:spPr>
          <a:xfrm>
            <a:off x="4663440" y="2697480"/>
            <a:ext cx="3931920" cy="1920240"/>
          </a:xfrm>
          <a:prstGeom prst="roundRect">
            <a:avLst>
              <a:gd name="adj" fmla="val 3810"/>
            </a:avLst>
          </a:prstGeom>
          <a:solidFill>
            <a:srgbClr val="F8FAFC"/>
          </a:solidFill>
          <a:ln w="12700">
            <a:solidFill>
              <a:srgbClr val="E2E8F0"/>
            </a:solidFill>
            <a:prstDash val="solid"/>
          </a:ln>
        </p:spPr>
      </p:sp>
      <p:sp>
        <p:nvSpPr>
          <p:cNvPr id="27" name="Text 24"/>
          <p:cNvSpPr/>
          <p:nvPr/>
        </p:nvSpPr>
        <p:spPr>
          <a:xfrm>
            <a:off x="48920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Kitchen &amp; Operational Backend Coordination</a:t>
            </a:r>
            <a:endParaRPr lang="en-US" sz="1250" dirty="0"/>
          </a:p>
        </p:txBody>
      </p:sp>
      <p:sp>
        <p:nvSpPr>
          <p:cNvPr id="28" name="Text 25"/>
          <p:cNvSpPr/>
          <p:nvPr/>
        </p:nvSpPr>
        <p:spPr>
          <a:xfrm>
            <a:off x="48920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Bidirectional State Synchronization: Table orders land instantly on kitchen display with synthesized sound alert.</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Stateful Ticket Lifecycle: Chef advances orders through Pending ➔ Preparing ➔ Ready ➔ Delivered.</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Table Hardware Footprint: Staff and patrons use existing screens, eliminating ₹3.5L+ in POS equipment.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Technical Complexity &amp; Engineering Problem-Solving</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2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#01</a:t>
            </a:r>
            <a:endParaRPr lang="en-US" sz="850" dirty="0"/>
          </a:p>
        </p:txBody>
      </p:sp>
      <p:sp>
        <p:nvSpPr>
          <p:cNvPr id="9" name="Text 6"/>
          <p:cNvSpPr/>
          <p:nvPr/>
        </p:nvSpPr>
        <p:spPr>
          <a:xfrm>
            <a:off x="7772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Table Plane Hit-Testing vs. Sensor Drift</a:t>
            </a:r>
            <a:endParaRPr lang="en-US" sz="1150" dirty="0"/>
          </a:p>
        </p:txBody>
      </p:sp>
      <p:sp>
        <p:nvSpPr>
          <p:cNvPr id="10" name="Text 7"/>
          <p:cNvSpPr/>
          <p:nvPr/>
        </p:nvSpPr>
        <p:spPr>
          <a:xfrm>
            <a:off x="7772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Using raw phone IMU orientation caused 3D food models to float and drift whenever the user shifted posture.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Implemented native WebXR `requestHitTestSource()` to calculate exact ray-plane intersections with physical tables, locking models firmly in 6-DoF.</a:t>
            </a:r>
            <a:endParaRPr lang="en-US" sz="8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#02</a:t>
            </a:r>
            <a:endParaRPr lang="en-US" sz="850" dirty="0"/>
          </a:p>
        </p:txBody>
      </p:sp>
      <p:sp>
        <p:nvSpPr>
          <p:cNvPr id="13" name="Text 10"/>
          <p:cNvSpPr/>
          <p:nvPr/>
        </p:nvSpPr>
        <p:spPr>
          <a:xfrm>
            <a:off x="48920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Photogrammetry Payload vs. Mobile Memory</a:t>
            </a:r>
            <a:endParaRPr lang="en-US" sz="1150" dirty="0"/>
          </a:p>
        </p:txBody>
      </p:sp>
      <p:sp>
        <p:nvSpPr>
          <p:cNvPr id="14" name="Text 11"/>
          <p:cNvSpPr/>
          <p:nvPr/>
        </p:nvSpPr>
        <p:spPr>
          <a:xfrm>
            <a:off x="48920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Raw 3D models with 8K textures exceeded 46 MB, taking over 14 seconds to load and triggering mobile browser Out-Of-Memory (OOM) crashes.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Automated `@gltf-transform` pipeline to downsample textures to 2K WebP and apply Draco quantization, shrinking `pizza.glb` by 78% (10.2 MB) and load time to 1.8s.</a:t>
            </a:r>
            <a:endParaRPr lang="en-US" sz="8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#03</a:t>
            </a:r>
            <a:endParaRPr lang="en-US" sz="850" dirty="0"/>
          </a:p>
        </p:txBody>
      </p:sp>
      <p:sp>
        <p:nvSpPr>
          <p:cNvPr id="17" name="Text 14"/>
          <p:cNvSpPr/>
          <p:nvPr/>
        </p:nvSpPr>
        <p:spPr>
          <a:xfrm>
            <a:off x="7772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Browser Fragmentation vs. Universal Access</a:t>
            </a:r>
            <a:endParaRPr lang="en-US" sz="1150" dirty="0"/>
          </a:p>
        </p:txBody>
      </p:sp>
      <p:sp>
        <p:nvSpPr>
          <p:cNvPr id="18" name="Text 15"/>
          <p:cNvSpPr/>
          <p:nvPr/>
        </p:nvSpPr>
        <p:spPr>
          <a:xfrm>
            <a:off x="7772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Older smartphone browsers lack full WebXR AR session support, which would alienate patrons.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Created an adaptive dual-engine fallback that dynamically sniffed device capabilities and redirected Android users to Google Scene Viewer Intent via ARCore.</a:t>
            </a:r>
            <a:endParaRPr lang="en-US" sz="8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#04</a:t>
            </a:r>
            <a:endParaRPr lang="en-US" sz="850" dirty="0"/>
          </a:p>
        </p:txBody>
      </p:sp>
      <p:sp>
        <p:nvSpPr>
          <p:cNvPr id="21" name="Text 18"/>
          <p:cNvSpPr/>
          <p:nvPr/>
        </p:nvSpPr>
        <p:spPr>
          <a:xfrm>
            <a:off x="48920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Mobile Sandbox CORS &amp; Binary MIME Headers</a:t>
            </a:r>
            <a:endParaRPr lang="en-US" sz="1150" dirty="0"/>
          </a:p>
        </p:txBody>
      </p:sp>
      <p:sp>
        <p:nvSpPr>
          <p:cNvPr id="22" name="Text 19"/>
          <p:cNvSpPr/>
          <p:nvPr/>
        </p:nvSpPr>
        <p:spPr>
          <a:xfrm>
            <a:off x="48920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Mobile AR viewers refused to stream 3D GLB assets from standard cloud buckets due to strict cross-origin CORS and missing MIME types.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Configured Vercel Edge rules (`vercel.json`) enforcing `Content-Type: model/gltf-binary` and `Access-Control-Allow-Origin: *` for instant edge caching.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Layered Architecture &amp; Inter-System Communication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Design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749808"/>
          </a:xfrm>
          <a:prstGeom prst="roundRect">
            <a:avLst>
              <a:gd name="adj" fmla="val 9756"/>
            </a:avLst>
          </a:prstGeom>
          <a:solidFill>
            <a:srgbClr val="F8FAFC"/>
          </a:solidFill>
          <a:ln w="12700">
            <a:solidFill>
              <a:srgbClr val="E2E8F0"/>
            </a:solidFill>
            <a:prstDash val="solid"/>
          </a:ln>
        </p:spPr>
      </p:sp>
      <p:sp>
        <p:nvSpPr>
          <p:cNvPr id="8" name="Text 5"/>
          <p:cNvSpPr/>
          <p:nvPr/>
        </p:nvSpPr>
        <p:spPr>
          <a:xfrm>
            <a:off x="731520" y="1280160"/>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1: Presentation &amp; Client PWA</a:t>
            </a:r>
            <a:endParaRPr lang="en-US" sz="1200" dirty="0"/>
          </a:p>
        </p:txBody>
      </p:sp>
      <p:sp>
        <p:nvSpPr>
          <p:cNvPr id="9" name="Text 6"/>
          <p:cNvSpPr/>
          <p:nvPr/>
        </p:nvSpPr>
        <p:spPr>
          <a:xfrm>
            <a:off x="5120640" y="1280160"/>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React 18.3 | TypeScript 5.2 | Tailwind CSS | Vite</a:t>
            </a:r>
            <a:endParaRPr lang="en-US" sz="950" dirty="0"/>
          </a:p>
        </p:txBody>
      </p:sp>
      <p:sp>
        <p:nvSpPr>
          <p:cNvPr id="10" name="Text 7"/>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Responsive customer dining interface, table session parsing (`/?table=1`), category tabs, dish detail modals, and cart persistence.</a:t>
            </a:r>
            <a:endParaRPr lang="en-US" sz="950" dirty="0"/>
          </a:p>
        </p:txBody>
      </p:sp>
      <p:sp>
        <p:nvSpPr>
          <p:cNvPr id="11" name="Shape 8"/>
          <p:cNvSpPr/>
          <p:nvPr/>
        </p:nvSpPr>
        <p:spPr>
          <a:xfrm>
            <a:off x="548640" y="2029968"/>
            <a:ext cx="8046720" cy="749808"/>
          </a:xfrm>
          <a:prstGeom prst="roundRect">
            <a:avLst>
              <a:gd name="adj" fmla="val 9756"/>
            </a:avLst>
          </a:prstGeom>
          <a:solidFill>
            <a:srgbClr val="F8FAFC"/>
          </a:solidFill>
          <a:ln w="12700">
            <a:solidFill>
              <a:srgbClr val="E2E8F0"/>
            </a:solidFill>
            <a:prstDash val="solid"/>
          </a:ln>
        </p:spPr>
      </p:sp>
      <p:sp>
        <p:nvSpPr>
          <p:cNvPr id="12" name="Text 9"/>
          <p:cNvSpPr/>
          <p:nvPr/>
        </p:nvSpPr>
        <p:spPr>
          <a:xfrm>
            <a:off x="731520" y="2121408"/>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2: Spatial 3D &amp; Augmented Reality Subsystem</a:t>
            </a:r>
            <a:endParaRPr lang="en-US" sz="1200" dirty="0"/>
          </a:p>
        </p:txBody>
      </p:sp>
      <p:sp>
        <p:nvSpPr>
          <p:cNvPr id="13" name="Text 10"/>
          <p:cNvSpPr/>
          <p:nvPr/>
        </p:nvSpPr>
        <p:spPr>
          <a:xfrm>
            <a:off x="5120640" y="2121408"/>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Three.js r128+ | WebXR Device API | Google Scene Viewer</a:t>
            </a:r>
            <a:endParaRPr lang="en-US" sz="950" dirty="0"/>
          </a:p>
        </p:txBody>
      </p:sp>
      <p:sp>
        <p:nvSpPr>
          <p:cNvPr id="14" name="Text 11"/>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6-DoF raycasting surface hit-testing, dynamic reticle tracking, 1:1 metric scale clamping, model rotation gestures, and Android Scene Viewer fallback.</a:t>
            </a:r>
            <a:endParaRPr lang="en-US" sz="950" dirty="0"/>
          </a:p>
        </p:txBody>
      </p:sp>
      <p:sp>
        <p:nvSpPr>
          <p:cNvPr id="15" name="Shape 12"/>
          <p:cNvSpPr/>
          <p:nvPr/>
        </p:nvSpPr>
        <p:spPr>
          <a:xfrm>
            <a:off x="548640" y="2871216"/>
            <a:ext cx="8046720" cy="749808"/>
          </a:xfrm>
          <a:prstGeom prst="roundRect">
            <a:avLst>
              <a:gd name="adj" fmla="val 9756"/>
            </a:avLst>
          </a:prstGeom>
          <a:solidFill>
            <a:srgbClr val="F8FAFC"/>
          </a:solidFill>
          <a:ln w="12700">
            <a:solidFill>
              <a:srgbClr val="E2E8F0"/>
            </a:solidFill>
            <a:prstDash val="solid"/>
          </a:ln>
        </p:spPr>
      </p:sp>
      <p:sp>
        <p:nvSpPr>
          <p:cNvPr id="16" name="Text 13"/>
          <p:cNvSpPr/>
          <p:nvPr/>
        </p:nvSpPr>
        <p:spPr>
          <a:xfrm>
            <a:off x="731520" y="2962656"/>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3: Application State &amp; Kitchen Operations</a:t>
            </a:r>
            <a:endParaRPr lang="en-US" sz="1200" dirty="0"/>
          </a:p>
        </p:txBody>
      </p:sp>
      <p:sp>
        <p:nvSpPr>
          <p:cNvPr id="17" name="Text 14"/>
          <p:cNvSpPr/>
          <p:nvPr/>
        </p:nvSpPr>
        <p:spPr>
          <a:xfrm>
            <a:off x="5120640" y="2962656"/>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Zustand Global Store | Web Audio API | KDS Kanban</a:t>
            </a:r>
            <a:endParaRPr lang="en-US" sz="950" dirty="0"/>
          </a:p>
        </p:txBody>
      </p:sp>
      <p:sp>
        <p:nvSpPr>
          <p:cNvPr id="18" name="Text 15"/>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Decoupled state management, kitchen ticket lifecycle (Pending ➔ Preparing ➔ Ready ➔ Delivered), and acoustic chime alerts.</a:t>
            </a:r>
            <a:endParaRPr lang="en-US" sz="950" dirty="0"/>
          </a:p>
        </p:txBody>
      </p:sp>
      <p:sp>
        <p:nvSpPr>
          <p:cNvPr id="19" name="Shape 16"/>
          <p:cNvSpPr/>
          <p:nvPr/>
        </p:nvSpPr>
        <p:spPr>
          <a:xfrm>
            <a:off x="548640" y="3712464"/>
            <a:ext cx="8046720" cy="749808"/>
          </a:xfrm>
          <a:prstGeom prst="roundRect">
            <a:avLst>
              <a:gd name="adj" fmla="val 9756"/>
            </a:avLst>
          </a:prstGeom>
          <a:solidFill>
            <a:srgbClr val="F8FAFC"/>
          </a:solidFill>
          <a:ln w="12700">
            <a:solidFill>
              <a:srgbClr val="E2E8F0"/>
            </a:solidFill>
            <a:prstDash val="solid"/>
          </a:ln>
        </p:spPr>
      </p:sp>
      <p:sp>
        <p:nvSpPr>
          <p:cNvPr id="20" name="Text 17"/>
          <p:cNvSpPr/>
          <p:nvPr/>
        </p:nvSpPr>
        <p:spPr>
          <a:xfrm>
            <a:off x="731520" y="3803904"/>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4: Cloud Edge Infrastructure &amp; Asset Delivery</a:t>
            </a:r>
            <a:endParaRPr lang="en-US" sz="1200" dirty="0"/>
          </a:p>
        </p:txBody>
      </p:sp>
      <p:sp>
        <p:nvSpPr>
          <p:cNvPr id="21" name="Text 18"/>
          <p:cNvSpPr/>
          <p:nvPr/>
        </p:nvSpPr>
        <p:spPr>
          <a:xfrm>
            <a:off x="5120640" y="3803904"/>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Vercel Serverless Edge | Edge CDN | GLB MIME Routing</a:t>
            </a:r>
            <a:endParaRPr lang="en-US" sz="950" dirty="0"/>
          </a:p>
        </p:txBody>
      </p:sp>
      <p:sp>
        <p:nvSpPr>
          <p:cNvPr id="22" name="Text 19"/>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Static global edge distribution, 3D asset caching, custom binary MIME response headers, and automated GitHub CI/CD build deployment.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Comprehensive Technology Stack &amp; Tools Matrix</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Engineering Stack</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Frontend &amp; UI Framework</a:t>
            </a:r>
            <a:endParaRPr lang="en-US" sz="1200" dirty="0"/>
          </a:p>
        </p:txBody>
      </p:sp>
      <p:sp>
        <p:nvSpPr>
          <p:cNvPr id="9" name="Text 6"/>
          <p:cNvSpPr/>
          <p:nvPr/>
        </p:nvSpPr>
        <p:spPr>
          <a:xfrm>
            <a:off x="7772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React 18.3, TypeScript 5.2, Vite 5.4, Tailwind CSS 3.4, Lucide Icons</a:t>
            </a:r>
            <a:endParaRPr lang="en-US" sz="900" dirty="0"/>
          </a:p>
        </p:txBody>
      </p:sp>
      <p:sp>
        <p:nvSpPr>
          <p:cNvPr id="10" name="Text 7"/>
          <p:cNvSpPr/>
          <p:nvPr/>
        </p:nvSpPr>
        <p:spPr>
          <a:xfrm>
            <a:off x="7772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Spatial AR &amp; 3D Graphics</a:t>
            </a:r>
            <a:endParaRPr lang="en-US" sz="1200" dirty="0"/>
          </a:p>
        </p:txBody>
      </p:sp>
      <p:sp>
        <p:nvSpPr>
          <p:cNvPr id="13" name="Text 10"/>
          <p:cNvSpPr/>
          <p:nvPr/>
        </p:nvSpPr>
        <p:spPr>
          <a:xfrm>
            <a:off x="48920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Three.js r128+, WebXR Device API, @google/model-viewer 4.0, glTF 2.0</a:t>
            </a:r>
            <a:endParaRPr lang="en-US" sz="900" dirty="0"/>
          </a:p>
        </p:txBody>
      </p:sp>
      <p:sp>
        <p:nvSpPr>
          <p:cNvPr id="14" name="Text 11"/>
          <p:cNvSpPr/>
          <p:nvPr/>
        </p:nvSpPr>
        <p:spPr>
          <a:xfrm>
            <a:off x="48920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State &amp; Audio Systems</a:t>
            </a:r>
            <a:endParaRPr lang="en-US" sz="1200" dirty="0"/>
          </a:p>
        </p:txBody>
      </p:sp>
      <p:sp>
        <p:nvSpPr>
          <p:cNvPr id="17" name="Text 14"/>
          <p:cNvSpPr/>
          <p:nvPr/>
        </p:nvSpPr>
        <p:spPr>
          <a:xfrm>
            <a:off x="7772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8" name="Text 15"/>
          <p:cNvSpPr/>
          <p:nvPr/>
        </p:nvSpPr>
        <p:spPr>
          <a:xfrm>
            <a:off x="7772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Tooling, Compression &amp; Cloud</a:t>
            </a:r>
            <a:endParaRPr lang="en-US" sz="1200" dirty="0"/>
          </a:p>
        </p:txBody>
      </p:sp>
      <p:sp>
        <p:nvSpPr>
          <p:cNvPr id="21" name="Text 18"/>
          <p:cNvSpPr/>
          <p:nvPr/>
        </p:nvSpPr>
        <p:spPr>
          <a:xfrm>
            <a:off x="48920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2" name="Text 19"/>
          <p:cNvSpPr/>
          <p:nvPr/>
        </p:nvSpPr>
        <p:spPr>
          <a:xfrm>
            <a:off x="48920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Management: Agile Sprints &amp; Risk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4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AGILE SPRINTS &amp; MILESTONE TIMELINE</a:t>
            </a:r>
            <a:endParaRPr lang="en-US" sz="12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STRUCTURED RISK MANAGEMENT MATRIX</a:t>
            </a:r>
            <a:endParaRPr lang="en-US" sz="12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Teamwork, Task Allocation &amp; Collaboration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5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377440"/>
          </a:xfrm>
          <a:prstGeom prst="roundRect">
            <a:avLst>
              <a:gd name="adj" fmla="val 3077"/>
            </a:avLst>
          </a:prstGeom>
          <a:solidFill>
            <a:srgbClr val="F8FAFC"/>
          </a:solidFill>
          <a:ln w="12700">
            <a:solidFill>
              <a:srgbClr val="E2E8F0"/>
            </a:solidFill>
            <a:prstDash val="solid"/>
          </a:ln>
        </p:spPr>
      </p:sp>
      <p:sp>
        <p:nvSpPr>
          <p:cNvPr id="8" name="Text 5"/>
          <p:cNvSpPr/>
          <p:nvPr/>
        </p:nvSpPr>
        <p:spPr>
          <a:xfrm>
            <a:off x="7315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Manav Singh</a:t>
            </a:r>
            <a:endParaRPr lang="en-US" sz="1300" dirty="0"/>
          </a:p>
        </p:txBody>
      </p:sp>
      <p:sp>
        <p:nvSpPr>
          <p:cNvPr id="9" name="Text 6"/>
          <p:cNvSpPr/>
          <p:nvPr/>
        </p:nvSpPr>
        <p:spPr>
          <a:xfrm>
            <a:off x="7315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Lead Full-Stack &amp; Spatial AR Engineer</a:t>
            </a:r>
            <a:endParaRPr lang="en-US" sz="950" dirty="0"/>
          </a:p>
        </p:txBody>
      </p:sp>
      <p:sp>
        <p:nvSpPr>
          <p:cNvPr id="10" name="Text 7"/>
          <p:cNvSpPr/>
          <p:nvPr/>
        </p:nvSpPr>
        <p:spPr>
          <a:xfrm>
            <a:off x="7315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1" name="Shape 8"/>
          <p:cNvSpPr/>
          <p:nvPr/>
        </p:nvSpPr>
        <p:spPr>
          <a:xfrm>
            <a:off x="3291840" y="1188720"/>
            <a:ext cx="2560320" cy="2377440"/>
          </a:xfrm>
          <a:prstGeom prst="roundRect">
            <a:avLst>
              <a:gd name="adj" fmla="val 3077"/>
            </a:avLst>
          </a:prstGeom>
          <a:solidFill>
            <a:srgbClr val="F8FAFC"/>
          </a:solidFill>
          <a:ln w="12700">
            <a:solidFill>
              <a:srgbClr val="E2E8F0"/>
            </a:solidFill>
            <a:prstDash val="solid"/>
          </a:ln>
        </p:spPr>
      </p:sp>
      <p:sp>
        <p:nvSpPr>
          <p:cNvPr id="12" name="Text 9"/>
          <p:cNvSpPr/>
          <p:nvPr/>
        </p:nvSpPr>
        <p:spPr>
          <a:xfrm>
            <a:off x="34747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Sanskar Suryavanshi</a:t>
            </a:r>
            <a:endParaRPr lang="en-US" sz="1300" dirty="0"/>
          </a:p>
        </p:txBody>
      </p:sp>
      <p:sp>
        <p:nvSpPr>
          <p:cNvPr id="13" name="Text 10"/>
          <p:cNvSpPr/>
          <p:nvPr/>
        </p:nvSpPr>
        <p:spPr>
          <a:xfrm>
            <a:off x="34747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Frontend Architect &amp; UI/UX Specialist</a:t>
            </a:r>
            <a:endParaRPr lang="en-US" sz="950" dirty="0"/>
          </a:p>
        </p:txBody>
      </p:sp>
      <p:sp>
        <p:nvSpPr>
          <p:cNvPr id="14" name="Text 11"/>
          <p:cNvSpPr/>
          <p:nvPr/>
        </p:nvSpPr>
        <p:spPr>
          <a:xfrm>
            <a:off x="34747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5" name="Shape 12"/>
          <p:cNvSpPr/>
          <p:nvPr/>
        </p:nvSpPr>
        <p:spPr>
          <a:xfrm>
            <a:off x="6035040" y="1188720"/>
            <a:ext cx="2560320" cy="2377440"/>
          </a:xfrm>
          <a:prstGeom prst="roundRect">
            <a:avLst>
              <a:gd name="adj" fmla="val 3077"/>
            </a:avLst>
          </a:prstGeom>
          <a:solidFill>
            <a:srgbClr val="F8FAFC"/>
          </a:solidFill>
          <a:ln w="12700">
            <a:solidFill>
              <a:srgbClr val="E2E8F0"/>
            </a:solidFill>
            <a:prstDash val="solid"/>
          </a:ln>
        </p:spPr>
      </p:sp>
      <p:sp>
        <p:nvSpPr>
          <p:cNvPr id="16" name="Text 13"/>
          <p:cNvSpPr/>
          <p:nvPr/>
        </p:nvSpPr>
        <p:spPr>
          <a:xfrm>
            <a:off x="62179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Kesar Singh</a:t>
            </a:r>
            <a:endParaRPr lang="en-US" sz="1300" dirty="0"/>
          </a:p>
        </p:txBody>
      </p:sp>
      <p:sp>
        <p:nvSpPr>
          <p:cNvPr id="17" name="Text 14"/>
          <p:cNvSpPr/>
          <p:nvPr/>
        </p:nvSpPr>
        <p:spPr>
          <a:xfrm>
            <a:off x="62179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Systems Integration &amp; QA Lead</a:t>
            </a:r>
            <a:endParaRPr lang="en-US" sz="950" dirty="0"/>
          </a:p>
        </p:txBody>
      </p:sp>
      <p:sp>
        <p:nvSpPr>
          <p:cNvPr id="18" name="Text 15"/>
          <p:cNvSpPr/>
          <p:nvPr/>
        </p:nvSpPr>
        <p:spPr>
          <a:xfrm>
            <a:off x="62179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9" name="Shape 16"/>
          <p:cNvSpPr/>
          <p:nvPr/>
        </p:nvSpPr>
        <p:spPr>
          <a:xfrm>
            <a:off x="548640" y="3749040"/>
            <a:ext cx="8046720" cy="914400"/>
          </a:xfrm>
          <a:prstGeom prst="roundRect">
            <a:avLst>
              <a:gd name="adj" fmla="val 8000"/>
            </a:avLst>
          </a:prstGeom>
          <a:solidFill>
            <a:srgbClr val="EFF6FF"/>
          </a:solidFill>
          <a:ln w="12700">
            <a:solidFill>
              <a:srgbClr val="BFDBFE"/>
            </a:solidFill>
            <a:prstDash val="solid"/>
          </a:ln>
        </p:spPr>
      </p:sp>
      <p:sp>
        <p:nvSpPr>
          <p:cNvPr id="20" name="Text 17"/>
          <p:cNvSpPr/>
          <p:nvPr/>
        </p:nvSpPr>
        <p:spPr>
          <a:xfrm>
            <a:off x="731520" y="3840480"/>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COLLABORATIVE METHODOLOGY &amp; REPOSITORY GOVERNANCE</a:t>
            </a:r>
            <a:endParaRPr lang="en-US" sz="950" dirty="0"/>
          </a:p>
        </p:txBody>
      </p:sp>
      <p:sp>
        <p:nvSpPr>
          <p:cNvPr id="21"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Cost Analysis, Budgeting &amp; Practical Feasibility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3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3891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1E3A8A"/>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DC2626"/>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10" name="Shape 6"/>
          <p:cNvSpPr/>
          <p:nvPr/>
        </p:nvSpPr>
        <p:spPr>
          <a:xfrm>
            <a:off x="5120640" y="1188720"/>
            <a:ext cx="3474720" cy="3429000"/>
          </a:xfrm>
          <a:prstGeom prst="roundRect">
            <a:avLst>
              <a:gd name="adj" fmla="val 2133"/>
            </a:avLst>
          </a:prstGeom>
          <a:solidFill>
            <a:srgbClr val="F8FAFC"/>
          </a:solidFill>
          <a:ln w="12700">
            <a:solidFill>
              <a:srgbClr val="E2E8F0"/>
            </a:solidFill>
            <a:prstDash val="solid"/>
          </a:ln>
        </p:spPr>
      </p:sp>
      <p:sp>
        <p:nvSpPr>
          <p:cNvPr id="11"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TECHNICAL &amp; OPERATIONAL FEASIBILITY</a:t>
            </a:r>
            <a:endParaRPr lang="en-US" sz="1100" dirty="0"/>
          </a:p>
        </p:txBody>
      </p:sp>
      <p:sp>
        <p:nvSpPr>
          <p:cNvPr id="12" name="Text 8"/>
          <p:cNvSpPr/>
          <p:nvPr/>
        </p:nvSpPr>
        <p:spPr>
          <a:xfrm>
            <a:off x="5303520" y="1691640"/>
            <a:ext cx="3108960" cy="2743200"/>
          </a:xfrm>
          <a:prstGeom prst="rect">
            <a:avLst/>
          </a:prstGeom>
          <a:noFill/>
          <a:ln/>
        </p:spPr>
        <p:txBody>
          <a:bodyPr wrap="square" lIns="0" tIns="0" rIns="0" bIns="0" rtlCol="0" anchor="ctr"/>
          <a:lstStyle/>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Economic Feasibility: Exceptional ROI: Eliminates hardware procurement entirely. A 10-table restaurant saves over ₹6.6 Lakhs ($8,000+) over 3 years, achieving instant ROI in Month 1.</a:t>
            </a:r>
            <a:endParaRPr lang="en-US" sz="950" dirty="0"/>
          </a:p>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Technical Feasibility: Web Standards: Utilizes standardized W3C WebXR and WebGL APIs natively supported in Chrome, Edge, and Safari without proprietary SDK royalties.</a:t>
            </a:r>
            <a:endParaRPr lang="en-US" sz="950" dirty="0"/>
          </a:p>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Operational Feasibility: Zero Friction: 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100% Implementation: Working Modules &amp; Live Proof</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7 (30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back_to_menu_1790013320137.png">    </p:cNvPr>
          <p:cNvPicPr>
            <a:picLocks noChangeAspect="1"/>
          </p:cNvPicPr>
          <p:nvPr/>
        </p:nvPicPr>
        <p:blipFill>
          <a:blip r:embed="rId2"/>
          <a:stretch>
            <a:fillRect/>
          </a:stretch>
        </p:blipFill>
        <p:spPr>
          <a:xfrm>
            <a:off x="548640" y="1188720"/>
            <a:ext cx="3291840" cy="2103120"/>
          </a:xfrm>
          <a:prstGeom prst="rect">
            <a:avLst/>
          </a:prstGeom>
        </p:spPr>
      </p:pic>
      <p:sp>
        <p:nvSpPr>
          <p:cNvPr id="8" name="Shape 4"/>
          <p:cNvSpPr/>
          <p:nvPr/>
        </p:nvSpPr>
        <p:spPr>
          <a:xfrm>
            <a:off x="548640" y="1188720"/>
            <a:ext cx="3291840" cy="2103120"/>
          </a:xfrm>
          <a:prstGeom prst="rect">
            <a:avLst/>
          </a:prstGeom>
          <a:ln w="12700">
            <a:solidFill>
              <a:srgbClr val="E2E8F0"/>
            </a:solidFill>
            <a:prstDash val="solid"/>
          </a:ln>
        </p:spPr>
      </p:sp>
      <p:sp>
        <p:nvSpPr>
          <p:cNvPr id="9" name="Text 5"/>
          <p:cNvSpPr/>
          <p:nvPr/>
        </p:nvSpPr>
        <p:spPr>
          <a:xfrm>
            <a:off x="548640" y="3310128"/>
            <a:ext cx="329184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1: Live Menu Interface with Dietary Badges &amp; Calorie Counters</a:t>
            </a:r>
            <a:endParaRPr lang="en-US" sz="800" dirty="0"/>
          </a:p>
        </p:txBody>
      </p:sp>
      <p:pic>
        <p:nvPicPr>
          <p:cNvPr id="10" name="Image 2" descr="d:\resrtorant\presentation_assets\dish_anchored_placed_1790012727681.png">    </p:cNvPr>
          <p:cNvPicPr>
            <a:picLocks noChangeAspect="1"/>
          </p:cNvPicPr>
          <p:nvPr/>
        </p:nvPicPr>
        <p:blipFill>
          <a:blip r:embed="rId3"/>
          <a:stretch>
            <a:fillRect/>
          </a:stretch>
        </p:blipFill>
        <p:spPr>
          <a:xfrm>
            <a:off x="4023360" y="1188720"/>
            <a:ext cx="4572000" cy="2103120"/>
          </a:xfrm>
          <a:prstGeom prst="rect">
            <a:avLst/>
          </a:prstGeom>
        </p:spPr>
      </p:pic>
      <p:sp>
        <p:nvSpPr>
          <p:cNvPr id="11" name="Shape 6"/>
          <p:cNvSpPr/>
          <p:nvPr/>
        </p:nvSpPr>
        <p:spPr>
          <a:xfrm>
            <a:off x="4023360" y="1188720"/>
            <a:ext cx="4572000" cy="2103120"/>
          </a:xfrm>
          <a:prstGeom prst="rect">
            <a:avLst/>
          </a:prstGeom>
          <a:ln w="12700">
            <a:solidFill>
              <a:srgbClr val="E2E8F0"/>
            </a:solidFill>
            <a:prstDash val="solid"/>
          </a:ln>
        </p:spPr>
      </p:sp>
      <p:sp>
        <p:nvSpPr>
          <p:cNvPr id="12" name="Text 7"/>
          <p:cNvSpPr/>
          <p:nvPr/>
        </p:nvSpPr>
        <p:spPr>
          <a:xfrm>
            <a:off x="4023360" y="3310128"/>
            <a:ext cx="457200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2: Real-World 6-DoF WebXR Hit-Testing Surface Anchoring at 1:1 Scale</a:t>
            </a:r>
            <a:endParaRPr lang="en-US" sz="800" dirty="0"/>
          </a:p>
        </p:txBody>
      </p:sp>
      <p:sp>
        <p:nvSpPr>
          <p:cNvPr id="13" name="Shape 8"/>
          <p:cNvSpPr/>
          <p:nvPr/>
        </p:nvSpPr>
        <p:spPr>
          <a:xfrm>
            <a:off x="548640" y="3547872"/>
            <a:ext cx="8046720" cy="1115568"/>
          </a:xfrm>
          <a:prstGeom prst="roundRect">
            <a:avLst>
              <a:gd name="adj" fmla="val 6557"/>
            </a:avLst>
          </a:prstGeom>
          <a:solidFill>
            <a:srgbClr val="F8FAFC"/>
          </a:solidFill>
          <a:ln w="12700">
            <a:solidFill>
              <a:srgbClr val="059669"/>
            </a:solidFill>
            <a:prstDash val="solid"/>
          </a:ln>
        </p:spPr>
      </p:sp>
      <p:sp>
        <p:nvSpPr>
          <p:cNvPr id="14" name="Text 9"/>
          <p:cNvSpPr/>
          <p:nvPr/>
        </p:nvSpPr>
        <p:spPr>
          <a:xfrm>
            <a:off x="731520" y="3639312"/>
            <a:ext cx="7680960" cy="182880"/>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VERIFIED IMPLEMENTATION STATUS (ALL MODULES FULLY OPERATIONAL)</a:t>
            </a:r>
            <a:endParaRPr lang="en-US" sz="950" dirty="0"/>
          </a:p>
        </p:txBody>
      </p:sp>
      <p:sp>
        <p:nvSpPr>
          <p:cNvPr id="15" name="Text 10"/>
          <p:cNvSpPr/>
          <p:nvPr/>
        </p:nvSpPr>
        <p:spPr>
          <a:xfrm>
            <a:off x="731520" y="3858768"/>
            <a:ext cx="7680960" cy="731520"/>
          </a:xfrm>
          <a:prstGeom prst="rect">
            <a:avLst/>
          </a:prstGeom>
          <a:noFill/>
          <a:ln/>
        </p:spPr>
        <p:txBody>
          <a:bodyPr wrap="square" lIns="0" tIns="0" rIns="0" bIns="0" rtlCol="0" anchor="ctr"/>
          <a:lstStyle/>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Interactive Customer Menu: 12+ gourmet dishes with dietary filters, calorie breakdowns, and ingredient tracking.</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6-DoF WebXR Surface Tracker: Table plane hit-testing reticle, 1:1 metric scale, and 360° touch rotation gestures.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Universal Fallback Subsystem: Automated Android Scene Viewer Intent fallback ensuring 100% smartphone reach.</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Kitchen Display System (KDS): Live Kanban order queue with acoustic notifications and stateful ticket advancement.</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Production Cloud Deployment: Active on Vercel Edge with custom binary MIME headers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Operational Workflow &amp; Step-by-Step Diner Journey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Live Model Demonstration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qr_handoff_modal_1790013103448.png">    </p:cNvPr>
          <p:cNvPicPr>
            <a:picLocks noChangeAspect="1"/>
          </p:cNvPicPr>
          <p:nvPr/>
        </p:nvPicPr>
        <p:blipFill>
          <a:blip r:embed="rId2"/>
          <a:stretch>
            <a:fillRect/>
          </a:stretch>
        </p:blipFill>
        <p:spPr>
          <a:xfrm>
            <a:off x="548640" y="1188720"/>
            <a:ext cx="3108960" cy="2057400"/>
          </a:xfrm>
          <a:prstGeom prst="rect">
            <a:avLst/>
          </a:prstGeom>
        </p:spPr>
      </p:pic>
      <p:sp>
        <p:nvSpPr>
          <p:cNvPr id="8" name="Shape 4"/>
          <p:cNvSpPr/>
          <p:nvPr/>
        </p:nvSpPr>
        <p:spPr>
          <a:xfrm>
            <a:off x="548640" y="1188720"/>
            <a:ext cx="3108960" cy="2057400"/>
          </a:xfrm>
          <a:prstGeom prst="rect">
            <a:avLst/>
          </a:prstGeom>
          <a:ln w="12700">
            <a:solidFill>
              <a:srgbClr val="E2E8F0"/>
            </a:solidFill>
            <a:prstDash val="solid"/>
          </a:ln>
        </p:spPr>
      </p:sp>
      <p:sp>
        <p:nvSpPr>
          <p:cNvPr id="9" name="Text 5"/>
          <p:cNvSpPr/>
          <p:nvPr/>
        </p:nvSpPr>
        <p:spPr>
          <a:xfrm>
            <a:off x="548640" y="3273552"/>
            <a:ext cx="31089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3: Instant Mobile QR Handoff Modal</a:t>
            </a:r>
            <a:endParaRPr lang="en-US" sz="800" dirty="0"/>
          </a:p>
        </p:txBody>
      </p:sp>
      <p:pic>
        <p:nvPicPr>
          <p:cNvPr id="10" name="Image 2" descr="d:\resrtorant\presentation_assets\model_rotated_66deg_1790012883322.png">    </p:cNvPr>
          <p:cNvPicPr>
            <a:picLocks noChangeAspect="1"/>
          </p:cNvPicPr>
          <p:nvPr/>
        </p:nvPicPr>
        <p:blipFill>
          <a:blip r:embed="rId3"/>
          <a:stretch>
            <a:fillRect/>
          </a:stretch>
        </p:blipFill>
        <p:spPr>
          <a:xfrm>
            <a:off x="3840480" y="1188720"/>
            <a:ext cx="4754880" cy="2057400"/>
          </a:xfrm>
          <a:prstGeom prst="rect">
            <a:avLst/>
          </a:prstGeom>
        </p:spPr>
      </p:pic>
      <p:sp>
        <p:nvSpPr>
          <p:cNvPr id="11" name="Shape 6"/>
          <p:cNvSpPr/>
          <p:nvPr/>
        </p:nvSpPr>
        <p:spPr>
          <a:xfrm>
            <a:off x="3840480" y="1188720"/>
            <a:ext cx="4754880" cy="2057400"/>
          </a:xfrm>
          <a:prstGeom prst="rect">
            <a:avLst/>
          </a:prstGeom>
          <a:ln w="12700">
            <a:solidFill>
              <a:srgbClr val="E2E8F0"/>
            </a:solidFill>
            <a:prstDash val="solid"/>
          </a:ln>
        </p:spPr>
      </p:sp>
      <p:sp>
        <p:nvSpPr>
          <p:cNvPr id="12" name="Text 7"/>
          <p:cNvSpPr/>
          <p:nvPr/>
        </p:nvSpPr>
        <p:spPr>
          <a:xfrm>
            <a:off x="3840480" y="3273552"/>
            <a:ext cx="475488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4: 360° Touch Rotation &amp; Inspection of 3D Dish</a:t>
            </a:r>
            <a:endParaRPr lang="en-US" sz="800" dirty="0"/>
          </a:p>
        </p:txBody>
      </p:sp>
      <p:sp>
        <p:nvSpPr>
          <p:cNvPr id="13" name="Shape 8"/>
          <p:cNvSpPr/>
          <p:nvPr/>
        </p:nvSpPr>
        <p:spPr>
          <a:xfrm>
            <a:off x="548640" y="3493008"/>
            <a:ext cx="8046720" cy="1170432"/>
          </a:xfrm>
          <a:prstGeom prst="roundRect">
            <a:avLst>
              <a:gd name="adj" fmla="val 6250"/>
            </a:avLst>
          </a:prstGeom>
          <a:solidFill>
            <a:srgbClr val="F8FAFC"/>
          </a:solidFill>
          <a:ln w="12700">
            <a:solidFill>
              <a:srgbClr val="1E3A8A"/>
            </a:solidFill>
            <a:prstDash val="solid"/>
          </a:ln>
        </p:spPr>
      </p:sp>
      <p:sp>
        <p:nvSpPr>
          <p:cNvPr id="14" name="Text 9"/>
          <p:cNvSpPr/>
          <p:nvPr/>
        </p:nvSpPr>
        <p:spPr>
          <a:xfrm>
            <a:off x="731520" y="3584448"/>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END-TO-END OPERATIONAL LIFECYCLE (INPUT ➔ PROCESSING ➔ OUTPUT)</a:t>
            </a:r>
            <a:endParaRPr lang="en-US" sz="950" dirty="0"/>
          </a:p>
        </p:txBody>
      </p:sp>
      <p:sp>
        <p:nvSpPr>
          <p:cNvPr id="15" name="Text 10"/>
          <p:cNvSpPr/>
          <p:nvPr/>
        </p:nvSpPr>
        <p:spPr>
          <a:xfrm>
            <a:off x="731520" y="3785616"/>
            <a:ext cx="7680960" cy="822960"/>
          </a:xfrm>
          <a:prstGeom prst="rect">
            <a:avLst/>
          </a:prstGeom>
          <a:noFill/>
          <a:ln/>
        </p:spPr>
        <p:txBody>
          <a:bodyPr wrap="square" lIns="0" tIns="0" rIns="0" bIns="0" rtlCol="0" anchor="ctr"/>
          <a:lstStyle/>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Testing Methodology, Test Matrix &amp; Verification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8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bl>
          </a:graphicData>
        </a:graphic>
      </p:graphicFrame>
      <p:sp>
        <p:nvSpPr>
          <p:cNvPr id="8" name="Shape 4"/>
          <p:cNvSpPr/>
          <p:nvPr/>
        </p:nvSpPr>
        <p:spPr>
          <a:xfrm>
            <a:off x="548640" y="3703320"/>
            <a:ext cx="8046720" cy="960120"/>
          </a:xfrm>
          <a:prstGeom prst="roundRect">
            <a:avLst>
              <a:gd name="adj" fmla="val 7619"/>
            </a:avLst>
          </a:prstGeom>
          <a:solidFill>
            <a:srgbClr val="F8FAFC"/>
          </a:solidFill>
          <a:ln w="12700">
            <a:solidFill>
              <a:srgbClr val="E2E8F0"/>
            </a:solidFill>
            <a:prstDash val="solid"/>
          </a:ln>
        </p:spPr>
      </p:sp>
      <p:sp>
        <p:nvSpPr>
          <p:cNvPr id="9"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TESTING METHODOLOGY &amp; VERIFICATION SUMMARY</a:t>
            </a:r>
            <a:endParaRPr lang="en-US" sz="950" dirty="0"/>
          </a:p>
        </p:txBody>
      </p:sp>
      <p:sp>
        <p:nvSpPr>
          <p:cNvPr id="10"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Quantitative Performance Benchmarks &amp; Results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Experimental Results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7"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120640" y="1188720"/>
            <a:ext cx="3474720" cy="749808"/>
          </a:xfrm>
          <a:prstGeom prst="roundRect">
            <a:avLst>
              <a:gd name="adj" fmla="val 9756"/>
            </a:avLst>
          </a:prstGeom>
          <a:solidFill>
            <a:srgbClr val="F8FAFC"/>
          </a:solidFill>
          <a:ln w="12700">
            <a:solidFill>
              <a:srgbClr val="E2E8F0"/>
            </a:solidFill>
            <a:prstDash val="solid"/>
          </a:ln>
        </p:spPr>
      </p:sp>
      <p:sp>
        <p:nvSpPr>
          <p:cNvPr id="9"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Mobile Load Latency</a:t>
            </a:r>
            <a:endParaRPr lang="en-US" sz="900" dirty="0"/>
          </a:p>
        </p:txBody>
      </p:sp>
      <p:sp>
        <p:nvSpPr>
          <p:cNvPr id="10"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1.8 Seconds</a:t>
            </a:r>
            <a:endParaRPr lang="en-US" sz="1100" dirty="0"/>
          </a:p>
        </p:txBody>
      </p:sp>
      <p:sp>
        <p:nvSpPr>
          <p:cNvPr id="11"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2" name="Shape 8"/>
          <p:cNvSpPr/>
          <p:nvPr/>
        </p:nvSpPr>
        <p:spPr>
          <a:xfrm>
            <a:off x="5120640" y="2029968"/>
            <a:ext cx="3474720" cy="749808"/>
          </a:xfrm>
          <a:prstGeom prst="roundRect">
            <a:avLst>
              <a:gd name="adj" fmla="val 9756"/>
            </a:avLst>
          </a:prstGeom>
          <a:solidFill>
            <a:srgbClr val="F8FAFC"/>
          </a:solidFill>
          <a:ln w="12700">
            <a:solidFill>
              <a:srgbClr val="E2E8F0"/>
            </a:solidFill>
            <a:prstDash val="solid"/>
          </a:ln>
        </p:spPr>
      </p:sp>
      <p:sp>
        <p:nvSpPr>
          <p:cNvPr id="13"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Sustained Frame Rate</a:t>
            </a:r>
            <a:endParaRPr lang="en-US" sz="900" dirty="0"/>
          </a:p>
        </p:txBody>
      </p:sp>
      <p:sp>
        <p:nvSpPr>
          <p:cNvPr id="14"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58 – 60 FPS</a:t>
            </a:r>
            <a:endParaRPr lang="en-US" sz="1100" dirty="0"/>
          </a:p>
        </p:txBody>
      </p:sp>
      <p:sp>
        <p:nvSpPr>
          <p:cNvPr id="15"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6" name="Shape 12"/>
          <p:cNvSpPr/>
          <p:nvPr/>
        </p:nvSpPr>
        <p:spPr>
          <a:xfrm>
            <a:off x="5120640" y="2871216"/>
            <a:ext cx="3474720" cy="749808"/>
          </a:xfrm>
          <a:prstGeom prst="roundRect">
            <a:avLst>
              <a:gd name="adj" fmla="val 9756"/>
            </a:avLst>
          </a:prstGeom>
          <a:solidFill>
            <a:srgbClr val="F8FAFC"/>
          </a:solidFill>
          <a:ln w="12700">
            <a:solidFill>
              <a:srgbClr val="E2E8F0"/>
            </a:solidFill>
            <a:prstDash val="solid"/>
          </a:ln>
        </p:spPr>
      </p:sp>
      <p:sp>
        <p:nvSpPr>
          <p:cNvPr id="17"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Peak Memory Footprint</a:t>
            </a:r>
            <a:endParaRPr lang="en-US" sz="900" dirty="0"/>
          </a:p>
        </p:txBody>
      </p:sp>
      <p:sp>
        <p:nvSpPr>
          <p:cNvPr id="18"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110 MB Heap</a:t>
            </a:r>
            <a:endParaRPr lang="en-US" sz="1100" dirty="0"/>
          </a:p>
        </p:txBody>
      </p:sp>
      <p:sp>
        <p:nvSpPr>
          <p:cNvPr id="19"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20" name="Shape 16"/>
          <p:cNvSpPr/>
          <p:nvPr/>
        </p:nvSpPr>
        <p:spPr>
          <a:xfrm>
            <a:off x="5120640" y="3712464"/>
            <a:ext cx="3474720" cy="749808"/>
          </a:xfrm>
          <a:prstGeom prst="roundRect">
            <a:avLst>
              <a:gd name="adj" fmla="val 9756"/>
            </a:avLst>
          </a:prstGeom>
          <a:solidFill>
            <a:srgbClr val="F8FAFC"/>
          </a:solidFill>
          <a:ln w="12700">
            <a:solidFill>
              <a:srgbClr val="E2E8F0"/>
            </a:solidFill>
            <a:prstDash val="solid"/>
          </a:ln>
        </p:spPr>
      </p:sp>
      <p:sp>
        <p:nvSpPr>
          <p:cNvPr id="21"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900" b="1" dirty="0">
                <a:solidFill>
                  <a:srgbClr val="1E3A8A"/>
                </a:solidFill>
                <a:latin typeface="Calibri" pitchFamily="34" charset="0"/>
                <a:ea typeface="Calibri" pitchFamily="34" charset="-122"/>
                <a:cs typeface="Calibri" pitchFamily="34" charset="-120"/>
              </a:rPr>
              <a:t>User Ordering Confidence</a:t>
            </a:r>
            <a:endParaRPr lang="en-US" sz="900" dirty="0"/>
          </a:p>
        </p:txBody>
      </p:sp>
      <p:sp>
        <p:nvSpPr>
          <p:cNvPr id="22"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89.4% Rating</a:t>
            </a:r>
            <a:endParaRPr lang="en-US" sz="1100" dirty="0"/>
          </a:p>
        </p:txBody>
      </p:sp>
      <p:sp>
        <p:nvSpPr>
          <p:cNvPr id="23"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Research Paper: Academic Contribution &amp; Status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9 (20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868680"/>
          </a:xfrm>
          <a:prstGeom prst="roundRect">
            <a:avLst>
              <a:gd name="adj" fmla="val 8421"/>
            </a:avLst>
          </a:prstGeom>
          <a:solidFill>
            <a:srgbClr val="EFF6FF"/>
          </a:solidFill>
          <a:ln w="12700">
            <a:solidFill>
              <a:srgbClr val="BFDBFE"/>
            </a:solidFill>
            <a:prstDash val="solid"/>
          </a:ln>
        </p:spPr>
      </p:sp>
      <p:sp>
        <p:nvSpPr>
          <p:cNvPr id="8"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RESEARCH PAPER TITLE &amp; CITATION</a:t>
            </a:r>
            <a:endParaRPr lang="en-US" sz="900" dirty="0"/>
          </a:p>
        </p:txBody>
      </p:sp>
      <p:sp>
        <p:nvSpPr>
          <p:cNvPr id="9"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10"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1" name="Shape 8"/>
          <p:cNvSpPr/>
          <p:nvPr/>
        </p:nvSpPr>
        <p:spPr>
          <a:xfrm>
            <a:off x="548640" y="2194560"/>
            <a:ext cx="2560320" cy="2423160"/>
          </a:xfrm>
          <a:prstGeom prst="roundRect">
            <a:avLst>
              <a:gd name="adj" fmla="val 3019"/>
            </a:avLst>
          </a:prstGeom>
          <a:solidFill>
            <a:srgbClr val="F8FAFC"/>
          </a:solidFill>
          <a:ln w="12700">
            <a:solidFill>
              <a:srgbClr val="E2E8F0"/>
            </a:solidFill>
            <a:prstDash val="solid"/>
          </a:ln>
        </p:spPr>
      </p:sp>
      <p:sp>
        <p:nvSpPr>
          <p:cNvPr id="12"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Methodology &amp; Spatial Pipeline</a:t>
            </a:r>
            <a:endParaRPr lang="en-US" sz="1200" dirty="0"/>
          </a:p>
        </p:txBody>
      </p:sp>
      <p:sp>
        <p:nvSpPr>
          <p:cNvPr id="13"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4" name="Shape 11"/>
          <p:cNvSpPr/>
          <p:nvPr/>
        </p:nvSpPr>
        <p:spPr>
          <a:xfrm>
            <a:off x="3291840" y="2194560"/>
            <a:ext cx="2560320" cy="2423160"/>
          </a:xfrm>
          <a:prstGeom prst="roundRect">
            <a:avLst>
              <a:gd name="adj" fmla="val 3019"/>
            </a:avLst>
          </a:prstGeom>
          <a:solidFill>
            <a:srgbClr val="F8FAFC"/>
          </a:solidFill>
          <a:ln w="12700">
            <a:solidFill>
              <a:srgbClr val="E2E8F0"/>
            </a:solidFill>
            <a:prstDash val="solid"/>
          </a:ln>
        </p:spPr>
      </p:sp>
      <p:sp>
        <p:nvSpPr>
          <p:cNvPr id="15"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Core Research Contribution</a:t>
            </a:r>
            <a:endParaRPr lang="en-US" sz="1200" dirty="0"/>
          </a:p>
        </p:txBody>
      </p:sp>
      <p:sp>
        <p:nvSpPr>
          <p:cNvPr id="16"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7" name="Shape 14"/>
          <p:cNvSpPr/>
          <p:nvPr/>
        </p:nvSpPr>
        <p:spPr>
          <a:xfrm>
            <a:off x="6035040" y="2194560"/>
            <a:ext cx="2560320" cy="2423160"/>
          </a:xfrm>
          <a:prstGeom prst="roundRect">
            <a:avLst>
              <a:gd name="adj" fmla="val 3019"/>
            </a:avLst>
          </a:prstGeom>
          <a:solidFill>
            <a:srgbClr val="F8FAFC"/>
          </a:solidFill>
          <a:ln w="12700">
            <a:solidFill>
              <a:srgbClr val="E2E8F0"/>
            </a:solidFill>
            <a:prstDash val="solid"/>
          </a:ln>
        </p:spPr>
      </p:sp>
      <p:sp>
        <p:nvSpPr>
          <p:cNvPr id="18"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Validation &amp; Publication Status</a:t>
            </a:r>
            <a:endParaRPr lang="en-US" sz="1200" dirty="0"/>
          </a:p>
        </p:txBody>
      </p:sp>
      <p:sp>
        <p:nvSpPr>
          <p:cNvPr id="19"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Key Achievements &amp; Overall Summary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Conclusion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Production-Grade System Deployed Live</a:t>
            </a:r>
            <a:endParaRPr lang="en-US" sz="125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Delivered a fully functioning, end-to-end contactless dining platform active on Vercel at `https://smart-restaurant-2za8.vercel.app/`. Both diner AR ordering and real-time KDS kitchen tracking operate seamlessly.</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Frictionless Spatial Computing Viability</a:t>
            </a:r>
            <a:endParaRPr lang="en-US" sz="125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93.7% TCO Reduction &amp; Sustainability</a:t>
            </a:r>
            <a:endParaRPr lang="en-US" sz="125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Completed Research Paper in Review</a:t>
            </a:r>
            <a:endParaRPr lang="en-US" sz="125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Future Scope &amp; Commercial Scalability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Roadmap &amp; Horizons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Multi-User Synchronized AR Dining</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Generative AI Voice Sommelier</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Computer Vision Plating QA Inspection</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IoT Smart Table Sensor Integration</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References, Technical Standards &amp; Literature Citations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Academic Bibliography</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Restaurant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2026-09-23T07:36:36Z</dcterms:created>
  <dcterms:modified xsi:type="dcterms:W3CDTF">2026-09-23T07:36:36Z</dcterms:modified>
</cp:coreProperties>
</file>